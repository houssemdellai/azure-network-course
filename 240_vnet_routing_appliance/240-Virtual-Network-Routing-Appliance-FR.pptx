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56" r:id="rId3"/>
    <p:sldId id="257" r:id="rId4"/>
    <p:sldId id="262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56" y="8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HoussemDellai/azure-network-course/tree/main/240_vnet_routing_applianc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1554480"/>
            <a:ext cx="3749039" cy="3749039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houssem-dell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645920"/>
            <a:ext cx="3566160" cy="3566160"/>
          </a:xfrm>
          <a:prstGeom prst="ellipse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891685"/>
            <a:ext cx="6675120" cy="17030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800"/>
              </a:spcBef>
            </a:pPr>
            <a:r>
              <a:rPr sz="4000" b="1" dirty="0">
                <a:solidFill>
                  <a:srgbClr val="FFFFFF"/>
                </a:solidFill>
                <a:latin typeface="Segoe UI"/>
              </a:rPr>
              <a:t>Azure Virtual Network Routing Appliance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B5D4F4"/>
                </a:solidFill>
                <a:latin typeface="Segoe UI"/>
              </a:rPr>
              <a:t>Routage haut débit géré par Azure en hub-and-spoke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4343400"/>
            <a:ext cx="1097280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526280"/>
            <a:ext cx="6675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Houssem Dellai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B5D4F4"/>
                </a:solidFill>
                <a:latin typeface="Segoe UI"/>
              </a:rPr>
              <a:t>Cloud Solution Architect, Microsoft</a:t>
            </a:r>
          </a:p>
        </p:txBody>
      </p:sp>
      <p:sp>
        <p:nvSpPr>
          <p:cNvPr id="9" name="Routing appliance icon badge"/>
          <p:cNvSpPr/>
          <p:nvPr/>
        </p:nvSpPr>
        <p:spPr>
          <a:xfrm>
            <a:off x="896112" y="594360"/>
            <a:ext cx="1188720" cy="11887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Routing appliance icon" descr="ra_icon_b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722376"/>
            <a:ext cx="932688" cy="9326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Azure Virtual Network Routing Appliance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B5D4F4"/>
                </a:solidFill>
                <a:latin typeface="Segoe UI"/>
              </a:rPr>
              <a:t>Une couche de transfert haut débit gérée par Azure pour le trafic est-ouest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931920" cy="4846320"/>
          </a:xfrm>
          <a:prstGeom prst="rect">
            <a:avLst/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36576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000" b="1">
                <a:solidFill>
                  <a:srgbClr val="0078D4"/>
                </a:solidFill>
                <a:latin typeface="Segoe UI"/>
              </a:rPr>
              <a:t>De quoi s’agit-il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3657600" cy="42062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0B2545"/>
                </a:solidFill>
                <a:latin typeface="Segoe UI"/>
              </a:rPr>
              <a:t>Ressource Azure autonome déployée dans un sous-réseau dédié nommé VirtualNetworkApplianceSubnet.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0B2545"/>
                </a:solidFill>
                <a:latin typeface="Segoe UI"/>
              </a:rPr>
              <a:t>Matériel réseau spécialisé : faible latence et haut débit.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0B2545"/>
                </a:solidFill>
                <a:latin typeface="Segoe UI"/>
              </a:rPr>
              <a:t>Trafic dirigé par des UDR (type de prochain saut : appliance virtuelle).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0B2545"/>
                </a:solidFill>
                <a:latin typeface="Segoe UI"/>
              </a:rPr>
              <a:t>Transfert seul : aucune VM à dimensionner, corriger ou mettre à l’échelle. Gestion native Azure, IPv4 / IPv6 / double pile, métriques Azure Monitor.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D83B01"/>
                </a:solidFill>
                <a:latin typeface="Segoe UI"/>
              </a:rPr>
              <a:t>Ce n’est pas un outil de sécurité : elle route, sans inspecter.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371600"/>
            <a:ext cx="7040880" cy="411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200" b="1">
                <a:solidFill>
                  <a:srgbClr val="0B2545"/>
                </a:solidFill>
                <a:latin typeface="Segoe UI"/>
              </a:rPr>
              <a:t>Cas d’usage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874519"/>
            <a:ext cx="3383280" cy="2057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63440" y="1874519"/>
            <a:ext cx="3383280" cy="8229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79" y="2057400"/>
            <a:ext cx="320040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0B2545"/>
                </a:solidFill>
                <a:latin typeface="Segoe UI"/>
              </a:rPr>
              <a:t>Transit entre spokes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606039"/>
            <a:ext cx="3200400" cy="1280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55606E"/>
                </a:solidFill>
                <a:latin typeface="Segoe UI"/>
              </a:rPr>
              <a:t>Trafic est-ouest hub-and-spoke jusqu’à 200 Gbit/s, sans VM de transfert.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874519"/>
            <a:ext cx="3383280" cy="2057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874519"/>
            <a:ext cx="3383280" cy="8229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057400"/>
            <a:ext cx="320040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0B2545"/>
                </a:solidFill>
                <a:latin typeface="Segoe UI"/>
              </a:rPr>
              <a:t>Désengorger le routage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06039"/>
            <a:ext cx="3200400" cy="1280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55606E"/>
                </a:solidFill>
                <a:latin typeface="Segoe UI"/>
              </a:rPr>
              <a:t>Remplacer les VM NVA trop petites qui brident réplication, sauvegardes et big data.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4114800"/>
            <a:ext cx="3383280" cy="2057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63440" y="4114800"/>
            <a:ext cx="3383280" cy="8229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79" y="4297680"/>
            <a:ext cx="320040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0B2545"/>
                </a:solidFill>
                <a:latin typeface="Segoe UI"/>
              </a:rPr>
              <a:t>Est-ouest à faible latence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4846320"/>
            <a:ext cx="3200400" cy="1280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55606E"/>
                </a:solidFill>
                <a:latin typeface="Segoe UI"/>
              </a:rPr>
              <a:t>Moins de latence grâce au matériel pour les applications sensibles et à échanges fréquents.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4114800"/>
            <a:ext cx="3383280" cy="2057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0" y="4114800"/>
            <a:ext cx="3383280" cy="8229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4297680"/>
            <a:ext cx="320040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0B2545"/>
                </a:solidFill>
                <a:latin typeface="Segoe UI"/>
              </a:rPr>
              <a:t>Routage simplifié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846320"/>
            <a:ext cx="3200400" cy="1280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55606E"/>
                </a:solidFill>
                <a:latin typeface="Segoe UI"/>
              </a:rPr>
              <a:t>Une UDR par spoke : plages privées, voire 0.0.0.0/0, vers la Routing Appliance ; le hub gère la suite.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/>
            <a:r>
              <a:rPr sz="1000" b="0">
                <a:solidFill>
                  <a:srgbClr val="55606E"/>
                </a:solidFill>
                <a:latin typeface="Segoe UI"/>
              </a:rPr>
              <a:t>2</a:t>
            </a:r>
          </a:p>
        </p:txBody>
      </p:sp>
      <p:sp>
        <p:nvSpPr>
          <p:cNvPr id="28" name="Routing appliance icon badge"/>
          <p:cNvSpPr/>
          <p:nvPr/>
        </p:nvSpPr>
        <p:spPr>
          <a:xfrm>
            <a:off x="10835640" y="91440"/>
            <a:ext cx="868680" cy="868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Routing appliance icon" descr="ra_icon_b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18288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Offres : choisissez votre débit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B5D4F4"/>
                </a:solidFill>
                <a:latin typeface="Segoe UI"/>
              </a:rPr>
              <a:t>Débit fixé au déploiement : 10, 50, 100 ou 200 Gbit/s par Routing Appliance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651760" cy="297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651760" cy="1554480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2651760" cy="9144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265176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Segoe UI"/>
              </a:rPr>
              <a:t>Gbit/s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265176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600" b="1">
                <a:solidFill>
                  <a:srgbClr val="0B2545"/>
                </a:solidFill>
                <a:latin typeface="Segoe UI"/>
              </a:rPr>
              <a:t>Essentiel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74720"/>
            <a:ext cx="2468880" cy="9144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200" b="0">
                <a:solidFill>
                  <a:srgbClr val="55606E"/>
                </a:solidFill>
                <a:latin typeface="Segoe UI"/>
              </a:rPr>
              <a:t>Dév. / test, petits hubs, première migration depuis des VM NVA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463040"/>
            <a:ext cx="2651760" cy="297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91840" y="1463040"/>
            <a:ext cx="2651760" cy="1554480"/>
          </a:xfrm>
          <a:prstGeom prst="rect">
            <a:avLst/>
          </a:prstGeom>
          <a:solidFill>
            <a:srgbClr val="1F8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1508760"/>
            <a:ext cx="2651760" cy="9144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Segoe UI"/>
              </a:rPr>
              <a:t>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377440"/>
            <a:ext cx="265176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Segoe UI"/>
              </a:rPr>
              <a:t>Gbit/s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108960"/>
            <a:ext cx="265176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600" b="1">
                <a:solidFill>
                  <a:srgbClr val="0B2545"/>
                </a:solidFill>
                <a:latin typeface="Segoe UI"/>
              </a:rPr>
              <a:t>Standard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474720"/>
            <a:ext cx="2468880" cy="9144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200" b="0">
                <a:solidFill>
                  <a:srgbClr val="55606E"/>
                </a:solidFill>
                <a:latin typeface="Segoe UI"/>
              </a:rPr>
              <a:t>Hubs de production avec des spokes très actifs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463040"/>
            <a:ext cx="2651760" cy="297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26480" y="1463040"/>
            <a:ext cx="2651760" cy="15544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0" y="1508760"/>
            <a:ext cx="2651760" cy="9144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Segoe UI"/>
              </a:rPr>
              <a:t>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377440"/>
            <a:ext cx="265176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Segoe UI"/>
              </a:rPr>
              <a:t>Gbit/s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108960"/>
            <a:ext cx="265176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600" b="1">
                <a:solidFill>
                  <a:srgbClr val="0B2545"/>
                </a:solidFill>
                <a:latin typeface="Segoe UI"/>
              </a:rPr>
              <a:t>Élevé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474720"/>
            <a:ext cx="2468880" cy="9144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200" b="0">
                <a:solidFill>
                  <a:srgbClr val="55606E"/>
                </a:solidFill>
                <a:latin typeface="Segoe UI"/>
              </a:rPr>
              <a:t>Trafic est-ouest intensif : réplication, analyse, sauvegarde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1463040"/>
            <a:ext cx="2651760" cy="297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61120" y="1463040"/>
            <a:ext cx="2651760" cy="1554480"/>
          </a:xfrm>
          <a:prstGeom prst="rect">
            <a:avLst/>
          </a:prstGeom>
          <a:solidFill>
            <a:srgbClr val="00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61120" y="1508760"/>
            <a:ext cx="2651760" cy="9144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Segoe UI"/>
              </a:rPr>
              <a:t>200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2377440"/>
            <a:ext cx="265176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Segoe UI"/>
              </a:rPr>
              <a:t>Gbit/s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3108960"/>
            <a:ext cx="265176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600" b="1">
                <a:solidFill>
                  <a:srgbClr val="0B2545"/>
                </a:solidFill>
                <a:latin typeface="Segoe UI"/>
              </a:rPr>
              <a:t>Maximal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474720"/>
            <a:ext cx="2468880" cy="9144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200" b="0">
                <a:solidFill>
                  <a:srgbClr val="55606E"/>
                </a:solidFill>
                <a:latin typeface="Segoe UI"/>
              </a:rPr>
              <a:t>Grands hubs et besoins de débit les plus exigeants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663440"/>
            <a:ext cx="5532120" cy="1691640"/>
          </a:xfrm>
          <a:prstGeom prst="rect">
            <a:avLst/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4709160"/>
            <a:ext cx="530352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600" b="1">
                <a:solidFill>
                  <a:srgbClr val="0078D4"/>
                </a:solidFill>
                <a:latin typeface="Segoe UI"/>
              </a:rPr>
              <a:t>À savoir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074920"/>
            <a:ext cx="5303520" cy="1280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300" b="0">
                <a:solidFill>
                  <a:srgbClr val="0B2545"/>
                </a:solidFill>
                <a:latin typeface="Segoe UI"/>
              </a:rPr>
              <a:t>- Débit non modifiable en place : supprimer et redéployer</a:t>
            </a:r>
          </a:p>
          <a:p>
            <a:pPr algn="l"/>
            <a:r>
              <a:rPr sz="1300" b="0">
                <a:solidFill>
                  <a:srgbClr val="0B2545"/>
                </a:solidFill>
                <a:latin typeface="Segoe UI"/>
              </a:rPr>
              <a:t>- Sous-réseau dédié : VirtualNetworkApplianceSubnet</a:t>
            </a:r>
          </a:p>
          <a:p>
            <a:pPr algn="l"/>
            <a:r>
              <a:rPr sz="1300" b="0">
                <a:solidFill>
                  <a:srgbClr val="0B2545"/>
                </a:solidFill>
                <a:latin typeface="Segoe UI"/>
              </a:rPr>
              <a:t>- Terraform : utiliser AzAPI (AzureRM pas encore pris en charge)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4663440"/>
            <a:ext cx="5559552" cy="1691640"/>
          </a:xfrm>
          <a:prstGeom prst="rect">
            <a:avLst/>
          </a:prstGeom>
          <a:solidFill>
            <a:srgbClr val="F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09360" y="4709160"/>
            <a:ext cx="530352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600" b="1">
                <a:solidFill>
                  <a:srgbClr val="D83B01"/>
                </a:solidFill>
                <a:latin typeface="Segoe UI"/>
              </a:rPr>
              <a:t>Limites actuelles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074920"/>
            <a:ext cx="5303520" cy="1280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300" b="0">
                <a:solidFill>
                  <a:srgbClr val="0B2545"/>
                </a:solidFill>
                <a:latin typeface="Segoe UI"/>
              </a:rPr>
              <a:t>- Journaux de flux VNet pas encore disponibles</a:t>
            </a:r>
          </a:p>
          <a:p>
            <a:pPr algn="l"/>
            <a:r>
              <a:rPr sz="1300" b="0">
                <a:solidFill>
                  <a:srgbClr val="0B2545"/>
                </a:solidFill>
                <a:latin typeface="Segoe UI"/>
              </a:rPr>
              <a:t>- Pas derrière un équilibreur interne ; pas de chaînage dans une même région</a:t>
            </a:r>
          </a:p>
          <a:p>
            <a:pPr algn="l"/>
            <a:r>
              <a:rPr sz="1300" b="0">
                <a:solidFill>
                  <a:srgbClr val="0B2545"/>
                </a:solidFill>
                <a:latin typeface="Segoe UI"/>
              </a:rPr>
              <a:t>- Trafic non couvert par le chiffrement du réseau virtuel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/>
            <a:r>
              <a:rPr sz="1000" b="0">
                <a:solidFill>
                  <a:srgbClr val="55606E"/>
                </a:solidFill>
                <a:latin typeface="Segoe UI"/>
              </a:rPr>
              <a:t>3</a:t>
            </a:r>
          </a:p>
        </p:txBody>
      </p:sp>
      <p:sp>
        <p:nvSpPr>
          <p:cNvPr id="38" name="Routing appliance icon badge">
            <a:extLst>
              <a:ext uri="{FF2B5EF4-FFF2-40B4-BE49-F238E27FC236}">
                <a16:creationId xmlns:a16="http://schemas.microsoft.com/office/drawing/2014/main" id="{8BD05B1C-8F71-2F68-0B56-97D755FBAB2D}"/>
              </a:ext>
            </a:extLst>
          </p:cNvPr>
          <p:cNvSpPr/>
          <p:nvPr/>
        </p:nvSpPr>
        <p:spPr>
          <a:xfrm>
            <a:off x="10835640" y="91440"/>
            <a:ext cx="868680" cy="868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Routing appliance icon" descr="ra_icon_big.png">
            <a:extLst>
              <a:ext uri="{FF2B5EF4-FFF2-40B4-BE49-F238E27FC236}">
                <a16:creationId xmlns:a16="http://schemas.microsoft.com/office/drawing/2014/main" id="{5DFE85E1-1D80-60BC-2C76-BF4C2200D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18288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48364-36AC-FF78-E027-3E7A5610B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172B85-493E-043E-99C7-145A0E18308C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63F794-A370-3BE0-2A56-737EB7DF8E2B}"/>
              </a:ext>
            </a:extLst>
          </p:cNvPr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13EFD4-A844-E5EC-A4EB-5381B3E3D303}"/>
              </a:ext>
            </a:extLst>
          </p:cNvPr>
          <p:cNvSpPr txBox="1"/>
          <p:nvPr/>
        </p:nvSpPr>
        <p:spPr>
          <a:xfrm>
            <a:off x="457200" y="621792"/>
            <a:ext cx="11247120" cy="28931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r>
              <a:rPr lang="fr-FR" sz="1400" dirty="0">
                <a:solidFill>
                  <a:srgbClr val="B5D4F4"/>
                </a:solidFill>
                <a:latin typeface="Segoe UI"/>
              </a:rPr>
              <a:t>Le trafic entre spokes transite par la Routing Appliance</a:t>
            </a:r>
            <a:endParaRPr sz="1400" b="0" dirty="0">
              <a:solidFill>
                <a:srgbClr val="B5D4F4"/>
              </a:solidFill>
              <a:latin typeface="Segoe U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E3B2B1-12C8-D612-A81A-25EA89386FCB}"/>
              </a:ext>
            </a:extLst>
          </p:cNvPr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/>
            <a:r>
              <a:rPr sz="1000" b="0">
                <a:solidFill>
                  <a:srgbClr val="55606E"/>
                </a:solidFill>
                <a:latin typeface="Segoe UI"/>
              </a:rPr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D76004-BADB-0848-0BC4-2559639B1FB0}"/>
              </a:ext>
            </a:extLst>
          </p:cNvPr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  <a:latin typeface="Segoe UI"/>
              </a:rPr>
              <a:t>Implémentation de référence : hub-and-spoke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AC6766C-C2C0-1466-7D3F-AFF8B6B8EB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04"/>
          <a:stretch>
            <a:fillRect/>
          </a:stretch>
        </p:blipFill>
        <p:spPr>
          <a:xfrm>
            <a:off x="621431" y="1411064"/>
            <a:ext cx="10918658" cy="5044005"/>
          </a:xfrm>
          <a:prstGeom prst="rect">
            <a:avLst/>
          </a:prstGeom>
        </p:spPr>
      </p:pic>
      <p:sp>
        <p:nvSpPr>
          <p:cNvPr id="6" name="Routing appliance icon badge">
            <a:extLst>
              <a:ext uri="{FF2B5EF4-FFF2-40B4-BE49-F238E27FC236}">
                <a16:creationId xmlns:a16="http://schemas.microsoft.com/office/drawing/2014/main" id="{CE235173-3D34-480E-3563-E419CCAD240B}"/>
              </a:ext>
            </a:extLst>
          </p:cNvPr>
          <p:cNvSpPr/>
          <p:nvPr/>
        </p:nvSpPr>
        <p:spPr>
          <a:xfrm>
            <a:off x="10835640" y="91440"/>
            <a:ext cx="868680" cy="868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Routing appliance icon" descr="ra_icon_big.png">
            <a:extLst>
              <a:ext uri="{FF2B5EF4-FFF2-40B4-BE49-F238E27FC236}">
                <a16:creationId xmlns:a16="http://schemas.microsoft.com/office/drawing/2014/main" id="{037B8FA5-3C52-B628-495A-92A35F192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182880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173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Routing Appliance ou NVA / pare-feu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B5D4F4"/>
                </a:solidFill>
                <a:latin typeface="Segoe UI"/>
              </a:rPr>
              <a:t>Routing Appliance = transfert rapide. NVA / pare-feu = inspection de sécurité. Ils sont complémentaires.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5176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108960" y="1371600"/>
            <a:ext cx="4297680" cy="5669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Virtual Network Routing Appliance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1371600"/>
            <a:ext cx="4325112" cy="56692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NVA / Azure Firewall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2651760" cy="603504"/>
          </a:xfrm>
          <a:prstGeom prst="rect">
            <a:avLst/>
          </a:prstGeom>
          <a:solidFill>
            <a:srgbClr val="EAF3FC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0B2545"/>
                </a:solidFill>
                <a:latin typeface="Segoe UI"/>
              </a:rPr>
              <a:t>Rôle principal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965960"/>
            <a:ext cx="4297680" cy="603504"/>
          </a:xfrm>
          <a:prstGeom prst="rect">
            <a:avLst/>
          </a:prstGeom>
          <a:solidFill>
            <a:srgbClr val="EAF3FC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55606E"/>
                </a:solidFill>
                <a:latin typeface="Segoe UI"/>
              </a:rPr>
              <a:t>Routage et transfert évolutifs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965960"/>
            <a:ext cx="4325112" cy="603504"/>
          </a:xfrm>
          <a:prstGeom prst="rect">
            <a:avLst/>
          </a:prstGeom>
          <a:solidFill>
            <a:srgbClr val="EAF3FC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55606E"/>
                </a:solidFill>
                <a:latin typeface="Segoe UI"/>
              </a:rPr>
              <a:t>Sécurité : filtrage, inspection, protection contre les menaces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96896"/>
            <a:ext cx="26517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0B2545"/>
                </a:solidFill>
                <a:latin typeface="Segoe UI"/>
              </a:rPr>
              <a:t>Périmètre du trafic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2596896"/>
            <a:ext cx="42976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55606E"/>
                </a:solidFill>
                <a:latin typeface="Segoe UI"/>
              </a:rPr>
              <a:t>Est-ouest entre sous-réseaux / VNets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2596896"/>
            <a:ext cx="4325112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55606E"/>
                </a:solidFill>
                <a:latin typeface="Segoe UI"/>
              </a:rPr>
              <a:t>Est-ouest, nord-sud, sortie Internet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27832"/>
            <a:ext cx="2651760" cy="603504"/>
          </a:xfrm>
          <a:prstGeom prst="rect">
            <a:avLst/>
          </a:prstGeom>
          <a:solidFill>
            <a:srgbClr val="EAF3FC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0B2545"/>
                </a:solidFill>
                <a:latin typeface="Segoe UI"/>
              </a:rPr>
              <a:t>Contrôle de sécurité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3227832"/>
            <a:ext cx="4297680" cy="603504"/>
          </a:xfrm>
          <a:prstGeom prst="rect">
            <a:avLst/>
          </a:prstGeom>
          <a:solidFill>
            <a:srgbClr val="EAF3FC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55606E"/>
                </a:solidFill>
                <a:latin typeface="Segoe UI"/>
              </a:rPr>
              <a:t>Aucun (routage uniquement)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3227832"/>
            <a:ext cx="4325112" cy="603504"/>
          </a:xfrm>
          <a:prstGeom prst="rect">
            <a:avLst/>
          </a:prstGeom>
          <a:solidFill>
            <a:srgbClr val="EAF3FC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55606E"/>
                </a:solidFill>
                <a:latin typeface="Segoe UI"/>
              </a:rPr>
              <a:t>Règles, FQDN, IDPS, inspection TLS (selon le produit)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58768"/>
            <a:ext cx="26517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0B2545"/>
                </a:solidFill>
                <a:latin typeface="Segoe UI"/>
              </a:rPr>
              <a:t>Performance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3858768"/>
            <a:ext cx="42976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55606E"/>
                </a:solidFill>
                <a:latin typeface="Segoe UI"/>
              </a:rPr>
              <a:t>Traitement matériel, de 10 à 200 Gbit/s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3858768"/>
            <a:ext cx="4325112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55606E"/>
                </a:solidFill>
                <a:latin typeface="Segoe UI"/>
              </a:rPr>
              <a:t>Limité par la taille de VM / l’offre du pare-feu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9704"/>
            <a:ext cx="2651760" cy="603504"/>
          </a:xfrm>
          <a:prstGeom prst="rect">
            <a:avLst/>
          </a:prstGeom>
          <a:solidFill>
            <a:srgbClr val="EAF3FC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0B2545"/>
                </a:solidFill>
                <a:latin typeface="Segoe UI"/>
              </a:rPr>
              <a:t>Exploitation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4489704"/>
            <a:ext cx="4297680" cy="603504"/>
          </a:xfrm>
          <a:prstGeom prst="rect">
            <a:avLst/>
          </a:prstGeom>
          <a:solidFill>
            <a:srgbClr val="EAF3FC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55606E"/>
                </a:solidFill>
                <a:latin typeface="Segoe UI"/>
              </a:rPr>
              <a:t>Ressource gérée par Azure : ni OS ni correctifs à gérer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4489704"/>
            <a:ext cx="4325112" cy="603504"/>
          </a:xfrm>
          <a:prstGeom prst="rect">
            <a:avLst/>
          </a:prstGeom>
          <a:solidFill>
            <a:srgbClr val="EAF3FC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55606E"/>
                </a:solidFill>
                <a:latin typeface="Segoe UI"/>
              </a:rPr>
              <a:t>Azure Firewall géré ; NVA : VM et haute disponibilité à gérer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120640"/>
            <a:ext cx="26517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0B2545"/>
                </a:solidFill>
                <a:latin typeface="Segoe UI"/>
              </a:rPr>
              <a:t>Orientation du trafic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5120640"/>
            <a:ext cx="42976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55606E"/>
                </a:solidFill>
                <a:latin typeface="Segoe UI"/>
              </a:rPr>
              <a:t>UDR avec prochain saut : appliance virtuelle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5120640"/>
            <a:ext cx="4325112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55606E"/>
                </a:solidFill>
                <a:latin typeface="Segoe UI"/>
              </a:rPr>
              <a:t>UDR avec prochain saut : appliance virtuelle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806440"/>
            <a:ext cx="11274552" cy="5486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5806440"/>
            <a:ext cx="11274552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En pratique : utilisez la Routing Appliance pour le transit est-ouest rapide et un pare-feu pour inspecter ou filtrer.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/>
            <a:r>
              <a:rPr sz="1000" b="0">
                <a:solidFill>
                  <a:srgbClr val="55606E"/>
                </a:solidFill>
                <a:latin typeface="Segoe UI"/>
              </a:rPr>
              <a:t>6</a:t>
            </a:r>
          </a:p>
        </p:txBody>
      </p:sp>
      <p:sp>
        <p:nvSpPr>
          <p:cNvPr id="31" name="Routing appliance icon badge">
            <a:extLst>
              <a:ext uri="{FF2B5EF4-FFF2-40B4-BE49-F238E27FC236}">
                <a16:creationId xmlns:a16="http://schemas.microsoft.com/office/drawing/2014/main" id="{E4D8A1BE-F37B-1ED8-6110-18F7EDE4BA63}"/>
              </a:ext>
            </a:extLst>
          </p:cNvPr>
          <p:cNvSpPr/>
          <p:nvPr/>
        </p:nvSpPr>
        <p:spPr>
          <a:xfrm>
            <a:off x="10835640" y="91440"/>
            <a:ext cx="868680" cy="868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Routing appliance icon" descr="ra_icon_big.png">
            <a:extLst>
              <a:ext uri="{FF2B5EF4-FFF2-40B4-BE49-F238E27FC236}">
                <a16:creationId xmlns:a16="http://schemas.microsoft.com/office/drawing/2014/main" id="{4D27F81D-B982-CC0C-E58B-983A4B459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18288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54531"/>
            <a:ext cx="11247120" cy="504754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  <a:latin typeface="Segoe UI"/>
              </a:rPr>
              <a:t>Architecture du laboratoire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B5D4F4"/>
                </a:solidFill>
                <a:latin typeface="Segoe UI"/>
              </a:rPr>
              <a:t>Architecture hub-and-spoke avec une Routing Appliance à 10 Gbit/s pour le trafic entre spokes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/>
            <a:r>
              <a:rPr sz="1000" b="0">
                <a:solidFill>
                  <a:srgbClr val="55606E"/>
                </a:solidFill>
                <a:latin typeface="Segoe UI"/>
              </a:rPr>
              <a:t>5</a:t>
            </a:r>
          </a:p>
        </p:txBody>
      </p:sp>
      <p:pic>
        <p:nvPicPr>
          <p:cNvPr id="10" name="Picture 9" descr="architecture.png"/>
          <p:cNvPicPr>
            <a:picLocks noChangeAspect="1"/>
          </p:cNvPicPr>
          <p:nvPr/>
        </p:nvPicPr>
        <p:blipFill>
          <a:blip r:embed="rId2"/>
          <a:srcRect t="10500"/>
          <a:stretch>
            <a:fillRect/>
          </a:stretch>
        </p:blipFill>
        <p:spPr>
          <a:xfrm>
            <a:off x="1184417" y="1207008"/>
            <a:ext cx="9822860" cy="5212080"/>
          </a:xfrm>
          <a:prstGeom prst="rect">
            <a:avLst/>
          </a:prstGeom>
        </p:spPr>
      </p:pic>
      <p:sp>
        <p:nvSpPr>
          <p:cNvPr id="7" name="Routing appliance icon badge">
            <a:extLst>
              <a:ext uri="{FF2B5EF4-FFF2-40B4-BE49-F238E27FC236}">
                <a16:creationId xmlns:a16="http://schemas.microsoft.com/office/drawing/2014/main" id="{DFA63383-2511-8B8E-428A-8C20982A7DAC}"/>
              </a:ext>
            </a:extLst>
          </p:cNvPr>
          <p:cNvSpPr/>
          <p:nvPr/>
        </p:nvSpPr>
        <p:spPr>
          <a:xfrm>
            <a:off x="10835640" y="91440"/>
            <a:ext cx="868680" cy="868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Routing appliance icon" descr="ra_icon_big.png">
            <a:extLst>
              <a:ext uri="{FF2B5EF4-FFF2-40B4-BE49-F238E27FC236}">
                <a16:creationId xmlns:a16="http://schemas.microsoft.com/office/drawing/2014/main" id="{02E159C6-0902-8910-60A7-25C96FEFC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182880"/>
            <a:ext cx="685800" cy="6858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E0B75B7-9A0E-0369-6BB5-35EC29E72BB3}"/>
              </a:ext>
            </a:extLst>
          </p:cNvPr>
          <p:cNvSpPr txBox="1"/>
          <p:nvPr/>
        </p:nvSpPr>
        <p:spPr>
          <a:xfrm>
            <a:off x="1184417" y="6381172"/>
            <a:ext cx="71803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Atelier : </a:t>
            </a:r>
            <a:r>
              <a:rPr lang="fr-FR" sz="1200" dirty="0">
                <a:hlinkClick r:id="rId4"/>
              </a:rPr>
              <a:t>github.com/HoussemDellai/azure-network-course/tree/main/240_vnet_routing_appliance</a:t>
            </a:r>
            <a:r>
              <a:rPr lang="fr-FR" sz="1200" dirty="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515</Words>
  <Application>Microsoft Office PowerPoint</Application>
  <PresentationFormat>Widescreen</PresentationFormat>
  <Paragraphs>80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Houssem Dellai</cp:lastModifiedBy>
  <cp:revision>7</cp:revision>
  <dcterms:created xsi:type="dcterms:W3CDTF">2013-01-27T09:14:16Z</dcterms:created>
  <dcterms:modified xsi:type="dcterms:W3CDTF">2026-10-26T19:43:47Z</dcterms:modified>
  <cp:category/>
</cp:coreProperties>
</file>