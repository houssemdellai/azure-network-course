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62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" y="8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oussemDellai/azure-network-course/tree/main/240_vnet_routing_applia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1554480"/>
            <a:ext cx="3749039" cy="3749039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oussem-dell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45920"/>
            <a:ext cx="3566160" cy="3566160"/>
          </a:xfrm>
          <a:prstGeom prst="ellipse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891685"/>
            <a:ext cx="6675120" cy="17030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800"/>
              </a:spcBef>
            </a:pPr>
            <a:r>
              <a:rPr sz="4000" b="1" dirty="0">
                <a:solidFill>
                  <a:srgbClr val="FFFFFF"/>
                </a:solidFill>
                <a:latin typeface="Segoe UI"/>
              </a:rPr>
              <a:t>Azure Virtual Network Routing Appliance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B5D4F4"/>
                </a:solidFill>
                <a:latin typeface="Segoe UI"/>
              </a:rPr>
              <a:t>High-bandwidth, Azure-managed routing for hub and spoke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34340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6675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Houssem Dellai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B5D4F4"/>
                </a:solidFill>
                <a:latin typeface="Segoe UI"/>
              </a:rPr>
              <a:t>Cloud Solution Architect, Microsoft</a:t>
            </a:r>
          </a:p>
        </p:txBody>
      </p:sp>
      <p:sp>
        <p:nvSpPr>
          <p:cNvPr id="9" name="Routing appliance icon badge"/>
          <p:cNvSpPr/>
          <p:nvPr/>
        </p:nvSpPr>
        <p:spPr>
          <a:xfrm>
            <a:off x="896112" y="594360"/>
            <a:ext cx="1188720" cy="1188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Routing appliance icon" descr="ra_icon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722376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Azure Virtual Network Routing Appliance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An Azure-managed, high-bandwidth forwarding layer for east-west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931920" cy="4846320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657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Segoe UI"/>
              </a:rPr>
              <a:t>What is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657600" cy="4206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Segoe UI"/>
              </a:rPr>
              <a:t>A top-level Azure resource deployed in a dedicated subnet named VirtualNetworkApplianceSubnet.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B2545"/>
                </a:solidFill>
                <a:latin typeface="Segoe UI"/>
              </a:rPr>
              <a:t>Runs on specialized networking hardware: low latency, high throughput.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B2545"/>
                </a:solidFill>
                <a:latin typeface="Segoe UI"/>
              </a:rPr>
              <a:t>Traffic is steered to it with UDRs (next hop type: Virtual appliance).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B2545"/>
                </a:solidFill>
                <a:latin typeface="Segoe UI"/>
              </a:rPr>
              <a:t>Pure forwarding: no VM to size, patch or scale. Azure-native management, IPv4 / IPv6 / dual-stack, metrics in Azure Monitor.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D83B01"/>
                </a:solidFill>
                <a:latin typeface="Segoe UI"/>
              </a:rPr>
              <a:t>Not a security device: it routes, it does not inspect.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71600"/>
            <a:ext cx="704088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Segoe UI"/>
              </a:rPr>
              <a:t>Use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74519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874519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79" y="205740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Spoke-to-spoke transit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06039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Hub-and-spoke east-west traffic at up to 200 Gbps without a VM-based forwarder.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74519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874519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Remove routing bottlenecks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39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Replace undersized NVA VMs that cap throughput for data replication, backups, big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114800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4114800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79" y="429768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Low-latency east-west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846320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Hardware data path reduces latency for chatty, latency-sensitive workloads.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114800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4114800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429768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Simpler spoke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46320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One UDR per spoke: private ranges or even 0.0.0.0/0 to the appliance; hub handles the rest.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2</a:t>
            </a:r>
          </a:p>
        </p:txBody>
      </p:sp>
      <p:sp>
        <p:nvSpPr>
          <p:cNvPr id="28" name="Routing appliance icon badge"/>
          <p:cNvSpPr/>
          <p:nvPr/>
        </p:nvSpPr>
        <p:spPr>
          <a:xfrm>
            <a:off x="10835640" y="9144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Routing appliance icon" descr="ra_ic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828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Offers: choose your bandwidth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Configured at deployment: 10, 50, 100 or 200 Gbps per routing appliance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1554480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Dev / test, smaller hubs, first migration off NVA VMs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651760" cy="1554480"/>
          </a:xfrm>
          <a:prstGeom prst="rect">
            <a:avLst/>
          </a:prstGeom>
          <a:solidFill>
            <a:srgbClr val="1F8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Production hubs with several busy spokes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2651760" cy="1554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Data-heavy east-west: replication, analytics, backup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0" y="1463040"/>
            <a:ext cx="2651760" cy="1554480"/>
          </a:xfrm>
          <a:prstGeom prst="rect">
            <a:avLst/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Maximum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Largest hubs and the most demanding throughput needs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5532120" cy="1691640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709160"/>
            <a:ext cx="53035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0078D4"/>
                </a:solidFill>
                <a:latin typeface="Segoe UI"/>
              </a:rPr>
              <a:t>Good to know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074920"/>
            <a:ext cx="53035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Bandwidth cannot be changed in place: delete and redeploy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One dedicated subnet: VirtualNetworkApplianceSubnet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Terraform: use AzAPI (AzureRM not supported yet)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63440"/>
            <a:ext cx="5559552" cy="1691640"/>
          </a:xfrm>
          <a:prstGeom prst="rect">
            <a:avLst/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53035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D83B01"/>
                </a:solidFill>
                <a:latin typeface="Segoe UI"/>
              </a:rPr>
              <a:t>Current limitations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074920"/>
            <a:ext cx="53035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No VNet flow logs yet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Not behind an internal load balancer; no chaining in same region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Traffic not covered by virtual network encryption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3</a:t>
            </a:r>
          </a:p>
        </p:txBody>
      </p:sp>
      <p:sp>
        <p:nvSpPr>
          <p:cNvPr id="38" name="Routing appliance icon badge">
            <a:extLst>
              <a:ext uri="{FF2B5EF4-FFF2-40B4-BE49-F238E27FC236}">
                <a16:creationId xmlns:a16="http://schemas.microsoft.com/office/drawing/2014/main" id="{8BD05B1C-8F71-2F68-0B56-97D755FBAB2D}"/>
              </a:ext>
            </a:extLst>
          </p:cNvPr>
          <p:cNvSpPr/>
          <p:nvPr/>
        </p:nvSpPr>
        <p:spPr>
          <a:xfrm>
            <a:off x="10835640" y="9144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Routing appliance icon" descr="ra_icon_big.png">
            <a:extLst>
              <a:ext uri="{FF2B5EF4-FFF2-40B4-BE49-F238E27FC236}">
                <a16:creationId xmlns:a16="http://schemas.microsoft.com/office/drawing/2014/main" id="{5DFE85E1-1D80-60BC-2C76-BF4C2200D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828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8364-36AC-FF78-E027-3E7A5610B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172B85-493E-043E-99C7-145A0E18308C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63F794-A370-3BE0-2A56-737EB7DF8E2B}"/>
              </a:ext>
            </a:extLst>
          </p:cNvPr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3EFD4-A844-E5EC-A4EB-5381B3E3D303}"/>
              </a:ext>
            </a:extLst>
          </p:cNvPr>
          <p:cNvSpPr txBox="1"/>
          <p:nvPr/>
        </p:nvSpPr>
        <p:spPr>
          <a:xfrm>
            <a:off x="457200" y="621792"/>
            <a:ext cx="11247120" cy="2893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lang="en-US" sz="1400" dirty="0">
                <a:solidFill>
                  <a:srgbClr val="B5D4F4"/>
                </a:solidFill>
                <a:latin typeface="Segoe UI"/>
              </a:rPr>
              <a:t>spoke-to-spoke traffic transits the routing appliance</a:t>
            </a:r>
            <a:endParaRPr sz="1400" b="0" dirty="0">
              <a:solidFill>
                <a:srgbClr val="B5D4F4"/>
              </a:solidFill>
              <a:latin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3B2B1-12C8-D612-A81A-25EA89386FCB}"/>
              </a:ext>
            </a:extLst>
          </p:cNvPr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76004-BADB-0848-0BC4-2559639B1FB0}"/>
              </a:ext>
            </a:extLst>
          </p:cNvPr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Segoe UI"/>
              </a:rPr>
              <a:t>Reference implementation: Hub and Spoke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C6766C-C2C0-1466-7D3F-AFF8B6B8E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04"/>
          <a:stretch>
            <a:fillRect/>
          </a:stretch>
        </p:blipFill>
        <p:spPr>
          <a:xfrm>
            <a:off x="621431" y="1411064"/>
            <a:ext cx="10918658" cy="5044005"/>
          </a:xfrm>
          <a:prstGeom prst="rect">
            <a:avLst/>
          </a:prstGeom>
        </p:spPr>
      </p:pic>
      <p:sp>
        <p:nvSpPr>
          <p:cNvPr id="6" name="Routing appliance icon badge">
            <a:extLst>
              <a:ext uri="{FF2B5EF4-FFF2-40B4-BE49-F238E27FC236}">
                <a16:creationId xmlns:a16="http://schemas.microsoft.com/office/drawing/2014/main" id="{CE235173-3D34-480E-3563-E419CCAD240B}"/>
              </a:ext>
            </a:extLst>
          </p:cNvPr>
          <p:cNvSpPr/>
          <p:nvPr/>
        </p:nvSpPr>
        <p:spPr>
          <a:xfrm>
            <a:off x="10835640" y="9144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Routing appliance icon" descr="ra_icon_big.png">
            <a:extLst>
              <a:ext uri="{FF2B5EF4-FFF2-40B4-BE49-F238E27FC236}">
                <a16:creationId xmlns:a16="http://schemas.microsoft.com/office/drawing/2014/main" id="{037B8FA5-3C52-B628-495A-92A35F192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8288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7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Routing Appliance vs NVA /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Routing appliance = fast forwarding. NVA / Firewall = security inspection. They are complementary.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8960" y="1371600"/>
            <a:ext cx="4297680" cy="5669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Virtual Network Routing Appliance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371600"/>
            <a:ext cx="4325112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NVA / Azure Firewall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265176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Main 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965960"/>
            <a:ext cx="429768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Scalable routing and forwarding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965960"/>
            <a:ext cx="4325112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Security: filtering, inspection, threat protection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96896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Traffic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596896"/>
            <a:ext cx="4297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East-west between subnets / VNets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596896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East-west, north-south, internet egress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265176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Security enforcement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227832"/>
            <a:ext cx="429768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None (routing only)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3227832"/>
            <a:ext cx="4325112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Rules, FQDN, IDPS, TLS inspection (per product)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58768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858768"/>
            <a:ext cx="4297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Hardware data path, 10 to 200 Gbps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3858768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Bound by VM size / firewall SKU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9704"/>
            <a:ext cx="265176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489704"/>
            <a:ext cx="429768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Azure-managed resource: no OS, no patching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4489704"/>
            <a:ext cx="4325112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Azure Firewall managed; NVA = you manage VMs &amp; 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Traffic steering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5120640"/>
            <a:ext cx="4297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UDR with next hop Virtual appliance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5120640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UDR with next hop Virtual appliance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Rule of thumb: use the routing appliance for fast east-west transit; keep a firewall where you must inspect or filter.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6</a:t>
            </a:r>
          </a:p>
        </p:txBody>
      </p:sp>
      <p:sp>
        <p:nvSpPr>
          <p:cNvPr id="31" name="Routing appliance icon badge">
            <a:extLst>
              <a:ext uri="{FF2B5EF4-FFF2-40B4-BE49-F238E27FC236}">
                <a16:creationId xmlns:a16="http://schemas.microsoft.com/office/drawing/2014/main" id="{E4D8A1BE-F37B-1ED8-6110-18F7EDE4BA63}"/>
              </a:ext>
            </a:extLst>
          </p:cNvPr>
          <p:cNvSpPr/>
          <p:nvPr/>
        </p:nvSpPr>
        <p:spPr>
          <a:xfrm>
            <a:off x="10835640" y="9144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Routing appliance icon" descr="ra_icon_big.png">
            <a:extLst>
              <a:ext uri="{FF2B5EF4-FFF2-40B4-BE49-F238E27FC236}">
                <a16:creationId xmlns:a16="http://schemas.microsoft.com/office/drawing/2014/main" id="{4D27F81D-B982-CC0C-E58B-983A4B459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828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4531"/>
            <a:ext cx="11247120" cy="50475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Segoe UI"/>
              </a:rPr>
              <a:t>Lab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Hub and spoke with a 10 Gbps routing appliance carrying spoke-to-spoke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5</a:t>
            </a: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2"/>
          <a:srcRect t="10500"/>
          <a:stretch>
            <a:fillRect/>
          </a:stretch>
        </p:blipFill>
        <p:spPr>
          <a:xfrm>
            <a:off x="1184417" y="1207008"/>
            <a:ext cx="9822860" cy="5212080"/>
          </a:xfrm>
          <a:prstGeom prst="rect">
            <a:avLst/>
          </a:prstGeom>
        </p:spPr>
      </p:pic>
      <p:sp>
        <p:nvSpPr>
          <p:cNvPr id="7" name="Routing appliance icon badge">
            <a:extLst>
              <a:ext uri="{FF2B5EF4-FFF2-40B4-BE49-F238E27FC236}">
                <a16:creationId xmlns:a16="http://schemas.microsoft.com/office/drawing/2014/main" id="{DFA63383-2511-8B8E-428A-8C20982A7DAC}"/>
              </a:ext>
            </a:extLst>
          </p:cNvPr>
          <p:cNvSpPr/>
          <p:nvPr/>
        </p:nvSpPr>
        <p:spPr>
          <a:xfrm>
            <a:off x="10835640" y="91440"/>
            <a:ext cx="868680" cy="868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Routing appliance icon" descr="ra_icon_big.png">
            <a:extLst>
              <a:ext uri="{FF2B5EF4-FFF2-40B4-BE49-F238E27FC236}">
                <a16:creationId xmlns:a16="http://schemas.microsoft.com/office/drawing/2014/main" id="{02E159C6-0902-8910-60A7-25C96FEFC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82880"/>
            <a:ext cx="685800" cy="685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0B75B7-9A0E-0369-6BB5-35EC29E72BB3}"/>
              </a:ext>
            </a:extLst>
          </p:cNvPr>
          <p:cNvSpPr txBox="1"/>
          <p:nvPr/>
        </p:nvSpPr>
        <p:spPr>
          <a:xfrm>
            <a:off x="1184417" y="6381172"/>
            <a:ext cx="71803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Lab: </a:t>
            </a:r>
            <a:r>
              <a:rPr lang="en-US" sz="1200" dirty="0">
                <a:hlinkClick r:id="rId4"/>
              </a:rPr>
              <a:t>github.com/HoussemDellai/azure-network-course/tree/main/240_vnet_routing_appliance</a:t>
            </a:r>
            <a:r>
              <a:rPr lang="en-US" sz="1200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515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Houssem Dellai</cp:lastModifiedBy>
  <cp:revision>7</cp:revision>
  <dcterms:created xsi:type="dcterms:W3CDTF">2013-01-27T09:14:16Z</dcterms:created>
  <dcterms:modified xsi:type="dcterms:W3CDTF">2026-10-26T19:43:47Z</dcterms:modified>
  <cp:category/>
</cp:coreProperties>
</file>