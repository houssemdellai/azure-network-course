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Azure Virtual Network Routing Appliance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D8F5"/>
                </a:solidFill>
                <a:latin typeface="Segoe UI"/>
              </a:rPr>
              <a:t>Lab 240 - Scalable east-west routing in a hub-and-spoke topology using Terraform (azurerm + azapi)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Azure Network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8D8F5"/>
                </a:solidFill>
                <a:latin typeface="Segoe UI"/>
              </a:rPr>
              <a:t>github.com/HoussemDellai/azure-network-course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0078D4"/>
                </a:solidFill>
                <a:latin typeface="Segoe UI"/>
              </a:rPr>
              <a:t>▪  </a:t>
            </a:r>
            <a:r>
              <a:rPr sz="2400">
                <a:solidFill>
                  <a:srgbClr val="1B2A41"/>
                </a:solidFill>
                <a:latin typeface="Segoe UI"/>
              </a:rPr>
              <a:t>What is a Virtual Network Routing Appliance?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078D4"/>
                </a:solidFill>
                <a:latin typeface="Segoe UI"/>
              </a:rPr>
              <a:t>▪  </a:t>
            </a:r>
            <a:r>
              <a:rPr sz="2400">
                <a:solidFill>
                  <a:srgbClr val="1B2A41"/>
                </a:solidFill>
                <a:latin typeface="Segoe UI"/>
              </a:rPr>
              <a:t>Routing appliance vs. NVA / firewall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078D4"/>
                </a:solidFill>
                <a:latin typeface="Segoe UI"/>
              </a:rPr>
              <a:t>▪  </a:t>
            </a:r>
            <a:r>
              <a:rPr sz="2400">
                <a:solidFill>
                  <a:srgbClr val="1B2A41"/>
                </a:solidFill>
                <a:latin typeface="Segoe UI"/>
              </a:rPr>
              <a:t>Lab architecture and address plan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078D4"/>
                </a:solidFill>
                <a:latin typeface="Segoe UI"/>
              </a:rPr>
              <a:t>▪  </a:t>
            </a:r>
            <a:r>
              <a:rPr sz="2400">
                <a:solidFill>
                  <a:srgbClr val="1B2A41"/>
                </a:solidFill>
                <a:latin typeface="Segoe UI"/>
              </a:rPr>
              <a:t>Terraform implementation: hub, appliance, spokes, peering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078D4"/>
                </a:solidFill>
                <a:latin typeface="Segoe UI"/>
              </a:rPr>
              <a:t>▪  </a:t>
            </a:r>
            <a:r>
              <a:rPr sz="2400">
                <a:solidFill>
                  <a:srgbClr val="1B2A41"/>
                </a:solidFill>
                <a:latin typeface="Segoe UI"/>
              </a:rPr>
              <a:t>User Defined Routes steering traffic to the appliance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078D4"/>
                </a:solidFill>
                <a:latin typeface="Segoe UI"/>
              </a:rPr>
              <a:t>▪  </a:t>
            </a:r>
            <a:r>
              <a:rPr sz="2400">
                <a:solidFill>
                  <a:srgbClr val="1B2A41"/>
                </a:solidFill>
                <a:latin typeface="Segoe UI"/>
              </a:rPr>
              <a:t>Traffic flow, deployment and verification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078D4"/>
                </a:solidFill>
                <a:latin typeface="Segoe UI"/>
              </a:rPr>
              <a:t>▪  </a:t>
            </a:r>
            <a:r>
              <a:rPr sz="2400">
                <a:solidFill>
                  <a:srgbClr val="1B2A41"/>
                </a:solidFill>
                <a:latin typeface="Segoe UI"/>
              </a:rPr>
              <a:t>Troubleshooting and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is a Virtual Network Routing Appliance?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700">
                <a:solidFill>
                  <a:srgbClr val="1B2A41"/>
                </a:solidFill>
                <a:latin typeface="Segoe UI"/>
              </a:rPr>
              <a:t>Managed routing service</a:t>
            </a:r>
            <a:r>
              <a:rPr sz="1700">
                <a:solidFill>
                  <a:srgbClr val="1B2A41"/>
                </a:solidFill>
                <a:latin typeface="Segoe UI"/>
              </a:rPr>
              <a:t> deployed into a dedicated subnet of a VNet (resource type Microsoft.Network/virtualNetworkAppliances).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700">
                <a:solidFill>
                  <a:srgbClr val="1B2A41"/>
                </a:solidFill>
                <a:latin typeface="Segoe UI"/>
              </a:rPr>
              <a:t>Advanced routing beyond default Azure routing</a:t>
            </a:r>
            <a:r>
              <a:rPr sz="1700">
                <a:solidFill>
                  <a:srgbClr val="1B2A41"/>
                </a:solidFill>
                <a:latin typeface="Segoe UI"/>
              </a:rPr>
              <a:t> for traffic between subnets and VNets.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700">
                <a:solidFill>
                  <a:srgbClr val="1B2A41"/>
                </a:solidFill>
                <a:latin typeface="Segoe UI"/>
              </a:rPr>
              <a:t>East-west focus</a:t>
            </a:r>
            <a:r>
              <a:rPr sz="1700">
                <a:solidFill>
                  <a:srgbClr val="1B2A41"/>
                </a:solidFill>
                <a:latin typeface="Segoe UI"/>
              </a:rPr>
              <a:t> manages traffic between subnets; it is not a security enforcement point like a firewall.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700">
                <a:solidFill>
                  <a:srgbClr val="1B2A41"/>
                </a:solidFill>
                <a:latin typeface="Segoe UI"/>
              </a:rPr>
              <a:t>Scale-out and performance</a:t>
            </a:r>
            <a:r>
              <a:rPr sz="1700">
                <a:solidFill>
                  <a:srgbClr val="1B2A41"/>
                </a:solidFill>
                <a:latin typeface="Segoe UI"/>
              </a:rPr>
              <a:t> multiple instances for higher aggregate throughput (up to Tbps) and better NVA workload performance.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700">
                <a:solidFill>
                  <a:srgbClr val="1B2A41"/>
                </a:solidFill>
                <a:latin typeface="Segoe UI"/>
              </a:rPr>
              <a:t>Used together with</a:t>
            </a:r>
            <a:r>
              <a:rPr sz="1700">
                <a:solidFill>
                  <a:srgbClr val="1B2A41"/>
                </a:solidFill>
                <a:latin typeface="Segoe UI"/>
              </a:rPr>
              <a:t> UDRs, NSGs, admin rules, VPN / ExpressRoute gateway and NAT Gateway.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486400" cy="23680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480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Segoe UI"/>
              </a:rPr>
              <a:t>Reference architecture (Microsoft)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Routing appliance vs. NVA /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389120"/>
                <a:gridCol w="4023360"/>
              </a:tblGrid>
              <a:tr h="7010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Virtual Network Routing Appliance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NVA / Azure Firewall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Segoe UI"/>
                        </a:rPr>
                        <a:t>Primary purpose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Routing and traffic management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Security inspection and filtering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Segoe UI"/>
                        </a:rPr>
                        <a:t>Traffic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East-west between subnets / VNets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East-west, north-south, internet egress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Segoe UI"/>
                        </a:rPr>
                        <a:t>Security enforcement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None - use NSGs / admin rules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Yes - FW rules, IDPS, TLS inspection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Segoe UI"/>
                        </a:rPr>
                        <a:t>Scaling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Scale-out, bandwidth set per appliance (10 Gbps in lab)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Depends on SKU / VM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Segoe UI"/>
                        </a:rPr>
                        <a:t>Next hop type in UDR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VirtualAppliance -&gt; appliance private IP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VirtualAppliance -&gt; NVA / FW private IP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Lab architecture: hub and spokes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371600"/>
            <a:ext cx="4297680" cy="3931920"/>
          </a:xfrm>
          <a:prstGeom prst="rect">
            <a:avLst/>
          </a:prstGeom>
          <a:solidFill>
            <a:srgbClr val="EAF3FC"/>
          </a:solidFill>
          <a:ln w="22225">
            <a:solidFill>
              <a:srgbClr val="007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41732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  <a:latin typeface="Segoe UI"/>
              </a:rPr>
              <a:t>vnet-hub  172.16.0.0/12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011680"/>
            <a:ext cx="3749039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0116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Segoe UI"/>
              </a:rPr>
              <a:t>VirtualNetworkApplianceSubnet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423160"/>
            <a:ext cx="2468880" cy="8686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hub-routing-appliance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172.16.0.0/24 - 10 Gbps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840480"/>
            <a:ext cx="3749039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38404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Segoe UI"/>
              </a:rPr>
              <a:t>AzureBastionSubnet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29768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A41"/>
                </a:solidFill>
                <a:latin typeface="Segoe UI"/>
              </a:rPr>
              <a:t>Azure Bastion - 172.16.1.0/27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834640" cy="1554480"/>
          </a:xfrm>
          <a:prstGeom prst="rect">
            <a:avLst/>
          </a:prstGeom>
          <a:solidFill>
            <a:srgbClr val="EAF3FC"/>
          </a:solidFill>
          <a:ln w="22225">
            <a:solidFill>
              <a:srgbClr val="007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4173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Segoe UI"/>
              </a:rPr>
              <a:t>vnet-spoke1  10.1.0.0/16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288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Segoe UI"/>
              </a:rPr>
              <a:t>snet-spoke1-workload 10.1.0.0/24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240280"/>
            <a:ext cx="20116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2A41"/>
                </a:solidFill>
                <a:latin typeface="Segoe UI"/>
              </a:rPr>
              <a:t>vm-linux-spoke1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229600" y="2148840"/>
            <a:ext cx="822960" cy="594360"/>
          </a:xfrm>
          <a:prstGeom prst="line">
            <a:avLst/>
          </a:prstGeom>
          <a:ln w="31750">
            <a:solidFill>
              <a:srgbClr val="107C10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052560" y="3749039"/>
            <a:ext cx="2834640" cy="1554480"/>
          </a:xfrm>
          <a:prstGeom prst="rect">
            <a:avLst/>
          </a:prstGeom>
          <a:solidFill>
            <a:srgbClr val="EAF3FC"/>
          </a:solidFill>
          <a:ln w="22225">
            <a:solidFill>
              <a:srgbClr val="007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3794759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Segoe UI"/>
              </a:rPr>
              <a:t>vnet-spoke2  10.2.0.0/16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2062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Segoe UI"/>
              </a:rPr>
              <a:t>snet_spoke2_workload 10.2.0.0/24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4617720"/>
            <a:ext cx="20116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2A41"/>
                </a:solidFill>
                <a:latin typeface="Segoe UI"/>
              </a:rPr>
              <a:t>vm-linux-spoke2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0" y="3108960"/>
            <a:ext cx="822960" cy="1417319"/>
          </a:xfrm>
          <a:prstGeom prst="line">
            <a:avLst/>
          </a:prstGeom>
          <a:ln w="31750">
            <a:solidFill>
              <a:srgbClr val="107C10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38160" y="19202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07C10"/>
                </a:solidFill>
                <a:latin typeface="Segoe UI"/>
              </a:rPr>
              <a:t>Peering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6118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07C10"/>
                </a:solidFill>
                <a:latin typeface="Segoe UI"/>
              </a:rPr>
              <a:t>Peering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371600"/>
            <a:ext cx="310896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14630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8D4"/>
                </a:solidFill>
                <a:latin typeface="Segoe UI"/>
              </a:rPr>
              <a:t>Design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9202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78D4"/>
                </a:solidFill>
                <a:latin typeface="Segoe UI"/>
              </a:rPr>
              <a:t>▪  </a:t>
            </a:r>
            <a:r>
              <a:rPr sz="1300">
                <a:solidFill>
                  <a:srgbClr val="1B2A41"/>
                </a:solidFill>
                <a:latin typeface="Segoe UI"/>
              </a:rPr>
              <a:t>Hub uses a large 172.16.0.0/12 space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8D4"/>
                </a:solidFill>
                <a:latin typeface="Segoe UI"/>
              </a:rPr>
              <a:t>▪  </a:t>
            </a:r>
            <a:r>
              <a:rPr sz="1300">
                <a:solidFill>
                  <a:srgbClr val="1B2A41"/>
                </a:solidFill>
                <a:latin typeface="Segoe UI"/>
              </a:rPr>
              <a:t>Spokes use 10.x.0.0/16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8D4"/>
                </a:solidFill>
                <a:latin typeface="Segoe UI"/>
              </a:rPr>
              <a:t>▪  </a:t>
            </a:r>
            <a:r>
              <a:rPr sz="1300">
                <a:solidFill>
                  <a:srgbClr val="1B2A41"/>
                </a:solidFill>
                <a:latin typeface="Segoe UI"/>
              </a:rPr>
              <a:t>Spoke-to-spoke traffic has no direct peering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8D4"/>
                </a:solidFill>
                <a:latin typeface="Segoe UI"/>
              </a:rPr>
              <a:t>▪  </a:t>
            </a:r>
            <a:r>
              <a:rPr sz="1300">
                <a:solidFill>
                  <a:srgbClr val="1B2A41"/>
                </a:solidFill>
                <a:latin typeface="Segoe UI"/>
              </a:rPr>
              <a:t>UDRs force it through the appliance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78D4"/>
                </a:solidFill>
                <a:latin typeface="Segoe UI"/>
              </a:rPr>
              <a:t>▪  </a:t>
            </a:r>
            <a:r>
              <a:rPr sz="1300">
                <a:solidFill>
                  <a:srgbClr val="1B2A41"/>
                </a:solidFill>
                <a:latin typeface="Segoe UI"/>
              </a:rPr>
              <a:t>Bastion gives private SSH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Segoe UI"/>
              </a:rPr>
              <a:t>Spoke VMs: Ubuntu 24.04 Spot VMs (Standard_D2ads_v7), no public IP. Resource groups: rg-hub-240, rg-spoke1-240, rg-spoke2-240.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Terraform implementation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Segoe UI"/>
              </a:rPr>
              <a:t>Lab folder: 240_vnet_routing_appliance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8800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40664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File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onsolas"/>
                        </a:rPr>
                        <a:t>providers.tf / variables.tf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azurerm &gt;= 4.37, azapi &gt;= 2.12, Terraform &gt;= 1.11; prefix "240"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onsolas"/>
                        </a:rPr>
                        <a:t>hub_rg.tf, hub_vnet.tf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Hub resource group, VNet 172.16.0.0/12, appliance and Bastion subnets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onsolas"/>
                        </a:rPr>
                        <a:t>hub_routing_appliance.tf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Routing appliance resource (azapi) + private IP output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onsolas"/>
                        </a:rPr>
                        <a:t>bastion.tf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Azure Bastion with public IP for SSH access to spoke VMs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onsolas"/>
                        </a:rPr>
                        <a:t>spoke1_*.tf / spoke2_*.tf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Segoe UI"/>
                        </a:rPr>
                        <a:t>Resource group, VNet, workload subnet, VM, peering, route table</a:t>
                      </a:r>
                    </a:p>
                  </a:txBody>
                  <a:tcPr anchor="ctr"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Deploying the routing appliance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Segoe UI"/>
              </a:rPr>
              <a:t>No azurerm resource yet - the lab uses the azapi 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676656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resource "azapi_resource" "hub_routing_appliance" {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type      = "Microsoft.Network/virtualNetworkAppliances@2026-05-01"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name      = "hub-routing-appliance"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location  = azurerm_resource_group.rg_hub.location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parent_id = azurerm_resource_group.rg_hub.id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schema_validation_enabled = false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body = {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properties = {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  bandwidthInGbps         = 10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  privateIPAddressVersion = "IPv4"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  subnet = {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    id = azurerm_subnet.snet_routing_appliance.id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  }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}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response_export_values = ["*"]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600">
                <a:solidFill>
                  <a:srgbClr val="1B2A41"/>
                </a:solidFill>
                <a:latin typeface="Segoe UI"/>
              </a:rPr>
              <a:t>Subnet:</a:t>
            </a:r>
            <a:r>
              <a:rPr sz="1600">
                <a:solidFill>
                  <a:srgbClr val="1B2A41"/>
                </a:solidFill>
                <a:latin typeface="Segoe UI"/>
              </a:rPr>
              <a:t> must be named VirtualNetworkApplianceSubnet (172.16.0.0/24).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600">
                <a:solidFill>
                  <a:srgbClr val="1B2A41"/>
                </a:solidFill>
                <a:latin typeface="Segoe UI"/>
              </a:rPr>
              <a:t>Bandwidth:</a:t>
            </a:r>
            <a:r>
              <a:rPr sz="1600">
                <a:solidFill>
                  <a:srgbClr val="1B2A41"/>
                </a:solidFill>
                <a:latin typeface="Segoe UI"/>
              </a:rPr>
              <a:t> bandwidthInGbps = 10 sets the appliance capacity.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600">
                <a:solidFill>
                  <a:srgbClr val="1B2A41"/>
                </a:solidFill>
                <a:latin typeface="Segoe UI"/>
              </a:rPr>
              <a:t>Schema validation off:</a:t>
            </a:r>
            <a:r>
              <a:rPr sz="1600">
                <a:solidFill>
                  <a:srgbClr val="1B2A41"/>
                </a:solidFill>
                <a:latin typeface="Segoe UI"/>
              </a:rPr>
              <a:t> the API version is newer than the azapi embedded schemas.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600">
                <a:solidFill>
                  <a:srgbClr val="1B2A41"/>
                </a:solidFill>
                <a:latin typeface="Segoe UI"/>
              </a:rPr>
              <a:t>Output:</a:t>
            </a:r>
            <a:r>
              <a:rPr sz="1600">
                <a:solidFill>
                  <a:srgbClr val="1B2A41"/>
                </a:solidFill>
                <a:latin typeface="Segoe UI"/>
              </a:rPr>
              <a:t> the appliance private IP is exported and used as UDR next hop.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Steering traffic with User Defined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Segoe UI"/>
              </a:rPr>
              <a:t>Each spoke workload subnet gets a route table pointing to the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6766560" cy="32918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resource "azurerm_route" "route-to-nva-spoke1" {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route_table_name       = "route-table-to-nva-spoke1"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address_prefix         = "10.0.0.0/8"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next_hop_type          = "VirtualAppliance"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next_hop_in_ip_address = azapi_resource.hub_routing_appliance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.output.properties.ipConfigurations.0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.properties.privateIPAddress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# route table associated to snet-spoke1-workload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# same pattern for spoke2 (route-table-to-nva-spoke2)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5212080"/>
          <a:ext cx="67665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Route table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Prefix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Next hop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Segoe UI"/>
                        </a:rPr>
                        <a:t>route-table-to-nva-spoke1</a:t>
                      </a:r>
                    </a:p>
                  </a:txBody>
                  <a:tcPr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Segoe UI"/>
                        </a:rPr>
                        <a:t>10.0.0.0/8</a:t>
                      </a:r>
                    </a:p>
                  </a:txBody>
                  <a:tcPr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Segoe UI"/>
                        </a:rPr>
                        <a:t>Appliance IP</a:t>
                      </a:r>
                    </a:p>
                  </a:txBody>
                  <a:tcPr>
                    <a:solidFill>
                      <a:srgbClr val="EAF3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Segoe UI"/>
                        </a:rPr>
                        <a:t>route-table-to-nva-spoke2</a:t>
                      </a:r>
                    </a:p>
                  </a:txBody>
                  <a:tcPr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Segoe UI"/>
                        </a:rPr>
                        <a:t>10.0.0.0/8</a:t>
                      </a:r>
                    </a:p>
                  </a:txBody>
                  <a:tcPr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Segoe UI"/>
                        </a:rPr>
                        <a:t>Appliance IP</a:t>
                      </a:r>
                    </a:p>
                  </a:txBody>
                  <a:tcPr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173736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500">
                <a:solidFill>
                  <a:srgbClr val="1B2A41"/>
                </a:solidFill>
                <a:latin typeface="Segoe UI"/>
              </a:rPr>
              <a:t>10.0.0.0/8</a:t>
            </a:r>
            <a:r>
              <a:rPr sz="1500">
                <a:solidFill>
                  <a:srgbClr val="1B2A41"/>
                </a:solidFill>
                <a:latin typeface="Segoe UI"/>
              </a:rPr>
              <a:t> covers both spokes (10.1.0.0/16 and 10.2.0.0/16), so spoke-to-spoke traffic goes to the appliance.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500">
                <a:solidFill>
                  <a:srgbClr val="1B2A41"/>
                </a:solidFill>
                <a:latin typeface="Segoe UI"/>
              </a:rPr>
              <a:t>Spokes are not peered to each other:</a:t>
            </a:r>
            <a:r>
              <a:rPr sz="1500">
                <a:solidFill>
                  <a:srgbClr val="1B2A41"/>
                </a:solidFill>
                <a:latin typeface="Segoe UI"/>
              </a:rPr>
              <a:t> the hub peering plus this UDR is the only path between them.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500">
                <a:solidFill>
                  <a:srgbClr val="1B2A41"/>
                </a:solidFill>
                <a:latin typeface="Segoe UI"/>
              </a:rPr>
              <a:t>BGP propagation disabled</a:t>
            </a:r>
            <a:r>
              <a:rPr sz="1500">
                <a:solidFill>
                  <a:srgbClr val="1B2A41"/>
                </a:solidFill>
                <a:latin typeface="Segoe UI"/>
              </a:rPr>
              <a:t> on the route tables (bgp_route_propagation_enabled = false).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Hub-spoke VNet peering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6400800" cy="3840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resource "azurerm_virtual_network_peering"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       "vnet_peering_hub_to_spoke1" {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virtual_network_name         = vnet-hub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remote_virtual_network_id    = vnet-spoke1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allow_virtual_network_access = true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allow_forwarded_traffic      = true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allow_gateway_transit        = false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# + reverse peering spoke1 -&gt; hub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# + same pair for spoke2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630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600">
                <a:solidFill>
                  <a:srgbClr val="1B2A41"/>
                </a:solidFill>
                <a:latin typeface="Segoe UI"/>
              </a:rPr>
              <a:t>4 peerings</a:t>
            </a:r>
            <a:r>
              <a:rPr sz="1600">
                <a:solidFill>
                  <a:srgbClr val="1B2A41"/>
                </a:solidFill>
                <a:latin typeface="Segoe UI"/>
              </a:rPr>
              <a:t> in total: hub&lt;-&gt;spoke1 and hub&lt;-&gt;spoke2, both directions.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600">
                <a:solidFill>
                  <a:srgbClr val="1B2A41"/>
                </a:solidFill>
                <a:latin typeface="Segoe UI"/>
              </a:rPr>
              <a:t>allow_forwarded_traffic = true</a:t>
            </a:r>
            <a:r>
              <a:rPr sz="1600">
                <a:solidFill>
                  <a:srgbClr val="1B2A41"/>
                </a:solidFill>
                <a:latin typeface="Segoe UI"/>
              </a:rPr>
              <a:t> is required so traffic that the appliance forwards on behalf of another spoke is accepted.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600">
                <a:solidFill>
                  <a:srgbClr val="1B2A41"/>
                </a:solidFill>
                <a:latin typeface="Segoe UI"/>
              </a:rPr>
              <a:t>allow_virtual_network_access = true</a:t>
            </a:r>
            <a:r>
              <a:rPr sz="1600">
                <a:solidFill>
                  <a:srgbClr val="1B2A41"/>
                </a:solidFill>
                <a:latin typeface="Segoe UI"/>
              </a:rPr>
              <a:t> enables basic connectivity between hub and spokes.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b="1" sz="1600">
                <a:solidFill>
                  <a:srgbClr val="1B2A41"/>
                </a:solidFill>
                <a:latin typeface="Segoe UI"/>
              </a:rPr>
              <a:t>No gateway transit</a:t>
            </a:r>
            <a:r>
              <a:rPr sz="1600">
                <a:solidFill>
                  <a:srgbClr val="1B2A41"/>
                </a:solidFill>
                <a:latin typeface="Segoe UI"/>
              </a:rPr>
              <a:t> in this lab (no VPN / ExpressRoute gateway).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Traffic flow: spoke1 to spoke2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Segoe UI"/>
              </a:rPr>
              <a:t>ping / traceroute from vm-linux-spoke1 to vm-linux-spoke2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103120" cy="2011680"/>
          </a:xfrm>
          <a:prstGeom prst="roundRect">
            <a:avLst/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874519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A41"/>
                </a:solidFill>
                <a:latin typeface="Segoe UI"/>
              </a:rPr>
              <a:t>vm-linux-spoke1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Segoe UI"/>
              </a:rPr>
              <a:t>10.1.0.x sends packet to 10.2.0.x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108960"/>
            <a:ext cx="182880" cy="0"/>
          </a:xfrm>
          <a:prstGeom prst="line">
            <a:avLst/>
          </a:prstGeom>
          <a:ln w="3175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2103120"/>
            <a:ext cx="2103120" cy="2011680"/>
          </a:xfrm>
          <a:prstGeom prst="roundRect">
            <a:avLst/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1874519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4231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A41"/>
                </a:solidFill>
                <a:latin typeface="Segoe UI"/>
              </a:rPr>
              <a:t>UDR in spoke1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2608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Segoe UI"/>
              </a:rPr>
              <a:t>10.0.0.0/8 matches -&gt; next hop = appliance IP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3108960"/>
            <a:ext cx="182880" cy="0"/>
          </a:xfrm>
          <a:prstGeom prst="line">
            <a:avLst/>
          </a:prstGeom>
          <a:ln w="3175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0640" y="2103120"/>
            <a:ext cx="2103120" cy="2011680"/>
          </a:xfrm>
          <a:prstGeom prst="roundRect">
            <a:avLst/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1874519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24231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A41"/>
                </a:solidFill>
                <a:latin typeface="Segoe UI"/>
              </a:rPr>
              <a:t>Peering to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92608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Segoe UI"/>
              </a:rPr>
              <a:t>forwarded traffic allowed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23759" y="3108960"/>
            <a:ext cx="182881" cy="0"/>
          </a:xfrm>
          <a:prstGeom prst="line">
            <a:avLst/>
          </a:prstGeom>
          <a:ln w="3175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2103120"/>
            <a:ext cx="2103120" cy="2011680"/>
          </a:xfrm>
          <a:prstGeom prst="roundRect">
            <a:avLst/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0" y="1874519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4231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A41"/>
                </a:solidFill>
                <a:latin typeface="Segoe UI"/>
              </a:rPr>
              <a:t>Routing appliance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92608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Segoe UI"/>
              </a:rPr>
              <a:t>routes packet to the spoke2 address space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09759" y="3108960"/>
            <a:ext cx="182881" cy="0"/>
          </a:xfrm>
          <a:prstGeom prst="line">
            <a:avLst/>
          </a:prstGeom>
          <a:ln w="31750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92640" y="2103120"/>
            <a:ext cx="2103120" cy="2011680"/>
          </a:xfrm>
          <a:prstGeom prst="roundRect">
            <a:avLst/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0" y="1874519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4231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A41"/>
                </a:solidFill>
                <a:latin typeface="Segoe UI"/>
              </a:rPr>
              <a:t>Peering to spoke2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926080"/>
            <a:ext cx="1920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Segoe UI"/>
              </a:rPr>
              <a:t>packet delivered to vm-linux-spoke2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A41"/>
                </a:solidFill>
                <a:latin typeface="Segoe UI"/>
              </a:rPr>
              <a:t>Expected traceroute: the appliance private IP (172.16.0.x) appears as an intermediate hop between the two spokes.</a:t>
            </a:r>
          </a:p>
          <a:p>
            <a:pPr algn="l"/>
            <a:r>
              <a:rPr sz="1700" b="0">
                <a:solidFill>
                  <a:srgbClr val="1B2A41"/>
                </a:solidFill>
                <a:latin typeface="Segoe UI"/>
              </a:rPr>
              <a:t>The return path follows the same logic through the UDR in spoke2.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Deploy and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577840" cy="2743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# Deploy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cd 240_vnet_routing_appliance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terraform init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terraform plan -out tfplan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terraform apply tfplan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# Outputs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routing_appliance_ip = "172.16.0.x"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vm_spoke1_ip         = "10.1.0.x"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486400" cy="2743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# Connect with Bastion (azureuser) to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# vm-linux-spoke1, then: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ping &lt;vm_spoke2_ip&gt;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traceroute &lt;vm_spoke2_ip&gt;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# Check effective routes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az network nic show-effective-route-table \</a:t>
            </a:r>
          </a:p>
          <a:p>
            <a:pPr algn="l"/>
            <a:r>
              <a:rPr sz="1400">
                <a:solidFill>
                  <a:srgbClr val="D4D4D4"/>
                </a:solidFill>
                <a:latin typeface="Consolas"/>
              </a:rPr>
              <a:t>  -g rg-spoke1-240 -n nic-vm-spoke1 -o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sz="1600">
                <a:solidFill>
                  <a:srgbClr val="1B2A41"/>
                </a:solidFill>
                <a:latin typeface="Segoe UI"/>
              </a:rPr>
              <a:t>Effective routes on the spoke NIC should show 10.0.0.0/8 with next hop type VirtualAppliance.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sz="1600">
                <a:solidFill>
                  <a:srgbClr val="1B2A41"/>
                </a:solidFill>
                <a:latin typeface="Segoe UI"/>
              </a:rPr>
              <a:t>The VMs install traceroute at boot through custom_data (scripts/install-traceroute.sh).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▪  </a:t>
            </a:r>
            <a:r>
              <a:rPr sz="1600">
                <a:solidFill>
                  <a:srgbClr val="1B2A41"/>
                </a:solidFill>
                <a:latin typeface="Segoe UI"/>
              </a:rPr>
              <a:t>Spot VMs and an ephemeral NVMe OS disk keep the lab cost 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Troubleshooting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78D4"/>
                </a:solidFill>
                <a:latin typeface="Segoe UI"/>
              </a:rPr>
              <a:t>▪  </a:t>
            </a:r>
            <a:r>
              <a:rPr sz="2000">
                <a:solidFill>
                  <a:srgbClr val="1B2A41"/>
                </a:solidFill>
                <a:latin typeface="Segoe UI"/>
              </a:rPr>
              <a:t>Check network interface configuration and IP addresses of the appliance and VMs.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8D4"/>
                </a:solidFill>
                <a:latin typeface="Segoe UI"/>
              </a:rPr>
              <a:t>▪  </a:t>
            </a:r>
            <a:r>
              <a:rPr sz="2000">
                <a:solidFill>
                  <a:srgbClr val="1B2A41"/>
                </a:solidFill>
                <a:latin typeface="Segoe UI"/>
              </a:rPr>
              <a:t>Review route tables / effective routes: is the UDR associated to the workload subnet?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8D4"/>
                </a:solidFill>
                <a:latin typeface="Segoe UI"/>
              </a:rPr>
              <a:t>▪  </a:t>
            </a:r>
            <a:r>
              <a:rPr sz="2000">
                <a:solidFill>
                  <a:srgbClr val="1B2A41"/>
                </a:solidFill>
                <a:latin typeface="Segoe UI"/>
              </a:rPr>
              <a:t>Confirm the peerings are Connected and allow_forwarded_traffic is enabled on both sides.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8D4"/>
                </a:solidFill>
                <a:latin typeface="Segoe UI"/>
              </a:rPr>
              <a:t>▪  </a:t>
            </a:r>
            <a:r>
              <a:rPr sz="2000">
                <a:solidFill>
                  <a:srgbClr val="1B2A41"/>
                </a:solidFill>
                <a:latin typeface="Segoe UI"/>
              </a:rPr>
              <a:t>Inspect appliance logs / diagnostics for errors or misconfiguration.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8D4"/>
                </a:solidFill>
                <a:latin typeface="Segoe UI"/>
              </a:rPr>
              <a:t>▪  </a:t>
            </a:r>
            <a:r>
              <a:rPr sz="2000">
                <a:solidFill>
                  <a:srgbClr val="1B2A41"/>
                </a:solidFill>
                <a:latin typeface="Segoe UI"/>
              </a:rPr>
              <a:t>Test connectivity with ping and traceroute.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8D4"/>
                </a:solidFill>
                <a:latin typeface="Segoe UI"/>
              </a:rPr>
              <a:t>▪  </a:t>
            </a:r>
            <a:r>
              <a:rPr sz="2000">
                <a:solidFill>
                  <a:srgbClr val="1B2A41"/>
                </a:solidFill>
                <a:latin typeface="Segoe UI"/>
              </a:rPr>
              <a:t>Make sure NSGs or firewalls are not blocking the traffic.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8D4"/>
                </a:solidFill>
                <a:latin typeface="Segoe UI"/>
              </a:rPr>
              <a:t>▪  </a:t>
            </a:r>
            <a:r>
              <a:rPr sz="2000">
                <a:solidFill>
                  <a:srgbClr val="1B2A41"/>
                </a:solidFill>
                <a:latin typeface="Segoe UI"/>
              </a:rPr>
              <a:t>Remember: the routing appliance does not filter traffic - security is enforced by NSGs and admin rules.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Segoe UI"/>
              </a:rPr>
              <a:t>Azure Network Course  |  Lab 240 - Virtual Network Routing Appliance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06060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66160" cy="3474720"/>
          </a:xfrm>
          <a:prstGeom prst="roundRect">
            <a:avLst/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Segoe UI"/>
              </a:rPr>
              <a:t>Route, don't 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43200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A41"/>
                </a:solidFill>
                <a:latin typeface="Segoe UI"/>
              </a:rPr>
              <a:t>The routing appliance focuses on scalable east-west routing; pair it with NSGs for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566160" cy="3474720"/>
          </a:xfrm>
          <a:prstGeom prst="roundRect">
            <a:avLst/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Segoe UI"/>
              </a:rPr>
              <a:t>UDR is the glue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43200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A41"/>
                </a:solidFill>
                <a:latin typeface="Segoe UI"/>
              </a:rPr>
              <a:t>Route tables with next hop VirtualAppliance send spoke traffic to the appliance 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566160" cy="3474720"/>
          </a:xfrm>
          <a:prstGeom prst="roundRect">
            <a:avLst/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Segoe UI"/>
              </a:rPr>
              <a:t>Infrastructure as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200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A41"/>
                </a:solidFill>
                <a:latin typeface="Segoe UI"/>
              </a:rPr>
              <a:t>azurerm for network plumbing, azapi for the newer virtualNetworkAppliances resource.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83B01"/>
                </a:solidFill>
                <a:latin typeface="Segoe UI"/>
              </a:rPr>
              <a:t>Cleanup:  terraform destroy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