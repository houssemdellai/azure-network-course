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72BEBE-6E5D-4E5C-9D12-D6650D52D2DE}" type="datetimeFigureOut">
              <a:rPr lang="en-US" smtClean="0"/>
              <a:t>10/24/2026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5111AD-F453-4283-A1E4-118D7607AFC7}" type="slidenum">
              <a:rPr lang="en-US" smtClean="0"/>
              <a:t>‹#›</a:t>
            </a:fld>
            <a:endParaRPr lang="en-US"/>
          </a:p>
        </p:txBody>
      </p:sp>
    </p:spTree>
    <p:extLst>
      <p:ext uri="{BB962C8B-B14F-4D97-AF65-F5344CB8AC3E}">
        <p14:creationId xmlns:p14="http://schemas.microsoft.com/office/powerpoint/2010/main" val="11889355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Audience: Azure networking learners familiar with VNets, peering, UDRs, and Terraform. This deck reflects the checked-in configuration, not a verified live deployment. Source folder: 240_vnet_routing_appliance. Reviewed 24 October 2026. Do not disclose the lab's embedded VM password during delivery.</a:t>
            </a:r>
          </a:p>
        </p:txBody>
      </p:sp>
      <p:sp>
        <p:nvSpPr>
          <p:cNvPr id="4" name="Slide Number Placeholder 3"/>
          <p:cNvSpPr>
            <a:spLocks noGrp="1"/>
          </p:cNvSpPr>
          <p:nvPr>
            <p:ph type="sldNum" sz="quarter" idx="5"/>
          </p:nvPr>
        </p:nvSpPr>
        <p:spPr/>
        <p:txBody>
          <a:bodyPr/>
          <a:lstStyle/>
          <a:p>
            <a:fld id="{3E5111AD-F453-4283-A1E4-118D7607AFC7}" type="slidenum">
              <a:rPr lang="en-US" smtClean="0"/>
              <a:t>1</a:t>
            </a:fld>
            <a:endParaRPr lang="en-US"/>
          </a:p>
        </p:txBody>
      </p:sp>
    </p:spTree>
    <p:extLst>
      <p:ext uri="{BB962C8B-B14F-4D97-AF65-F5344CB8AC3E}">
        <p14:creationId xmlns:p14="http://schemas.microsoft.com/office/powerpoint/2010/main" val="29188317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Success criteria: all peerings Connected; each workload subnet has its route table; the route for the remote spoke is active and points to the exported appliance IP; bidirectional workload traffic succeeds. A ping alone is insufficient proof of the forwarding path.</a:t>
            </a:r>
          </a:p>
        </p:txBody>
      </p:sp>
      <p:sp>
        <p:nvSpPr>
          <p:cNvPr id="4" name="Slide Number Placeholder 3"/>
          <p:cNvSpPr>
            <a:spLocks noGrp="1"/>
          </p:cNvSpPr>
          <p:nvPr>
            <p:ph type="sldNum" sz="quarter" idx="5"/>
          </p:nvPr>
        </p:nvSpPr>
        <p:spPr/>
        <p:txBody>
          <a:bodyPr/>
          <a:lstStyle/>
          <a:p>
            <a:fld id="{3E5111AD-F453-4283-A1E4-118D7607AFC7}" type="slidenum">
              <a:rPr lang="en-US" smtClean="0"/>
              <a:t>2</a:t>
            </a:fld>
            <a:endParaRPr lang="en-US"/>
          </a:p>
        </p:txBody>
      </p:sp>
    </p:spTree>
    <p:extLst>
      <p:ext uri="{BB962C8B-B14F-4D97-AF65-F5344CB8AC3E}">
        <p14:creationId xmlns:p14="http://schemas.microsoft.com/office/powerpoint/2010/main" val="9546808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supplied image illustrates private endpoints, multiple appliance instances, on-premises connectivity, NAT Gateway, and compute spokes. These are conceptual extension scenarios, not resources deployed by this lab. Do not interpret the image's Tbps callout as this lab's capacity: this Terraform config requests one 10-Gbps appliance. Official overview: https://learn.microsoft.com/en-us/azure/virtual-network/virtual-network-routing-appliance-overview</a:t>
            </a:r>
          </a:p>
        </p:txBody>
      </p:sp>
      <p:sp>
        <p:nvSpPr>
          <p:cNvPr id="4" name="Slide Number Placeholder 3"/>
          <p:cNvSpPr>
            <a:spLocks noGrp="1"/>
          </p:cNvSpPr>
          <p:nvPr>
            <p:ph type="sldNum" sz="quarter" idx="5"/>
          </p:nvPr>
        </p:nvSpPr>
        <p:spPr/>
        <p:txBody>
          <a:bodyPr/>
          <a:lstStyle/>
          <a:p>
            <a:fld id="{3E5111AD-F453-4283-A1E4-118D7607AFC7}" type="slidenum">
              <a:rPr lang="en-US" smtClean="0"/>
              <a:t>3</a:t>
            </a:fld>
            <a:endParaRPr lang="en-US"/>
          </a:p>
        </p:txBody>
      </p:sp>
    </p:spTree>
    <p:extLst>
      <p:ext uri="{BB962C8B-B14F-4D97-AF65-F5344CB8AC3E}">
        <p14:creationId xmlns:p14="http://schemas.microsoft.com/office/powerpoint/2010/main" val="24736088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boxes are an editable schematic of the actual Terraform topology. There are four peering resources, two per hub-spoke pair. Each VM has a dynamically assigned private address and no public IP. Bastion has a Standard public IP but is not the transit device.</a:t>
            </a:r>
          </a:p>
        </p:txBody>
      </p:sp>
      <p:sp>
        <p:nvSpPr>
          <p:cNvPr id="4" name="Slide Number Placeholder 3"/>
          <p:cNvSpPr>
            <a:spLocks noGrp="1"/>
          </p:cNvSpPr>
          <p:nvPr>
            <p:ph type="sldNum" sz="quarter" idx="5"/>
          </p:nvPr>
        </p:nvSpPr>
        <p:spPr/>
        <p:txBody>
          <a:bodyPr/>
          <a:lstStyle/>
          <a:p>
            <a:fld id="{3E5111AD-F453-4283-A1E4-118D7607AFC7}" type="slidenum">
              <a:rPr lang="en-US" smtClean="0"/>
              <a:t>4</a:t>
            </a:fld>
            <a:endParaRPr lang="en-US"/>
          </a:p>
        </p:txBody>
      </p:sp>
    </p:spTree>
    <p:extLst>
      <p:ext uri="{BB962C8B-B14F-4D97-AF65-F5344CB8AC3E}">
        <p14:creationId xmlns:p14="http://schemas.microsoft.com/office/powerpoint/2010/main" val="28268755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hub_vnet.tf, spoke1_vnet.tf, spoke2_vnet.tf, VM outputs, and hub_routing_appliance.tf. The Bastion subnet is /27 in the source, but current Bastion deployments require /26 or larger. Correct that configuration before deploying a new Bastion host. This deck does not change the Terraform.</a:t>
            </a:r>
          </a:p>
        </p:txBody>
      </p:sp>
      <p:sp>
        <p:nvSpPr>
          <p:cNvPr id="4" name="Slide Number Placeholder 3"/>
          <p:cNvSpPr>
            <a:spLocks noGrp="1"/>
          </p:cNvSpPr>
          <p:nvPr>
            <p:ph type="sldNum" sz="quarter" idx="5"/>
          </p:nvPr>
        </p:nvSpPr>
        <p:spPr/>
        <p:txBody>
          <a:bodyPr/>
          <a:lstStyle/>
          <a:p>
            <a:fld id="{3E5111AD-F453-4283-A1E4-118D7607AFC7}" type="slidenum">
              <a:rPr lang="en-US" smtClean="0"/>
              <a:t>5</a:t>
            </a:fld>
            <a:endParaRPr lang="en-US"/>
          </a:p>
        </p:txBody>
      </p:sp>
    </p:spTree>
    <p:extLst>
      <p:ext uri="{BB962C8B-B14F-4D97-AF65-F5344CB8AC3E}">
        <p14:creationId xmlns:p14="http://schemas.microsoft.com/office/powerpoint/2010/main" val="24193061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README describes router VMs, traffic filtering, and routing protocols generically. The actual code deploys a managed appliance through AzAPI, and no firewall policy or BGP configuration. The official service supports native network controls; do not describe this lab as implementing traffic inspection. Source: https://learn.microsoft.com/en-us/azure/virtual-network/virtual-network-routing-appliance-overview</a:t>
            </a:r>
          </a:p>
        </p:txBody>
      </p:sp>
      <p:sp>
        <p:nvSpPr>
          <p:cNvPr id="4" name="Slide Number Placeholder 3"/>
          <p:cNvSpPr>
            <a:spLocks noGrp="1"/>
          </p:cNvSpPr>
          <p:nvPr>
            <p:ph type="sldNum" sz="quarter" idx="5"/>
          </p:nvPr>
        </p:nvSpPr>
        <p:spPr/>
        <p:txBody>
          <a:bodyPr/>
          <a:lstStyle/>
          <a:p>
            <a:fld id="{3E5111AD-F453-4283-A1E4-118D7607AFC7}" type="slidenum">
              <a:rPr lang="en-US" smtClean="0"/>
              <a:t>6</a:t>
            </a:fld>
            <a:endParaRPr lang="en-US"/>
          </a:p>
        </p:txBody>
      </p:sp>
    </p:spTree>
    <p:extLst>
      <p:ext uri="{BB962C8B-B14F-4D97-AF65-F5344CB8AC3E}">
        <p14:creationId xmlns:p14="http://schemas.microsoft.com/office/powerpoint/2010/main" val="20292186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All filenames are relative to 240_vnet_routing_appliance. Terraform dependencies are driven by references; learners should not manually create resources in this order. variables.tf supplies the default prefix 240; the resource groups are rg-hub-240, rg-spoke1-240, and rg-spoke2-240.</a:t>
            </a:r>
          </a:p>
        </p:txBody>
      </p:sp>
      <p:sp>
        <p:nvSpPr>
          <p:cNvPr id="4" name="Slide Number Placeholder 3"/>
          <p:cNvSpPr>
            <a:spLocks noGrp="1"/>
          </p:cNvSpPr>
          <p:nvPr>
            <p:ph type="sldNum" sz="quarter" idx="5"/>
          </p:nvPr>
        </p:nvSpPr>
        <p:spPr/>
        <p:txBody>
          <a:bodyPr/>
          <a:lstStyle/>
          <a:p>
            <a:fld id="{3E5111AD-F453-4283-A1E4-118D7607AFC7}" type="slidenum">
              <a:rPr lang="en-US" smtClean="0"/>
              <a:t>7</a:t>
            </a:fld>
            <a:endParaRPr lang="en-US"/>
          </a:p>
        </p:txBody>
      </p:sp>
    </p:spTree>
    <p:extLst>
      <p:ext uri="{BB962C8B-B14F-4D97-AF65-F5344CB8AC3E}">
        <p14:creationId xmlns:p14="http://schemas.microsoft.com/office/powerpoint/2010/main" val="30273730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code panel is an excerpt of the resource body, not a standalone Terraform file. parent_id is the hub resource group; subnet name is VirtualNetworkApplianceSubnet. schema_validation_enabled is false in source, so a local plan does not establish that Azure will accept the API or region configuration. Bandwidth cannot be changed in place according to the service overview. References: https://learn.microsoft.com/en-us/azure/templates/microsoft.network/virtualnetworkappliances ; https://learn.microsoft.com/en-us/azure/virtual-network/virtual-network-routing-appliance-overview</a:t>
            </a:r>
          </a:p>
        </p:txBody>
      </p:sp>
      <p:sp>
        <p:nvSpPr>
          <p:cNvPr id="4" name="Slide Number Placeholder 3"/>
          <p:cNvSpPr>
            <a:spLocks noGrp="1"/>
          </p:cNvSpPr>
          <p:nvPr>
            <p:ph type="sldNum" sz="quarter" idx="5"/>
          </p:nvPr>
        </p:nvSpPr>
        <p:spPr/>
        <p:txBody>
          <a:bodyPr/>
          <a:lstStyle/>
          <a:p>
            <a:fld id="{3E5111AD-F453-4283-A1E4-118D7607AFC7}" type="slidenum">
              <a:rPr lang="en-US" smtClean="0"/>
              <a:t>8</a:t>
            </a:fld>
            <a:endParaRPr lang="en-US"/>
          </a:p>
        </p:txBody>
      </p:sp>
    </p:spTree>
    <p:extLst>
      <p:ext uri="{BB962C8B-B14F-4D97-AF65-F5344CB8AC3E}">
        <p14:creationId xmlns:p14="http://schemas.microsoft.com/office/powerpoint/2010/main" val="12362637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Code is a readable excerpt; the wrapped next-hop expression should remain one Terraform expression in actual code. See spoke1_route_table.tf and spoke2_route_table.tf. The broad /8 covers both spokes and other 10.x destinations, not all private ranges. More-specific local VNet or peering routes can take precedence. Disabling BGP propagation does not remove system routes. Routing reference: https://learn.microsoft.com/en-us/azure/virtual-network/virtual-networks-udr-overview</a:t>
            </a:r>
          </a:p>
        </p:txBody>
      </p:sp>
      <p:sp>
        <p:nvSpPr>
          <p:cNvPr id="4" name="Slide Number Placeholder 3"/>
          <p:cNvSpPr>
            <a:spLocks noGrp="1"/>
          </p:cNvSpPr>
          <p:nvPr>
            <p:ph type="sldNum" sz="quarter" idx="5"/>
          </p:nvPr>
        </p:nvSpPr>
        <p:spPr/>
        <p:txBody>
          <a:bodyPr/>
          <a:lstStyle/>
          <a:p>
            <a:fld id="{3E5111AD-F453-4283-A1E4-118D7607AFC7}" type="slidenum">
              <a:rPr lang="en-US" smtClean="0"/>
              <a:t>9</a:t>
            </a:fld>
            <a:endParaRPr lang="en-US"/>
          </a:p>
        </p:txBody>
      </p:sp>
    </p:spTree>
    <p:extLst>
      <p:ext uri="{BB962C8B-B14F-4D97-AF65-F5344CB8AC3E}">
        <p14:creationId xmlns:p14="http://schemas.microsoft.com/office/powerpoint/2010/main" val="42091323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claim that all traffic enters the appliance. A same-VNet destination has a more-specific system route than 10.0.0.0/8. Hub destinations in 172.16.0.0/12 are outside the configured UDR and use peering routes. Inspect the effective routes for the remote workload IP in each direction. Reference: https://learn.microsoft.com/en-us/azure/virtual-network/virtual-networks-udr-overview</a:t>
            </a:r>
          </a:p>
        </p:txBody>
      </p:sp>
      <p:sp>
        <p:nvSpPr>
          <p:cNvPr id="4" name="Slide Number Placeholder 3"/>
          <p:cNvSpPr>
            <a:spLocks noGrp="1"/>
          </p:cNvSpPr>
          <p:nvPr>
            <p:ph type="sldNum" sz="quarter" idx="5"/>
          </p:nvPr>
        </p:nvSpPr>
        <p:spPr/>
        <p:txBody>
          <a:bodyPr/>
          <a:lstStyle/>
          <a:p>
            <a:fld id="{3E5111AD-F453-4283-A1E4-118D7607AFC7}" type="slidenum">
              <a:rPr lang="en-US" smtClean="0"/>
              <a:t>10</a:t>
            </a:fld>
            <a:endParaRPr lang="en-US"/>
          </a:p>
        </p:txBody>
      </p:sp>
    </p:spTree>
    <p:extLst>
      <p:ext uri="{BB962C8B-B14F-4D97-AF65-F5344CB8AC3E}">
        <p14:creationId xmlns:p14="http://schemas.microsoft.com/office/powerpoint/2010/main" val="7674408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Peering is not transitive by itself; the managed appliance and UDRs provide transit. Workload NIC ip_forwarding_enabled=false is appropriate because these VMs are endpoints. Bastion Basic has tunneling_enabled=false and ip_connect_enabled=false in this lab; use the portal VM resource connection experience, not Bastion native-client tunneling.</a:t>
            </a:r>
          </a:p>
        </p:txBody>
      </p:sp>
      <p:sp>
        <p:nvSpPr>
          <p:cNvPr id="4" name="Slide Number Placeholder 3"/>
          <p:cNvSpPr>
            <a:spLocks noGrp="1"/>
          </p:cNvSpPr>
          <p:nvPr>
            <p:ph type="sldNum" sz="quarter" idx="5"/>
          </p:nvPr>
        </p:nvSpPr>
        <p:spPr/>
        <p:txBody>
          <a:bodyPr/>
          <a:lstStyle/>
          <a:p>
            <a:fld id="{3E5111AD-F453-4283-A1E4-118D7607AFC7}" type="slidenum">
              <a:rPr lang="en-US" smtClean="0"/>
              <a:t>11</a:t>
            </a:fld>
            <a:endParaRPr lang="en-US"/>
          </a:p>
        </p:txBody>
      </p:sp>
    </p:spTree>
    <p:extLst>
      <p:ext uri="{BB962C8B-B14F-4D97-AF65-F5344CB8AC3E}">
        <p14:creationId xmlns:p14="http://schemas.microsoft.com/office/powerpoint/2010/main" val="12929936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reproduce the hard-coded password from the VM files. Use approved secret handling or SSH keys before reuse; state may still contain sensitive values. The bootstrap file is ../scripts/install-traceroute.sh, so preserve the lab folder relationship. No NAT Gateway or explicit VM outbound configuration exists here; do not assume apt will reach Ubuntu repositories. Spot VMs may be evicted. Check provider lock file behavior with terraform init; do not upgrade providers blindly. Bastion sizing: https://learn.microsoft.com/en-us/azure/bastion/configuration-settings</a:t>
            </a:r>
          </a:p>
        </p:txBody>
      </p:sp>
      <p:sp>
        <p:nvSpPr>
          <p:cNvPr id="4" name="Slide Number Placeholder 3"/>
          <p:cNvSpPr>
            <a:spLocks noGrp="1"/>
          </p:cNvSpPr>
          <p:nvPr>
            <p:ph type="sldNum" sz="quarter" idx="5"/>
          </p:nvPr>
        </p:nvSpPr>
        <p:spPr/>
        <p:txBody>
          <a:bodyPr/>
          <a:lstStyle/>
          <a:p>
            <a:fld id="{3E5111AD-F453-4283-A1E4-118D7607AFC7}" type="slidenum">
              <a:rPr lang="en-US" smtClean="0"/>
              <a:t>12</a:t>
            </a:fld>
            <a:endParaRPr lang="en-US"/>
          </a:p>
        </p:txBody>
      </p:sp>
    </p:spTree>
    <p:extLst>
      <p:ext uri="{BB962C8B-B14F-4D97-AF65-F5344CB8AC3E}">
        <p14:creationId xmlns:p14="http://schemas.microsoft.com/office/powerpoint/2010/main" val="32927833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are learner instructions, not commands executed while creating this presentation. Complete preflight corrections first. Inspect the plan for intended resource groups and avoid reusing stale tfplan or state without checking ownership. Terraform state and saved plans can include credentials; protect them and do not publish them. Check provisioning status of the appliance, both VMs, peerings, and Bastion before testing.</a:t>
            </a:r>
          </a:p>
        </p:txBody>
      </p:sp>
      <p:sp>
        <p:nvSpPr>
          <p:cNvPr id="4" name="Slide Number Placeholder 3"/>
          <p:cNvSpPr>
            <a:spLocks noGrp="1"/>
          </p:cNvSpPr>
          <p:nvPr>
            <p:ph type="sldNum" sz="quarter" idx="5"/>
          </p:nvPr>
        </p:nvSpPr>
        <p:spPr/>
        <p:txBody>
          <a:bodyPr/>
          <a:lstStyle/>
          <a:p>
            <a:fld id="{3E5111AD-F453-4283-A1E4-118D7607AFC7}" type="slidenum">
              <a:rPr lang="en-US" smtClean="0"/>
              <a:t>13</a:t>
            </a:fld>
            <a:endParaRPr lang="en-US"/>
          </a:p>
        </p:txBody>
      </p:sp>
    </p:spTree>
    <p:extLst>
      <p:ext uri="{BB962C8B-B14F-4D97-AF65-F5344CB8AC3E}">
        <p14:creationId xmlns:p14="http://schemas.microsoft.com/office/powerpoint/2010/main" val="27878444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promise a visible appliance hop; managed forwarding or ICMP filtering may suppress TTL-exceeded responses. If traceroute is not installed, inspect cloud-init and outbound connectivity before relying on the bootstrap script. A successful ping proves reachability but not the exact next-hop selection; inspect effective routes on the next slide. A TCP test needs a real listening service and appropriate policy, not merely an arbitrary port.</a:t>
            </a:r>
          </a:p>
        </p:txBody>
      </p:sp>
      <p:sp>
        <p:nvSpPr>
          <p:cNvPr id="4" name="Slide Number Placeholder 3"/>
          <p:cNvSpPr>
            <a:spLocks noGrp="1"/>
          </p:cNvSpPr>
          <p:nvPr>
            <p:ph type="sldNum" sz="quarter" idx="5"/>
          </p:nvPr>
        </p:nvSpPr>
        <p:spPr/>
        <p:txBody>
          <a:bodyPr/>
          <a:lstStyle/>
          <a:p>
            <a:fld id="{3E5111AD-F453-4283-A1E4-118D7607AFC7}" type="slidenum">
              <a:rPr lang="en-US" smtClean="0"/>
              <a:t>14</a:t>
            </a:fld>
            <a:endParaRPr lang="en-US"/>
          </a:p>
        </p:txBody>
      </p:sp>
    </p:spTree>
    <p:extLst>
      <p:ext uri="{BB962C8B-B14F-4D97-AF65-F5344CB8AC3E}">
        <p14:creationId xmlns:p14="http://schemas.microsoft.com/office/powerpoint/2010/main" val="40446146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Resource-group names assume the default prefix=240. Expected evidence is a User route, Active state, next hop VirtualAppliance, and the actual appliance private IP for 10.0.0.0/8. Inspect the route chosen for each remote VM destination rather than just the presence of the UDR. If a VM is stopped or provisioning is incomplete, effective-route inspection may not provide the expected data. No actual Azure validation was performed to create this deck.</a:t>
            </a:r>
          </a:p>
        </p:txBody>
      </p:sp>
      <p:sp>
        <p:nvSpPr>
          <p:cNvPr id="4" name="Slide Number Placeholder 3"/>
          <p:cNvSpPr>
            <a:spLocks noGrp="1"/>
          </p:cNvSpPr>
          <p:nvPr>
            <p:ph type="sldNum" sz="quarter" idx="5"/>
          </p:nvPr>
        </p:nvSpPr>
        <p:spPr/>
        <p:txBody>
          <a:bodyPr/>
          <a:lstStyle/>
          <a:p>
            <a:fld id="{3E5111AD-F453-4283-A1E4-118D7607AFC7}" type="slidenum">
              <a:rPr lang="en-US" smtClean="0"/>
              <a:t>15</a:t>
            </a:fld>
            <a:endParaRPr lang="en-US"/>
          </a:p>
        </p:txBody>
      </p:sp>
    </p:spTree>
    <p:extLst>
      <p:ext uri="{BB962C8B-B14F-4D97-AF65-F5344CB8AC3E}">
        <p14:creationId xmlns:p14="http://schemas.microsoft.com/office/powerpoint/2010/main" val="42365949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Troubleshooting order: provisioning, peering, route table association, selected effective route, then security controls and guest services. The lab defines no NSG resources, but externally applied policies and guest firewalls can affect tests. Do not enable forwarding on the workload NICs as a generic fix. Capture exact platform errors rather than suppressing them.</a:t>
            </a:r>
          </a:p>
        </p:txBody>
      </p:sp>
      <p:sp>
        <p:nvSpPr>
          <p:cNvPr id="4" name="Slide Number Placeholder 3"/>
          <p:cNvSpPr>
            <a:spLocks noGrp="1"/>
          </p:cNvSpPr>
          <p:nvPr>
            <p:ph type="sldNum" sz="quarter" idx="5"/>
          </p:nvPr>
        </p:nvSpPr>
        <p:spPr/>
        <p:txBody>
          <a:bodyPr/>
          <a:lstStyle/>
          <a:p>
            <a:fld id="{3E5111AD-F453-4283-A1E4-118D7607AFC7}" type="slidenum">
              <a:rPr lang="en-US" smtClean="0"/>
              <a:t>16</a:t>
            </a:fld>
            <a:endParaRPr lang="en-US"/>
          </a:p>
        </p:txBody>
      </p:sp>
    </p:spTree>
    <p:extLst>
      <p:ext uri="{BB962C8B-B14F-4D97-AF65-F5344CB8AC3E}">
        <p14:creationId xmlns:p14="http://schemas.microsoft.com/office/powerpoint/2010/main" val="36838491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official overview lists 10, 50, 100, and 200-Gbps tiers; bandwidth changes require recreation. This lab requests only 10 Gbps. Actual throughput depends on endpoints and the whole path; two D2ads_v7 VMs do not prove the appliance's configured capacity. No monitoring or alert resources are created by Terraform. Service limitations and regional availability can evolve: https://learn.microsoft.com/en-us/azure/virtual-network/virtual-network-routing-appliance-overview</a:t>
            </a:r>
          </a:p>
        </p:txBody>
      </p:sp>
      <p:sp>
        <p:nvSpPr>
          <p:cNvPr id="4" name="Slide Number Placeholder 3"/>
          <p:cNvSpPr>
            <a:spLocks noGrp="1"/>
          </p:cNvSpPr>
          <p:nvPr>
            <p:ph type="sldNum" sz="quarter" idx="5"/>
          </p:nvPr>
        </p:nvSpPr>
        <p:spPr/>
        <p:txBody>
          <a:bodyPr/>
          <a:lstStyle/>
          <a:p>
            <a:fld id="{3E5111AD-F453-4283-A1E4-118D7607AFC7}" type="slidenum">
              <a:rPr lang="en-US" smtClean="0"/>
              <a:t>17</a:t>
            </a:fld>
            <a:endParaRPr lang="en-US"/>
          </a:p>
        </p:txBody>
      </p:sp>
    </p:spTree>
    <p:extLst>
      <p:ext uri="{BB962C8B-B14F-4D97-AF65-F5344CB8AC3E}">
        <p14:creationId xmlns:p14="http://schemas.microsoft.com/office/powerpoint/2010/main" val="14004581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exercise is optional, disruptive, and only for an isolated lab. If a route association is changed in the portal, restore it using the reviewed Terraform configuration and verify the refreshed plan. Observe both directions; connection failures may differ by protocol and flow direction. Cleanup: verify rg-hub-240, rg-spoke1-240, and rg-spoke2-240 no longer contain intended lab resources. Never run destroy against shared or unverified state. The AzureRM provider allows deletion of resource groups containing resources in this source configuration: inspect for unrelated resources first.</a:t>
            </a:r>
          </a:p>
        </p:txBody>
      </p:sp>
      <p:sp>
        <p:nvSpPr>
          <p:cNvPr id="4" name="Slide Number Placeholder 3"/>
          <p:cNvSpPr>
            <a:spLocks noGrp="1"/>
          </p:cNvSpPr>
          <p:nvPr>
            <p:ph type="sldNum" sz="quarter" idx="5"/>
          </p:nvPr>
        </p:nvSpPr>
        <p:spPr/>
        <p:txBody>
          <a:bodyPr/>
          <a:lstStyle/>
          <a:p>
            <a:fld id="{3E5111AD-F453-4283-A1E4-118D7607AFC7}" type="slidenum">
              <a:rPr lang="en-US" smtClean="0"/>
              <a:t>18</a:t>
            </a:fld>
            <a:endParaRPr lang="en-US"/>
          </a:p>
        </p:txBody>
      </p:sp>
    </p:spTree>
    <p:extLst>
      <p:ext uri="{BB962C8B-B14F-4D97-AF65-F5344CB8AC3E}">
        <p14:creationId xmlns:p14="http://schemas.microsoft.com/office/powerpoint/2010/main" val="839199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Review questions: Why is peering alone insufficient? Why does the UDR not steer hub or internet traffic? What happens if a more-specific remote-prefix route is added? Why does a workload NIC not need IP forwarding? Which parts of the supplied architecture image are absent from this deployment?</a:t>
            </a:r>
          </a:p>
        </p:txBody>
      </p:sp>
      <p:sp>
        <p:nvSpPr>
          <p:cNvPr id="4" name="Slide Number Placeholder 3"/>
          <p:cNvSpPr>
            <a:spLocks noGrp="1"/>
          </p:cNvSpPr>
          <p:nvPr>
            <p:ph type="sldNum" sz="quarter" idx="5"/>
          </p:nvPr>
        </p:nvSpPr>
        <p:spPr/>
        <p:txBody>
          <a:bodyPr/>
          <a:lstStyle/>
          <a:p>
            <a:fld id="{3E5111AD-F453-4283-A1E4-118D7607AFC7}" type="slidenum">
              <a:rPr lang="en-US" smtClean="0"/>
              <a:t>19</a:t>
            </a:fld>
            <a:endParaRPr lang="en-US"/>
          </a:p>
        </p:txBody>
      </p:sp>
    </p:spTree>
    <p:extLst>
      <p:ext uri="{BB962C8B-B14F-4D97-AF65-F5344CB8AC3E}">
        <p14:creationId xmlns:p14="http://schemas.microsoft.com/office/powerpoint/2010/main" val="26929320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Links on this slide are clickable. Source of truth: Terraform in 240_vnet_routing_appliance. README prose is generic and does not accurately describe the managed-resource implementation. Important unmodified source issues: Bastion /27 sizing, embedded VM credentials, bootstrap depending on unspecified internet egress, and VM SKU/Spot capacity prerequisites. Broad conceptual features in the supplied image are not implemented in this lab. No credentials or state contents are included in this deck.
https://learn.microsoft.com/en-us/azure/virtual-network/virtual-network-routing-appliance-overview
https://learn.microsoft.com/en-us/azure/templates/microsoft.network/virtualnetworkappliances
https://learn.microsoft.com/en-us/azure/virtual-network/virtual-networks-udr-overview
https://learn.microsoft.com/en-us/azure/bastion/configuration-settings</a:t>
            </a:r>
          </a:p>
        </p:txBody>
      </p:sp>
      <p:sp>
        <p:nvSpPr>
          <p:cNvPr id="4" name="Slide Number Placeholder 3"/>
          <p:cNvSpPr>
            <a:spLocks noGrp="1"/>
          </p:cNvSpPr>
          <p:nvPr>
            <p:ph type="sldNum" sz="quarter" idx="5"/>
          </p:nvPr>
        </p:nvSpPr>
        <p:spPr/>
        <p:txBody>
          <a:bodyPr/>
          <a:lstStyle/>
          <a:p>
            <a:fld id="{3E5111AD-F453-4283-A1E4-118D7607AFC7}" type="slidenum">
              <a:rPr lang="en-US" smtClean="0"/>
              <a:t>20</a:t>
            </a:fld>
            <a:endParaRPr lang="en-US"/>
          </a:p>
        </p:txBody>
      </p:sp>
    </p:spTree>
    <p:extLst>
      <p:ext uri="{BB962C8B-B14F-4D97-AF65-F5344CB8AC3E}">
        <p14:creationId xmlns:p14="http://schemas.microsoft.com/office/powerpoint/2010/main" val="13032751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DA88A-3FD2-2B93-CBB6-2A3238629C8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622C7B7-5E5B-C66D-107F-F85BD6BDB2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339BF0D-965F-CA17-0AB2-0DA26D1C500A}"/>
              </a:ext>
            </a:extLst>
          </p:cNvPr>
          <p:cNvSpPr>
            <a:spLocks noGrp="1"/>
          </p:cNvSpPr>
          <p:nvPr>
            <p:ph type="dt" sz="half" idx="10"/>
          </p:nvPr>
        </p:nvSpPr>
        <p:spPr/>
        <p:txBody>
          <a:bodyPr/>
          <a:lstStyle/>
          <a:p>
            <a:fld id="{91CBDD81-CB4F-4739-B3AF-3C46A55C4F11}" type="datetimeFigureOut">
              <a:rPr lang="en-US" smtClean="0"/>
              <a:t>10/24/2026</a:t>
            </a:fld>
            <a:endParaRPr lang="en-US"/>
          </a:p>
        </p:txBody>
      </p:sp>
      <p:sp>
        <p:nvSpPr>
          <p:cNvPr id="5" name="Footer Placeholder 4">
            <a:extLst>
              <a:ext uri="{FF2B5EF4-FFF2-40B4-BE49-F238E27FC236}">
                <a16:creationId xmlns:a16="http://schemas.microsoft.com/office/drawing/2014/main" id="{B719865C-1780-BD74-72FD-DE7E80E06E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3E5D03-59B1-9923-381B-2577F27CD73D}"/>
              </a:ext>
            </a:extLst>
          </p:cNvPr>
          <p:cNvSpPr>
            <a:spLocks noGrp="1"/>
          </p:cNvSpPr>
          <p:nvPr>
            <p:ph type="sldNum" sz="quarter" idx="12"/>
          </p:nvPr>
        </p:nvSpPr>
        <p:spPr/>
        <p:txBody>
          <a:bodyPr/>
          <a:lstStyle/>
          <a:p>
            <a:fld id="{DB9C0B62-C646-4F0A-BEF2-9806013BFA3D}" type="slidenum">
              <a:rPr lang="en-US" smtClean="0"/>
              <a:t>‹#›</a:t>
            </a:fld>
            <a:endParaRPr lang="en-US"/>
          </a:p>
        </p:txBody>
      </p:sp>
    </p:spTree>
    <p:extLst>
      <p:ext uri="{BB962C8B-B14F-4D97-AF65-F5344CB8AC3E}">
        <p14:creationId xmlns:p14="http://schemas.microsoft.com/office/powerpoint/2010/main" val="22409376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D3C14-B6E1-3FFA-1610-61C825F753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B8785E-6599-4B00-0BF6-8CD6EDDB4A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10E151-0497-F39A-8F8F-FA9520B711DF}"/>
              </a:ext>
            </a:extLst>
          </p:cNvPr>
          <p:cNvSpPr>
            <a:spLocks noGrp="1"/>
          </p:cNvSpPr>
          <p:nvPr>
            <p:ph type="dt" sz="half" idx="10"/>
          </p:nvPr>
        </p:nvSpPr>
        <p:spPr/>
        <p:txBody>
          <a:bodyPr/>
          <a:lstStyle/>
          <a:p>
            <a:fld id="{91CBDD81-CB4F-4739-B3AF-3C46A55C4F11}" type="datetimeFigureOut">
              <a:rPr lang="en-US" smtClean="0"/>
              <a:t>10/24/2026</a:t>
            </a:fld>
            <a:endParaRPr lang="en-US"/>
          </a:p>
        </p:txBody>
      </p:sp>
      <p:sp>
        <p:nvSpPr>
          <p:cNvPr id="5" name="Footer Placeholder 4">
            <a:extLst>
              <a:ext uri="{FF2B5EF4-FFF2-40B4-BE49-F238E27FC236}">
                <a16:creationId xmlns:a16="http://schemas.microsoft.com/office/drawing/2014/main" id="{994BC2B6-61BE-8CAB-BE2B-9BEE510AAA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16EA2D-4B39-322D-DA9D-24C539296967}"/>
              </a:ext>
            </a:extLst>
          </p:cNvPr>
          <p:cNvSpPr>
            <a:spLocks noGrp="1"/>
          </p:cNvSpPr>
          <p:nvPr>
            <p:ph type="sldNum" sz="quarter" idx="12"/>
          </p:nvPr>
        </p:nvSpPr>
        <p:spPr/>
        <p:txBody>
          <a:bodyPr/>
          <a:lstStyle/>
          <a:p>
            <a:fld id="{DB9C0B62-C646-4F0A-BEF2-9806013BFA3D}" type="slidenum">
              <a:rPr lang="en-US" smtClean="0"/>
              <a:t>‹#›</a:t>
            </a:fld>
            <a:endParaRPr lang="en-US"/>
          </a:p>
        </p:txBody>
      </p:sp>
    </p:spTree>
    <p:extLst>
      <p:ext uri="{BB962C8B-B14F-4D97-AF65-F5344CB8AC3E}">
        <p14:creationId xmlns:p14="http://schemas.microsoft.com/office/powerpoint/2010/main" val="425793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73100-D13B-F5F5-3D3A-921D1C08B59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B92371A-D513-7295-0A17-A74E6BF180F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45F506-AA5C-E1EC-7274-6CDAC8BE276C}"/>
              </a:ext>
            </a:extLst>
          </p:cNvPr>
          <p:cNvSpPr>
            <a:spLocks noGrp="1"/>
          </p:cNvSpPr>
          <p:nvPr>
            <p:ph type="dt" sz="half" idx="10"/>
          </p:nvPr>
        </p:nvSpPr>
        <p:spPr/>
        <p:txBody>
          <a:bodyPr/>
          <a:lstStyle/>
          <a:p>
            <a:fld id="{91CBDD81-CB4F-4739-B3AF-3C46A55C4F11}" type="datetimeFigureOut">
              <a:rPr lang="en-US" smtClean="0"/>
              <a:t>10/24/2026</a:t>
            </a:fld>
            <a:endParaRPr lang="en-US"/>
          </a:p>
        </p:txBody>
      </p:sp>
      <p:sp>
        <p:nvSpPr>
          <p:cNvPr id="5" name="Footer Placeholder 4">
            <a:extLst>
              <a:ext uri="{FF2B5EF4-FFF2-40B4-BE49-F238E27FC236}">
                <a16:creationId xmlns:a16="http://schemas.microsoft.com/office/drawing/2014/main" id="{2C241E0B-E5D2-5F55-38FF-13424F8A89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358034-BA84-C5C1-C1EF-644652266737}"/>
              </a:ext>
            </a:extLst>
          </p:cNvPr>
          <p:cNvSpPr>
            <a:spLocks noGrp="1"/>
          </p:cNvSpPr>
          <p:nvPr>
            <p:ph type="sldNum" sz="quarter" idx="12"/>
          </p:nvPr>
        </p:nvSpPr>
        <p:spPr/>
        <p:txBody>
          <a:bodyPr/>
          <a:lstStyle/>
          <a:p>
            <a:fld id="{DB9C0B62-C646-4F0A-BEF2-9806013BFA3D}" type="slidenum">
              <a:rPr lang="en-US" smtClean="0"/>
              <a:t>‹#›</a:t>
            </a:fld>
            <a:endParaRPr lang="en-US"/>
          </a:p>
        </p:txBody>
      </p:sp>
    </p:spTree>
    <p:extLst>
      <p:ext uri="{BB962C8B-B14F-4D97-AF65-F5344CB8AC3E}">
        <p14:creationId xmlns:p14="http://schemas.microsoft.com/office/powerpoint/2010/main" val="11857404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42322-1124-1A1C-B83F-F9890E67D2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201EC49-9E1D-3544-BA14-A8656AF5A1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E353F81-529F-6981-0B1C-9B5CC5D8D8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A40FA4E-1074-D39F-1E5D-A685AEE4EA97}"/>
              </a:ext>
            </a:extLst>
          </p:cNvPr>
          <p:cNvSpPr>
            <a:spLocks noGrp="1"/>
          </p:cNvSpPr>
          <p:nvPr>
            <p:ph type="dt" sz="half" idx="10"/>
          </p:nvPr>
        </p:nvSpPr>
        <p:spPr/>
        <p:txBody>
          <a:bodyPr/>
          <a:lstStyle/>
          <a:p>
            <a:fld id="{91CBDD81-CB4F-4739-B3AF-3C46A55C4F11}" type="datetimeFigureOut">
              <a:rPr lang="en-US" smtClean="0"/>
              <a:t>10/24/2026</a:t>
            </a:fld>
            <a:endParaRPr lang="en-US"/>
          </a:p>
        </p:txBody>
      </p:sp>
      <p:sp>
        <p:nvSpPr>
          <p:cNvPr id="6" name="Footer Placeholder 5">
            <a:extLst>
              <a:ext uri="{FF2B5EF4-FFF2-40B4-BE49-F238E27FC236}">
                <a16:creationId xmlns:a16="http://schemas.microsoft.com/office/drawing/2014/main" id="{6336E576-9837-9504-FA72-3E5F5D1F4C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0AF4DC-221E-708F-4375-92272A96E9E5}"/>
              </a:ext>
            </a:extLst>
          </p:cNvPr>
          <p:cNvSpPr>
            <a:spLocks noGrp="1"/>
          </p:cNvSpPr>
          <p:nvPr>
            <p:ph type="sldNum" sz="quarter" idx="12"/>
          </p:nvPr>
        </p:nvSpPr>
        <p:spPr/>
        <p:txBody>
          <a:bodyPr/>
          <a:lstStyle/>
          <a:p>
            <a:fld id="{DB9C0B62-C646-4F0A-BEF2-9806013BFA3D}" type="slidenum">
              <a:rPr lang="en-US" smtClean="0"/>
              <a:t>‹#›</a:t>
            </a:fld>
            <a:endParaRPr lang="en-US"/>
          </a:p>
        </p:txBody>
      </p:sp>
    </p:spTree>
    <p:extLst>
      <p:ext uri="{BB962C8B-B14F-4D97-AF65-F5344CB8AC3E}">
        <p14:creationId xmlns:p14="http://schemas.microsoft.com/office/powerpoint/2010/main" val="2732876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25CFA-5C53-244B-CE35-EB0CA1A05DD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89D5797-FB2C-0C1B-EB2B-1ED3A8AC83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4041FB-3CEF-583D-9A4D-2890A6CFCC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39F98CE-D1A4-CF21-EE89-C5B44C0E0C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E6EA83B-3864-3B35-027F-B2513FD3070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A38C4A1-9D1F-B370-804D-58F4F0842B2F}"/>
              </a:ext>
            </a:extLst>
          </p:cNvPr>
          <p:cNvSpPr>
            <a:spLocks noGrp="1"/>
          </p:cNvSpPr>
          <p:nvPr>
            <p:ph type="dt" sz="half" idx="10"/>
          </p:nvPr>
        </p:nvSpPr>
        <p:spPr/>
        <p:txBody>
          <a:bodyPr/>
          <a:lstStyle/>
          <a:p>
            <a:fld id="{91CBDD81-CB4F-4739-B3AF-3C46A55C4F11}" type="datetimeFigureOut">
              <a:rPr lang="en-US" smtClean="0"/>
              <a:t>10/24/2026</a:t>
            </a:fld>
            <a:endParaRPr lang="en-US"/>
          </a:p>
        </p:txBody>
      </p:sp>
      <p:sp>
        <p:nvSpPr>
          <p:cNvPr id="8" name="Footer Placeholder 7">
            <a:extLst>
              <a:ext uri="{FF2B5EF4-FFF2-40B4-BE49-F238E27FC236}">
                <a16:creationId xmlns:a16="http://schemas.microsoft.com/office/drawing/2014/main" id="{C2FBF2E1-6F51-2C13-BDEA-A0172040DBA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9BFB846-B73B-44B6-6718-F2B5709760B6}"/>
              </a:ext>
            </a:extLst>
          </p:cNvPr>
          <p:cNvSpPr>
            <a:spLocks noGrp="1"/>
          </p:cNvSpPr>
          <p:nvPr>
            <p:ph type="sldNum" sz="quarter" idx="12"/>
          </p:nvPr>
        </p:nvSpPr>
        <p:spPr/>
        <p:txBody>
          <a:bodyPr/>
          <a:lstStyle/>
          <a:p>
            <a:fld id="{DB9C0B62-C646-4F0A-BEF2-9806013BFA3D}" type="slidenum">
              <a:rPr lang="en-US" smtClean="0"/>
              <a:t>‹#›</a:t>
            </a:fld>
            <a:endParaRPr lang="en-US"/>
          </a:p>
        </p:txBody>
      </p:sp>
    </p:spTree>
    <p:extLst>
      <p:ext uri="{BB962C8B-B14F-4D97-AF65-F5344CB8AC3E}">
        <p14:creationId xmlns:p14="http://schemas.microsoft.com/office/powerpoint/2010/main" val="25119878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10288-0534-F179-060F-59FCDA92AC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BE5A89A-2974-36EE-3E9F-9DCB4B2B3C8D}"/>
              </a:ext>
            </a:extLst>
          </p:cNvPr>
          <p:cNvSpPr>
            <a:spLocks noGrp="1"/>
          </p:cNvSpPr>
          <p:nvPr>
            <p:ph type="dt" sz="half" idx="10"/>
          </p:nvPr>
        </p:nvSpPr>
        <p:spPr/>
        <p:txBody>
          <a:bodyPr/>
          <a:lstStyle/>
          <a:p>
            <a:fld id="{91CBDD81-CB4F-4739-B3AF-3C46A55C4F11}" type="datetimeFigureOut">
              <a:rPr lang="en-US" smtClean="0"/>
              <a:t>10/24/2026</a:t>
            </a:fld>
            <a:endParaRPr lang="en-US"/>
          </a:p>
        </p:txBody>
      </p:sp>
      <p:sp>
        <p:nvSpPr>
          <p:cNvPr id="4" name="Footer Placeholder 3">
            <a:extLst>
              <a:ext uri="{FF2B5EF4-FFF2-40B4-BE49-F238E27FC236}">
                <a16:creationId xmlns:a16="http://schemas.microsoft.com/office/drawing/2014/main" id="{4743A41C-3CDC-1A01-6203-EB9124BCD73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A5AA45C-6783-A5CC-746D-7C613E1C4A65}"/>
              </a:ext>
            </a:extLst>
          </p:cNvPr>
          <p:cNvSpPr>
            <a:spLocks noGrp="1"/>
          </p:cNvSpPr>
          <p:nvPr>
            <p:ph type="sldNum" sz="quarter" idx="12"/>
          </p:nvPr>
        </p:nvSpPr>
        <p:spPr/>
        <p:txBody>
          <a:bodyPr/>
          <a:lstStyle/>
          <a:p>
            <a:fld id="{DB9C0B62-C646-4F0A-BEF2-9806013BFA3D}" type="slidenum">
              <a:rPr lang="en-US" smtClean="0"/>
              <a:t>‹#›</a:t>
            </a:fld>
            <a:endParaRPr lang="en-US"/>
          </a:p>
        </p:txBody>
      </p:sp>
    </p:spTree>
    <p:extLst>
      <p:ext uri="{BB962C8B-B14F-4D97-AF65-F5344CB8AC3E}">
        <p14:creationId xmlns:p14="http://schemas.microsoft.com/office/powerpoint/2010/main" val="11736609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BD2228-A5FA-A1B7-FF85-A3A822B81B35}"/>
              </a:ext>
            </a:extLst>
          </p:cNvPr>
          <p:cNvSpPr>
            <a:spLocks noGrp="1"/>
          </p:cNvSpPr>
          <p:nvPr>
            <p:ph type="dt" sz="half" idx="10"/>
          </p:nvPr>
        </p:nvSpPr>
        <p:spPr/>
        <p:txBody>
          <a:bodyPr/>
          <a:lstStyle/>
          <a:p>
            <a:fld id="{91CBDD81-CB4F-4739-B3AF-3C46A55C4F11}" type="datetimeFigureOut">
              <a:rPr lang="en-US" smtClean="0"/>
              <a:t>10/24/2026</a:t>
            </a:fld>
            <a:endParaRPr lang="en-US"/>
          </a:p>
        </p:txBody>
      </p:sp>
      <p:sp>
        <p:nvSpPr>
          <p:cNvPr id="3" name="Footer Placeholder 2">
            <a:extLst>
              <a:ext uri="{FF2B5EF4-FFF2-40B4-BE49-F238E27FC236}">
                <a16:creationId xmlns:a16="http://schemas.microsoft.com/office/drawing/2014/main" id="{7E46D670-54F1-01CF-86D9-45D9E0012A0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E8D2D71-7909-6D34-1065-465B1B0F69C2}"/>
              </a:ext>
            </a:extLst>
          </p:cNvPr>
          <p:cNvSpPr>
            <a:spLocks noGrp="1"/>
          </p:cNvSpPr>
          <p:nvPr>
            <p:ph type="sldNum" sz="quarter" idx="12"/>
          </p:nvPr>
        </p:nvSpPr>
        <p:spPr/>
        <p:txBody>
          <a:bodyPr/>
          <a:lstStyle/>
          <a:p>
            <a:fld id="{DB9C0B62-C646-4F0A-BEF2-9806013BFA3D}" type="slidenum">
              <a:rPr lang="en-US" smtClean="0"/>
              <a:t>‹#›</a:t>
            </a:fld>
            <a:endParaRPr lang="en-US"/>
          </a:p>
        </p:txBody>
      </p:sp>
    </p:spTree>
    <p:extLst>
      <p:ext uri="{BB962C8B-B14F-4D97-AF65-F5344CB8AC3E}">
        <p14:creationId xmlns:p14="http://schemas.microsoft.com/office/powerpoint/2010/main" val="2077749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2107-54FF-9F7E-479F-FD6C6F8617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C8DE50E-7DDF-C7D4-9A64-6F2BF74C27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E27D0AF-EE28-93DA-426B-C5450291CE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586FD8-533C-443B-279D-B8E5DCD20EFA}"/>
              </a:ext>
            </a:extLst>
          </p:cNvPr>
          <p:cNvSpPr>
            <a:spLocks noGrp="1"/>
          </p:cNvSpPr>
          <p:nvPr>
            <p:ph type="dt" sz="half" idx="10"/>
          </p:nvPr>
        </p:nvSpPr>
        <p:spPr/>
        <p:txBody>
          <a:bodyPr/>
          <a:lstStyle/>
          <a:p>
            <a:fld id="{91CBDD81-CB4F-4739-B3AF-3C46A55C4F11}" type="datetimeFigureOut">
              <a:rPr lang="en-US" smtClean="0"/>
              <a:t>10/24/2026</a:t>
            </a:fld>
            <a:endParaRPr lang="en-US"/>
          </a:p>
        </p:txBody>
      </p:sp>
      <p:sp>
        <p:nvSpPr>
          <p:cNvPr id="6" name="Footer Placeholder 5">
            <a:extLst>
              <a:ext uri="{FF2B5EF4-FFF2-40B4-BE49-F238E27FC236}">
                <a16:creationId xmlns:a16="http://schemas.microsoft.com/office/drawing/2014/main" id="{8A181374-E506-2240-8A12-B82001DE77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56BCD2-6FFE-7217-17D6-1AA8659198A5}"/>
              </a:ext>
            </a:extLst>
          </p:cNvPr>
          <p:cNvSpPr>
            <a:spLocks noGrp="1"/>
          </p:cNvSpPr>
          <p:nvPr>
            <p:ph type="sldNum" sz="quarter" idx="12"/>
          </p:nvPr>
        </p:nvSpPr>
        <p:spPr/>
        <p:txBody>
          <a:bodyPr/>
          <a:lstStyle/>
          <a:p>
            <a:fld id="{DB9C0B62-C646-4F0A-BEF2-9806013BFA3D}" type="slidenum">
              <a:rPr lang="en-US" smtClean="0"/>
              <a:t>‹#›</a:t>
            </a:fld>
            <a:endParaRPr lang="en-US"/>
          </a:p>
        </p:txBody>
      </p:sp>
    </p:spTree>
    <p:extLst>
      <p:ext uri="{BB962C8B-B14F-4D97-AF65-F5344CB8AC3E}">
        <p14:creationId xmlns:p14="http://schemas.microsoft.com/office/powerpoint/2010/main" val="17993754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64474-ADC0-5474-9DE8-983C9275B3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2B48F7B-E49C-986F-21A5-FB4559A6F6AA}"/>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12F930F-F6F8-EE6E-664F-AAC8D37683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6E8FFA-A741-1115-82DD-85900401E654}"/>
              </a:ext>
            </a:extLst>
          </p:cNvPr>
          <p:cNvSpPr>
            <a:spLocks noGrp="1"/>
          </p:cNvSpPr>
          <p:nvPr>
            <p:ph type="dt" sz="half" idx="10"/>
          </p:nvPr>
        </p:nvSpPr>
        <p:spPr/>
        <p:txBody>
          <a:bodyPr/>
          <a:lstStyle/>
          <a:p>
            <a:fld id="{91CBDD81-CB4F-4739-B3AF-3C46A55C4F11}" type="datetimeFigureOut">
              <a:rPr lang="en-US" smtClean="0"/>
              <a:t>10/24/2026</a:t>
            </a:fld>
            <a:endParaRPr lang="en-US"/>
          </a:p>
        </p:txBody>
      </p:sp>
      <p:sp>
        <p:nvSpPr>
          <p:cNvPr id="6" name="Footer Placeholder 5">
            <a:extLst>
              <a:ext uri="{FF2B5EF4-FFF2-40B4-BE49-F238E27FC236}">
                <a16:creationId xmlns:a16="http://schemas.microsoft.com/office/drawing/2014/main" id="{454E076C-3247-A0A3-0C39-1B5E07875C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819CDC-671B-D375-A1CC-9DC79BE9FAF2}"/>
              </a:ext>
            </a:extLst>
          </p:cNvPr>
          <p:cNvSpPr>
            <a:spLocks noGrp="1"/>
          </p:cNvSpPr>
          <p:nvPr>
            <p:ph type="sldNum" sz="quarter" idx="12"/>
          </p:nvPr>
        </p:nvSpPr>
        <p:spPr/>
        <p:txBody>
          <a:bodyPr/>
          <a:lstStyle/>
          <a:p>
            <a:fld id="{DB9C0B62-C646-4F0A-BEF2-9806013BFA3D}" type="slidenum">
              <a:rPr lang="en-US" smtClean="0"/>
              <a:t>‹#›</a:t>
            </a:fld>
            <a:endParaRPr lang="en-US"/>
          </a:p>
        </p:txBody>
      </p:sp>
    </p:spTree>
    <p:extLst>
      <p:ext uri="{BB962C8B-B14F-4D97-AF65-F5344CB8AC3E}">
        <p14:creationId xmlns:p14="http://schemas.microsoft.com/office/powerpoint/2010/main" val="33607470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E7F01-713E-DBD2-7395-1749F3CEDE8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00845CD-7C80-AD5A-928F-724A9A8F13D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E49822-A8BB-6851-556D-E3ACC9052C37}"/>
              </a:ext>
            </a:extLst>
          </p:cNvPr>
          <p:cNvSpPr>
            <a:spLocks noGrp="1"/>
          </p:cNvSpPr>
          <p:nvPr>
            <p:ph type="dt" sz="half" idx="10"/>
          </p:nvPr>
        </p:nvSpPr>
        <p:spPr/>
        <p:txBody>
          <a:bodyPr/>
          <a:lstStyle/>
          <a:p>
            <a:fld id="{91CBDD81-CB4F-4739-B3AF-3C46A55C4F11}" type="datetimeFigureOut">
              <a:rPr lang="en-US" smtClean="0"/>
              <a:t>10/24/2026</a:t>
            </a:fld>
            <a:endParaRPr lang="en-US"/>
          </a:p>
        </p:txBody>
      </p:sp>
      <p:sp>
        <p:nvSpPr>
          <p:cNvPr id="5" name="Footer Placeholder 4">
            <a:extLst>
              <a:ext uri="{FF2B5EF4-FFF2-40B4-BE49-F238E27FC236}">
                <a16:creationId xmlns:a16="http://schemas.microsoft.com/office/drawing/2014/main" id="{F84ADE31-FCA6-D8CF-E909-ACE2CCE8EB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854304-0456-2EE7-D9A4-A2A8813B1CB4}"/>
              </a:ext>
            </a:extLst>
          </p:cNvPr>
          <p:cNvSpPr>
            <a:spLocks noGrp="1"/>
          </p:cNvSpPr>
          <p:nvPr>
            <p:ph type="sldNum" sz="quarter" idx="12"/>
          </p:nvPr>
        </p:nvSpPr>
        <p:spPr/>
        <p:txBody>
          <a:bodyPr/>
          <a:lstStyle/>
          <a:p>
            <a:fld id="{DB9C0B62-C646-4F0A-BEF2-9806013BFA3D}" type="slidenum">
              <a:rPr lang="en-US" smtClean="0"/>
              <a:t>‹#›</a:t>
            </a:fld>
            <a:endParaRPr lang="en-US"/>
          </a:p>
        </p:txBody>
      </p:sp>
    </p:spTree>
    <p:extLst>
      <p:ext uri="{BB962C8B-B14F-4D97-AF65-F5344CB8AC3E}">
        <p14:creationId xmlns:p14="http://schemas.microsoft.com/office/powerpoint/2010/main" val="34642295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BBF86B-DC91-BB1F-2EE7-71CE8FFD6AB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31F5C71-B789-DCBF-7DA4-81A1B60960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51736F-B296-8E18-0571-1EA895424ADF}"/>
              </a:ext>
            </a:extLst>
          </p:cNvPr>
          <p:cNvSpPr>
            <a:spLocks noGrp="1"/>
          </p:cNvSpPr>
          <p:nvPr>
            <p:ph type="dt" sz="half" idx="10"/>
          </p:nvPr>
        </p:nvSpPr>
        <p:spPr/>
        <p:txBody>
          <a:bodyPr/>
          <a:lstStyle/>
          <a:p>
            <a:fld id="{91CBDD81-CB4F-4739-B3AF-3C46A55C4F11}" type="datetimeFigureOut">
              <a:rPr lang="en-US" smtClean="0"/>
              <a:t>10/24/2026</a:t>
            </a:fld>
            <a:endParaRPr lang="en-US"/>
          </a:p>
        </p:txBody>
      </p:sp>
      <p:sp>
        <p:nvSpPr>
          <p:cNvPr id="5" name="Footer Placeholder 4">
            <a:extLst>
              <a:ext uri="{FF2B5EF4-FFF2-40B4-BE49-F238E27FC236}">
                <a16:creationId xmlns:a16="http://schemas.microsoft.com/office/drawing/2014/main" id="{68908A73-D312-F4D0-58DB-12CDB8E915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78F1B5-FFDC-5714-FACB-BA9DDE78697F}"/>
              </a:ext>
            </a:extLst>
          </p:cNvPr>
          <p:cNvSpPr>
            <a:spLocks noGrp="1"/>
          </p:cNvSpPr>
          <p:nvPr>
            <p:ph type="sldNum" sz="quarter" idx="12"/>
          </p:nvPr>
        </p:nvSpPr>
        <p:spPr/>
        <p:txBody>
          <a:bodyPr/>
          <a:lstStyle/>
          <a:p>
            <a:fld id="{DB9C0B62-C646-4F0A-BEF2-9806013BFA3D}" type="slidenum">
              <a:rPr lang="en-US" smtClean="0"/>
              <a:t>‹#›</a:t>
            </a:fld>
            <a:endParaRPr lang="en-US"/>
          </a:p>
        </p:txBody>
      </p:sp>
    </p:spTree>
    <p:extLst>
      <p:ext uri="{BB962C8B-B14F-4D97-AF65-F5344CB8AC3E}">
        <p14:creationId xmlns:p14="http://schemas.microsoft.com/office/powerpoint/2010/main" val="1252879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1BDE6A-CC1A-10C4-3B77-440A260B98C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65885F2-0294-72DA-5373-0BDFF43BF3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94E8B4-C5A8-63CD-94CD-E15EE83E44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1CBDD81-CB4F-4739-B3AF-3C46A55C4F11}" type="datetimeFigureOut">
              <a:rPr lang="en-US" smtClean="0"/>
              <a:t>10/24/2026</a:t>
            </a:fld>
            <a:endParaRPr lang="en-US"/>
          </a:p>
        </p:txBody>
      </p:sp>
      <p:sp>
        <p:nvSpPr>
          <p:cNvPr id="5" name="Footer Placeholder 4">
            <a:extLst>
              <a:ext uri="{FF2B5EF4-FFF2-40B4-BE49-F238E27FC236}">
                <a16:creationId xmlns:a16="http://schemas.microsoft.com/office/drawing/2014/main" id="{D23BBAEC-289A-04C3-B9B5-D2DB5193A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720198A-C508-0B89-91E7-49C676BEA7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B9C0B62-C646-4F0A-BEF2-9806013BFA3D}" type="slidenum">
              <a:rPr lang="en-US" smtClean="0"/>
              <a:t>‹#›</a:t>
            </a:fld>
            <a:endParaRPr lang="en-US"/>
          </a:p>
        </p:txBody>
      </p:sp>
    </p:spTree>
    <p:extLst>
      <p:ext uri="{BB962C8B-B14F-4D97-AF65-F5344CB8AC3E}">
        <p14:creationId xmlns:p14="http://schemas.microsoft.com/office/powerpoint/2010/main" val="35790474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hyperlink" Target="https://learn.microsoft.com/en-us/azure/virtual-network/virtual-network-routing-appliance-overview" TargetMode="External"/><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hyperlink" Target="https://learn.microsoft.com/en-us/azure/bastion/configuration-settings" TargetMode="External"/><Relationship Id="rId5" Type="http://schemas.openxmlformats.org/officeDocument/2006/relationships/hyperlink" Target="https://learn.microsoft.com/en-us/azure/virtual-network/virtual-networks-udr-overview" TargetMode="External"/><Relationship Id="rId4" Type="http://schemas.openxmlformats.org/officeDocument/2006/relationships/hyperlink" Target="https://learn.microsoft.com/en-us/azure/templates/microsoft.network/virtualnetworkapplianc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C183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E836575-3D9A-FDBF-0FB1-F14A6F258382}"/>
              </a:ext>
            </a:extLst>
          </p:cNvPr>
          <p:cNvSpPr/>
          <p:nvPr/>
        </p:nvSpPr>
        <p:spPr>
          <a:xfrm>
            <a:off x="0" y="0"/>
            <a:ext cx="12192000" cy="63500"/>
          </a:xfrm>
          <a:prstGeom prst="rect">
            <a:avLst/>
          </a:prstGeom>
          <a:solidFill>
            <a:srgbClr val="35D4E8"/>
          </a:solidFill>
          <a:ln>
            <a:solidFill>
              <a:srgbClr val="35D4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5D9082B-B1C4-0CF9-0ED7-69FF758541B6}"/>
              </a:ext>
            </a:extLst>
          </p:cNvPr>
          <p:cNvSpPr txBox="1"/>
          <p:nvPr/>
        </p:nvSpPr>
        <p:spPr>
          <a:xfrm>
            <a:off x="508000" y="292100"/>
            <a:ext cx="10795000" cy="276999"/>
          </a:xfrm>
          <a:prstGeom prst="rect">
            <a:avLst/>
          </a:prstGeom>
          <a:noFill/>
        </p:spPr>
        <p:txBody>
          <a:bodyPr vert="horz" wrap="square" lIns="0" tIns="0" rIns="0" bIns="0" rtlCol="0">
            <a:noAutofit/>
          </a:bodyPr>
          <a:lstStyle/>
          <a:p>
            <a:pPr>
              <a:spcAft>
                <a:spcPts val="700"/>
              </a:spcAft>
            </a:pPr>
            <a:r>
              <a:rPr lang="en-US" sz="1000" b="1">
                <a:solidFill>
                  <a:srgbClr val="35D4E8"/>
                </a:solidFill>
                <a:latin typeface="Aptos" panose="020B0004020202020204" pitchFamily="34" charset="0"/>
              </a:rPr>
              <a:t>HANDS-ON WORKSHOP</a:t>
            </a:r>
          </a:p>
        </p:txBody>
      </p:sp>
      <p:sp>
        <p:nvSpPr>
          <p:cNvPr id="4" name="TextBox 3">
            <a:extLst>
              <a:ext uri="{FF2B5EF4-FFF2-40B4-BE49-F238E27FC236}">
                <a16:creationId xmlns:a16="http://schemas.microsoft.com/office/drawing/2014/main" id="{B17184A8-2499-EB26-7E56-05E2B14D05D4}"/>
              </a:ext>
            </a:extLst>
          </p:cNvPr>
          <p:cNvSpPr txBox="1"/>
          <p:nvPr/>
        </p:nvSpPr>
        <p:spPr>
          <a:xfrm>
            <a:off x="508000" y="723900"/>
            <a:ext cx="11176000" cy="276999"/>
          </a:xfrm>
          <a:prstGeom prst="rect">
            <a:avLst/>
          </a:prstGeom>
          <a:noFill/>
        </p:spPr>
        <p:txBody>
          <a:bodyPr vert="horz" wrap="square" lIns="0" tIns="0" rIns="0" bIns="0" rtlCol="0">
            <a:noAutofit/>
          </a:bodyPr>
          <a:lstStyle/>
          <a:p>
            <a:pPr>
              <a:spcAft>
                <a:spcPts val="700"/>
              </a:spcAft>
            </a:pPr>
            <a:r>
              <a:rPr lang="en-US" sz="3000" b="1">
                <a:solidFill>
                  <a:srgbClr val="F2F6FC"/>
                </a:solidFill>
                <a:latin typeface="Aptos" panose="020B0004020202020204" pitchFamily="34" charset="0"/>
              </a:rPr>
              <a:t>Azure Virtual Network
Routing Appliance</a:t>
            </a:r>
          </a:p>
        </p:txBody>
      </p:sp>
      <p:sp>
        <p:nvSpPr>
          <p:cNvPr id="5" name="Rectangle 4">
            <a:extLst>
              <a:ext uri="{FF2B5EF4-FFF2-40B4-BE49-F238E27FC236}">
                <a16:creationId xmlns:a16="http://schemas.microsoft.com/office/drawing/2014/main" id="{AC02D36E-635E-4992-52B7-B33825277A23}"/>
              </a:ext>
            </a:extLst>
          </p:cNvPr>
          <p:cNvSpPr/>
          <p:nvPr/>
        </p:nvSpPr>
        <p:spPr>
          <a:xfrm>
            <a:off x="508000" y="6413500"/>
            <a:ext cx="11176000" cy="12700"/>
          </a:xfrm>
          <a:prstGeom prst="rect">
            <a:avLst/>
          </a:prstGeom>
          <a:solidFill>
            <a:srgbClr val="31415B"/>
          </a:solidFill>
          <a:ln>
            <a:solidFill>
              <a:srgbClr val="3141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4662398-8D5C-5EC9-0ACE-683D765A008F}"/>
              </a:ext>
            </a:extLst>
          </p:cNvPr>
          <p:cNvSpPr txBox="1"/>
          <p:nvPr/>
        </p:nvSpPr>
        <p:spPr>
          <a:xfrm>
            <a:off x="508000" y="6553200"/>
            <a:ext cx="8890000" cy="276999"/>
          </a:xfrm>
          <a:prstGeom prst="rect">
            <a:avLst/>
          </a:prstGeom>
          <a:noFill/>
        </p:spPr>
        <p:txBody>
          <a:bodyPr vert="horz" wrap="square" lIns="0" tIns="0" rIns="0" bIns="0" rtlCol="0">
            <a:noAutofit/>
          </a:bodyPr>
          <a:lstStyle/>
          <a:p>
            <a:pPr>
              <a:spcAft>
                <a:spcPts val="700"/>
              </a:spcAft>
            </a:pPr>
            <a:r>
              <a:rPr lang="en-US" sz="900">
                <a:solidFill>
                  <a:srgbClr val="B6C5D9"/>
                </a:solidFill>
                <a:latin typeface="Aptos" panose="020B0004020202020204" pitchFamily="34" charset="0"/>
              </a:rPr>
              <a:t>AZURE NETWORK COURSE  /  LAB 240</a:t>
            </a:r>
          </a:p>
        </p:txBody>
      </p:sp>
      <p:sp>
        <p:nvSpPr>
          <p:cNvPr id="7" name="TextBox 6">
            <a:extLst>
              <a:ext uri="{FF2B5EF4-FFF2-40B4-BE49-F238E27FC236}">
                <a16:creationId xmlns:a16="http://schemas.microsoft.com/office/drawing/2014/main" id="{9325FD02-B097-2838-D64D-6BE0B554E1F6}"/>
              </a:ext>
            </a:extLst>
          </p:cNvPr>
          <p:cNvSpPr txBox="1"/>
          <p:nvPr/>
        </p:nvSpPr>
        <p:spPr>
          <a:xfrm>
            <a:off x="11214100" y="6527800"/>
            <a:ext cx="469900" cy="276999"/>
          </a:xfrm>
          <a:prstGeom prst="rect">
            <a:avLst/>
          </a:prstGeom>
          <a:noFill/>
        </p:spPr>
        <p:txBody>
          <a:bodyPr vert="horz" wrap="square" lIns="0" tIns="0" rIns="0" bIns="0" rtlCol="0">
            <a:noAutofit/>
          </a:bodyPr>
          <a:lstStyle/>
          <a:p>
            <a:pPr>
              <a:spcAft>
                <a:spcPts val="700"/>
              </a:spcAft>
            </a:pPr>
            <a:r>
              <a:rPr lang="en-US" sz="1100" b="1">
                <a:solidFill>
                  <a:srgbClr val="35D4E8"/>
                </a:solidFill>
                <a:latin typeface="Aptos" panose="020B0004020202020204" pitchFamily="34" charset="0"/>
              </a:rPr>
              <a:t>01</a:t>
            </a:r>
          </a:p>
        </p:txBody>
      </p:sp>
      <p:sp>
        <p:nvSpPr>
          <p:cNvPr id="8" name="TextBox 7">
            <a:extLst>
              <a:ext uri="{FF2B5EF4-FFF2-40B4-BE49-F238E27FC236}">
                <a16:creationId xmlns:a16="http://schemas.microsoft.com/office/drawing/2014/main" id="{73946E6C-AF35-D8DA-664B-F034FD51A891}"/>
              </a:ext>
            </a:extLst>
          </p:cNvPr>
          <p:cNvSpPr txBox="1"/>
          <p:nvPr/>
        </p:nvSpPr>
        <p:spPr>
          <a:xfrm>
            <a:off x="533400" y="2438400"/>
            <a:ext cx="5461000" cy="276999"/>
          </a:xfrm>
          <a:prstGeom prst="rect">
            <a:avLst/>
          </a:prstGeom>
          <a:noFill/>
        </p:spPr>
        <p:txBody>
          <a:bodyPr vert="horz" wrap="square" lIns="0" tIns="0" rIns="0" bIns="0" rtlCol="0">
            <a:noAutofit/>
          </a:bodyPr>
          <a:lstStyle/>
          <a:p>
            <a:pPr>
              <a:spcAft>
                <a:spcPts val="700"/>
              </a:spcAft>
            </a:pPr>
            <a:r>
              <a:rPr lang="en-US" sz="3600" b="1">
                <a:solidFill>
                  <a:srgbClr val="35D4E8"/>
                </a:solidFill>
                <a:latin typeface="Aptos" panose="020B0004020202020204" pitchFamily="34" charset="0"/>
              </a:rPr>
              <a:t>LAB 240</a:t>
            </a:r>
          </a:p>
        </p:txBody>
      </p:sp>
      <p:sp>
        <p:nvSpPr>
          <p:cNvPr id="9" name="TextBox 8">
            <a:extLst>
              <a:ext uri="{FF2B5EF4-FFF2-40B4-BE49-F238E27FC236}">
                <a16:creationId xmlns:a16="http://schemas.microsoft.com/office/drawing/2014/main" id="{82046BBF-CB6A-4987-CCD3-57ACAC233FD1}"/>
              </a:ext>
            </a:extLst>
          </p:cNvPr>
          <p:cNvSpPr txBox="1"/>
          <p:nvPr/>
        </p:nvSpPr>
        <p:spPr>
          <a:xfrm>
            <a:off x="533400" y="3365500"/>
            <a:ext cx="9525000" cy="276999"/>
          </a:xfrm>
          <a:prstGeom prst="rect">
            <a:avLst/>
          </a:prstGeom>
          <a:noFill/>
        </p:spPr>
        <p:txBody>
          <a:bodyPr vert="horz" wrap="square" lIns="0" tIns="0" rIns="0" bIns="0" rtlCol="0">
            <a:noAutofit/>
          </a:bodyPr>
          <a:lstStyle/>
          <a:p>
            <a:pPr>
              <a:spcAft>
                <a:spcPts val="700"/>
              </a:spcAft>
            </a:pPr>
            <a:r>
              <a:rPr lang="en-US" sz="2700">
                <a:solidFill>
                  <a:srgbClr val="F2F6FC"/>
                </a:solidFill>
                <a:latin typeface="Aptos" panose="020B0004020202020204" pitchFamily="34" charset="0"/>
              </a:rPr>
              <a:t>Build a managed forwarding layer
for hub-and-spoke connectivity.</a:t>
            </a:r>
          </a:p>
        </p:txBody>
      </p:sp>
      <p:sp>
        <p:nvSpPr>
          <p:cNvPr id="10" name="TextBox 9">
            <a:extLst>
              <a:ext uri="{FF2B5EF4-FFF2-40B4-BE49-F238E27FC236}">
                <a16:creationId xmlns:a16="http://schemas.microsoft.com/office/drawing/2014/main" id="{357772F3-01F4-4FEE-D61C-A9AC6726839B}"/>
              </a:ext>
            </a:extLst>
          </p:cNvPr>
          <p:cNvSpPr txBox="1"/>
          <p:nvPr/>
        </p:nvSpPr>
        <p:spPr>
          <a:xfrm>
            <a:off x="508000" y="5410200"/>
            <a:ext cx="11176000" cy="276999"/>
          </a:xfrm>
          <a:prstGeom prst="rect">
            <a:avLst/>
          </a:prstGeom>
          <a:noFill/>
        </p:spPr>
        <p:txBody>
          <a:bodyPr vert="horz" wrap="square" lIns="0" tIns="0" rIns="0" bIns="0" rtlCol="0">
            <a:noAutofit/>
          </a:bodyPr>
          <a:lstStyle/>
          <a:p>
            <a:pPr>
              <a:spcAft>
                <a:spcPts val="700"/>
              </a:spcAft>
            </a:pPr>
            <a:r>
              <a:rPr lang="en-US" sz="1500" b="1">
                <a:solidFill>
                  <a:srgbClr val="35D4E8"/>
                </a:solidFill>
                <a:latin typeface="Aptos" panose="020B0004020202020204" pitchFamily="34" charset="0"/>
              </a:rPr>
              <a:t>Terraform + AzAPI  |  Sweden Central  |  IPv4  |  10 Gbps</a:t>
            </a:r>
          </a:p>
        </p:txBody>
      </p:sp>
    </p:spTree>
    <p:extLst>
      <p:ext uri="{BB962C8B-B14F-4D97-AF65-F5344CB8AC3E}">
        <p14:creationId xmlns:p14="http://schemas.microsoft.com/office/powerpoint/2010/main" val="304310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C183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6531B2F-7F61-2F6E-2581-C9197B24E324}"/>
              </a:ext>
            </a:extLst>
          </p:cNvPr>
          <p:cNvSpPr/>
          <p:nvPr/>
        </p:nvSpPr>
        <p:spPr>
          <a:xfrm>
            <a:off x="0" y="0"/>
            <a:ext cx="12192000" cy="63500"/>
          </a:xfrm>
          <a:prstGeom prst="rect">
            <a:avLst/>
          </a:prstGeom>
          <a:solidFill>
            <a:srgbClr val="35D4E8"/>
          </a:solidFill>
          <a:ln>
            <a:solidFill>
              <a:srgbClr val="35D4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8C2CBE1-6DEE-90A7-5816-AB86C471E741}"/>
              </a:ext>
            </a:extLst>
          </p:cNvPr>
          <p:cNvSpPr txBox="1"/>
          <p:nvPr/>
        </p:nvSpPr>
        <p:spPr>
          <a:xfrm>
            <a:off x="508000" y="292100"/>
            <a:ext cx="10795000" cy="276999"/>
          </a:xfrm>
          <a:prstGeom prst="rect">
            <a:avLst/>
          </a:prstGeom>
          <a:noFill/>
        </p:spPr>
        <p:txBody>
          <a:bodyPr vert="horz" wrap="square" lIns="0" tIns="0" rIns="0" bIns="0" rtlCol="0">
            <a:noAutofit/>
          </a:bodyPr>
          <a:lstStyle/>
          <a:p>
            <a:pPr>
              <a:spcAft>
                <a:spcPts val="700"/>
              </a:spcAft>
            </a:pPr>
            <a:r>
              <a:rPr lang="en-US" sz="1000" b="1">
                <a:solidFill>
                  <a:srgbClr val="35D4E8"/>
                </a:solidFill>
                <a:latin typeface="Aptos" panose="020B0004020202020204" pitchFamily="34" charset="0"/>
              </a:rPr>
              <a:t>01 / OUTCOMES</a:t>
            </a:r>
          </a:p>
        </p:txBody>
      </p:sp>
      <p:sp>
        <p:nvSpPr>
          <p:cNvPr id="4" name="TextBox 3">
            <a:extLst>
              <a:ext uri="{FF2B5EF4-FFF2-40B4-BE49-F238E27FC236}">
                <a16:creationId xmlns:a16="http://schemas.microsoft.com/office/drawing/2014/main" id="{E534FCF3-DE72-CA75-D4B6-FC3D063D6A86}"/>
              </a:ext>
            </a:extLst>
          </p:cNvPr>
          <p:cNvSpPr txBox="1"/>
          <p:nvPr/>
        </p:nvSpPr>
        <p:spPr>
          <a:xfrm>
            <a:off x="508000" y="723900"/>
            <a:ext cx="11176000" cy="276999"/>
          </a:xfrm>
          <a:prstGeom prst="rect">
            <a:avLst/>
          </a:prstGeom>
          <a:noFill/>
        </p:spPr>
        <p:txBody>
          <a:bodyPr vert="horz" wrap="square" lIns="0" tIns="0" rIns="0" bIns="0" rtlCol="0">
            <a:noAutofit/>
          </a:bodyPr>
          <a:lstStyle/>
          <a:p>
            <a:pPr>
              <a:spcAft>
                <a:spcPts val="700"/>
              </a:spcAft>
            </a:pPr>
            <a:r>
              <a:rPr lang="en-US" sz="3000" b="1">
                <a:solidFill>
                  <a:srgbClr val="F2F6FC"/>
                </a:solidFill>
                <a:latin typeface="Aptos" panose="020B0004020202020204" pitchFamily="34" charset="0"/>
              </a:rPr>
              <a:t>What you will build and prove</a:t>
            </a:r>
          </a:p>
        </p:txBody>
      </p:sp>
      <p:sp>
        <p:nvSpPr>
          <p:cNvPr id="5" name="TextBox 4">
            <a:extLst>
              <a:ext uri="{FF2B5EF4-FFF2-40B4-BE49-F238E27FC236}">
                <a16:creationId xmlns:a16="http://schemas.microsoft.com/office/drawing/2014/main" id="{C22AC543-BBC7-0985-6AB0-EFD78774D05E}"/>
              </a:ext>
            </a:extLst>
          </p:cNvPr>
          <p:cNvSpPr txBox="1"/>
          <p:nvPr/>
        </p:nvSpPr>
        <p:spPr>
          <a:xfrm>
            <a:off x="508000" y="1562100"/>
            <a:ext cx="11176000" cy="276999"/>
          </a:xfrm>
          <a:prstGeom prst="rect">
            <a:avLst/>
          </a:prstGeom>
          <a:noFill/>
        </p:spPr>
        <p:txBody>
          <a:bodyPr vert="horz" wrap="square" lIns="0" tIns="0" rIns="0" bIns="0" rtlCol="0">
            <a:noAutofit/>
          </a:bodyPr>
          <a:lstStyle/>
          <a:p>
            <a:pPr>
              <a:spcAft>
                <a:spcPts val="700"/>
              </a:spcAft>
            </a:pPr>
            <a:r>
              <a:rPr lang="en-US" sz="1400">
                <a:solidFill>
                  <a:srgbClr val="B6C5D9"/>
                </a:solidFill>
                <a:latin typeface="Aptos" panose="020B0004020202020204" pitchFamily="34" charset="0"/>
              </a:rPr>
              <a:t>A focused east-west routing lab, with explicit evidence of the chosen path.</a:t>
            </a:r>
          </a:p>
        </p:txBody>
      </p:sp>
      <p:sp>
        <p:nvSpPr>
          <p:cNvPr id="6" name="Rectangle 5">
            <a:extLst>
              <a:ext uri="{FF2B5EF4-FFF2-40B4-BE49-F238E27FC236}">
                <a16:creationId xmlns:a16="http://schemas.microsoft.com/office/drawing/2014/main" id="{DF5FBA1A-4590-14CB-51E5-3D4AAD5C1E36}"/>
              </a:ext>
            </a:extLst>
          </p:cNvPr>
          <p:cNvSpPr/>
          <p:nvPr/>
        </p:nvSpPr>
        <p:spPr>
          <a:xfrm>
            <a:off x="508000" y="6413500"/>
            <a:ext cx="11176000" cy="12700"/>
          </a:xfrm>
          <a:prstGeom prst="rect">
            <a:avLst/>
          </a:prstGeom>
          <a:solidFill>
            <a:srgbClr val="31415B"/>
          </a:solidFill>
          <a:ln>
            <a:solidFill>
              <a:srgbClr val="3141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2925078-7052-9462-8856-4F372107CF6D}"/>
              </a:ext>
            </a:extLst>
          </p:cNvPr>
          <p:cNvSpPr txBox="1"/>
          <p:nvPr/>
        </p:nvSpPr>
        <p:spPr>
          <a:xfrm>
            <a:off x="508000" y="6553200"/>
            <a:ext cx="8890000" cy="276999"/>
          </a:xfrm>
          <a:prstGeom prst="rect">
            <a:avLst/>
          </a:prstGeom>
          <a:noFill/>
        </p:spPr>
        <p:txBody>
          <a:bodyPr vert="horz" wrap="square" lIns="0" tIns="0" rIns="0" bIns="0" rtlCol="0">
            <a:noAutofit/>
          </a:bodyPr>
          <a:lstStyle/>
          <a:p>
            <a:pPr>
              <a:spcAft>
                <a:spcPts val="700"/>
              </a:spcAft>
            </a:pPr>
            <a:r>
              <a:rPr lang="en-US" sz="900">
                <a:solidFill>
                  <a:srgbClr val="B6C5D9"/>
                </a:solidFill>
                <a:latin typeface="Aptos" panose="020B0004020202020204" pitchFamily="34" charset="0"/>
              </a:rPr>
              <a:t>AZURE NETWORK COURSE  /  LAB 240</a:t>
            </a:r>
          </a:p>
        </p:txBody>
      </p:sp>
      <p:sp>
        <p:nvSpPr>
          <p:cNvPr id="8" name="TextBox 7">
            <a:extLst>
              <a:ext uri="{FF2B5EF4-FFF2-40B4-BE49-F238E27FC236}">
                <a16:creationId xmlns:a16="http://schemas.microsoft.com/office/drawing/2014/main" id="{01B2CE3D-47A1-38FC-16D0-74707BEB98BF}"/>
              </a:ext>
            </a:extLst>
          </p:cNvPr>
          <p:cNvSpPr txBox="1"/>
          <p:nvPr/>
        </p:nvSpPr>
        <p:spPr>
          <a:xfrm>
            <a:off x="11214100" y="6527800"/>
            <a:ext cx="469900" cy="276999"/>
          </a:xfrm>
          <a:prstGeom prst="rect">
            <a:avLst/>
          </a:prstGeom>
          <a:noFill/>
        </p:spPr>
        <p:txBody>
          <a:bodyPr vert="horz" wrap="square" lIns="0" tIns="0" rIns="0" bIns="0" rtlCol="0">
            <a:noAutofit/>
          </a:bodyPr>
          <a:lstStyle/>
          <a:p>
            <a:pPr>
              <a:spcAft>
                <a:spcPts val="700"/>
              </a:spcAft>
            </a:pPr>
            <a:r>
              <a:rPr lang="en-US" sz="1100" b="1">
                <a:solidFill>
                  <a:srgbClr val="35D4E8"/>
                </a:solidFill>
                <a:latin typeface="Aptos" panose="020B0004020202020204" pitchFamily="34" charset="0"/>
              </a:rPr>
              <a:t>02</a:t>
            </a:r>
          </a:p>
        </p:txBody>
      </p:sp>
      <p:sp>
        <p:nvSpPr>
          <p:cNvPr id="9" name="Rectangle 8">
            <a:extLst>
              <a:ext uri="{FF2B5EF4-FFF2-40B4-BE49-F238E27FC236}">
                <a16:creationId xmlns:a16="http://schemas.microsoft.com/office/drawing/2014/main" id="{A94002C5-BDB2-DD29-A35D-C3456F5B1E36}"/>
              </a:ext>
            </a:extLst>
          </p:cNvPr>
          <p:cNvSpPr/>
          <p:nvPr/>
        </p:nvSpPr>
        <p:spPr>
          <a:xfrm>
            <a:off x="508000" y="2349500"/>
            <a:ext cx="3556000" cy="32385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6EBEC07-6781-FAEA-A94D-D82DA1B4A75B}"/>
              </a:ext>
            </a:extLst>
          </p:cNvPr>
          <p:cNvSpPr/>
          <p:nvPr/>
        </p:nvSpPr>
        <p:spPr>
          <a:xfrm>
            <a:off x="508000" y="2349500"/>
            <a:ext cx="50800" cy="3238500"/>
          </a:xfrm>
          <a:prstGeom prst="rect">
            <a:avLst/>
          </a:prstGeom>
          <a:solidFill>
            <a:srgbClr val="35D4E8"/>
          </a:solidFill>
          <a:ln>
            <a:solidFill>
              <a:srgbClr val="35D4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19B85C1-0650-FAB1-9F96-0EB891E897E6}"/>
              </a:ext>
            </a:extLst>
          </p:cNvPr>
          <p:cNvSpPr txBox="1"/>
          <p:nvPr/>
        </p:nvSpPr>
        <p:spPr>
          <a:xfrm>
            <a:off x="736600" y="2565400"/>
            <a:ext cx="3098800" cy="276999"/>
          </a:xfrm>
          <a:prstGeom prst="rect">
            <a:avLst/>
          </a:prstGeom>
          <a:noFill/>
        </p:spPr>
        <p:txBody>
          <a:bodyPr vert="horz" wrap="square" lIns="0" tIns="0" rIns="0" bIns="0" rtlCol="0">
            <a:noAutofit/>
          </a:bodyPr>
          <a:lstStyle/>
          <a:p>
            <a:pPr>
              <a:spcAft>
                <a:spcPts val="700"/>
              </a:spcAft>
            </a:pPr>
            <a:r>
              <a:rPr lang="en-US" sz="2000" b="1">
                <a:solidFill>
                  <a:srgbClr val="35D4E8"/>
                </a:solidFill>
                <a:latin typeface="Aptos" panose="020B0004020202020204" pitchFamily="34" charset="0"/>
              </a:rPr>
              <a:t>BUILD</a:t>
            </a:r>
          </a:p>
        </p:txBody>
      </p:sp>
      <p:sp>
        <p:nvSpPr>
          <p:cNvPr id="12" name="TextBox 11">
            <a:extLst>
              <a:ext uri="{FF2B5EF4-FFF2-40B4-BE49-F238E27FC236}">
                <a16:creationId xmlns:a16="http://schemas.microsoft.com/office/drawing/2014/main" id="{B10FB4E3-4D5F-4ADA-E0EA-F0DA41C7C42B}"/>
              </a:ext>
            </a:extLst>
          </p:cNvPr>
          <p:cNvSpPr txBox="1"/>
          <p:nvPr/>
        </p:nvSpPr>
        <p:spPr>
          <a:xfrm>
            <a:off x="736600" y="3340100"/>
            <a:ext cx="3098800" cy="276999"/>
          </a:xfrm>
          <a:prstGeom prst="rect">
            <a:avLst/>
          </a:prstGeom>
          <a:noFill/>
        </p:spPr>
        <p:txBody>
          <a:bodyPr vert="horz" wrap="square" lIns="0" tIns="0" rIns="0" bIns="0" rtlCol="0">
            <a:noAutofit/>
          </a:bodyPr>
          <a:lstStyle/>
          <a:p>
            <a:pPr>
              <a:spcAft>
                <a:spcPts val="700"/>
              </a:spcAft>
            </a:pPr>
            <a:r>
              <a:rPr lang="en-US" sz="1700">
                <a:solidFill>
                  <a:srgbClr val="F2F6FC"/>
                </a:solidFill>
                <a:latin typeface="Aptos" panose="020B0004020202020204" pitchFamily="34" charset="0"/>
              </a:rPr>
              <a:t>One hub VNet
Two spoke VNets
One managed routing appliance
Two private Linux VMs</a:t>
            </a:r>
          </a:p>
        </p:txBody>
      </p:sp>
      <p:sp>
        <p:nvSpPr>
          <p:cNvPr id="13" name="Rectangle 12">
            <a:extLst>
              <a:ext uri="{FF2B5EF4-FFF2-40B4-BE49-F238E27FC236}">
                <a16:creationId xmlns:a16="http://schemas.microsoft.com/office/drawing/2014/main" id="{95297E5B-1E72-955D-B439-35B78C3039B7}"/>
              </a:ext>
            </a:extLst>
          </p:cNvPr>
          <p:cNvSpPr/>
          <p:nvPr/>
        </p:nvSpPr>
        <p:spPr>
          <a:xfrm>
            <a:off x="4318000" y="2349500"/>
            <a:ext cx="3556000" cy="32385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0FA0C26-9495-86A0-F6D4-56DB255250E9}"/>
              </a:ext>
            </a:extLst>
          </p:cNvPr>
          <p:cNvSpPr/>
          <p:nvPr/>
        </p:nvSpPr>
        <p:spPr>
          <a:xfrm>
            <a:off x="4318000" y="2349500"/>
            <a:ext cx="50800" cy="3238500"/>
          </a:xfrm>
          <a:prstGeom prst="rect">
            <a:avLst/>
          </a:prstGeom>
          <a:solidFill>
            <a:srgbClr val="35D4E8"/>
          </a:solidFill>
          <a:ln>
            <a:solidFill>
              <a:srgbClr val="35D4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7136EB6E-2362-374B-5D80-B14CB8DC1142}"/>
              </a:ext>
            </a:extLst>
          </p:cNvPr>
          <p:cNvSpPr txBox="1"/>
          <p:nvPr/>
        </p:nvSpPr>
        <p:spPr>
          <a:xfrm>
            <a:off x="4546600" y="2565400"/>
            <a:ext cx="3098800" cy="276999"/>
          </a:xfrm>
          <a:prstGeom prst="rect">
            <a:avLst/>
          </a:prstGeom>
          <a:noFill/>
        </p:spPr>
        <p:txBody>
          <a:bodyPr vert="horz" wrap="square" lIns="0" tIns="0" rIns="0" bIns="0" rtlCol="0">
            <a:noAutofit/>
          </a:bodyPr>
          <a:lstStyle/>
          <a:p>
            <a:pPr>
              <a:spcAft>
                <a:spcPts val="700"/>
              </a:spcAft>
            </a:pPr>
            <a:r>
              <a:rPr lang="en-US" sz="2000" b="1">
                <a:solidFill>
                  <a:srgbClr val="35D4E8"/>
                </a:solidFill>
                <a:latin typeface="Aptos" panose="020B0004020202020204" pitchFamily="34" charset="0"/>
              </a:rPr>
              <a:t>EXPLAIN</a:t>
            </a:r>
          </a:p>
        </p:txBody>
      </p:sp>
      <p:sp>
        <p:nvSpPr>
          <p:cNvPr id="16" name="TextBox 15">
            <a:extLst>
              <a:ext uri="{FF2B5EF4-FFF2-40B4-BE49-F238E27FC236}">
                <a16:creationId xmlns:a16="http://schemas.microsoft.com/office/drawing/2014/main" id="{7782DB3C-C441-E895-5B20-98DE793E2AF5}"/>
              </a:ext>
            </a:extLst>
          </p:cNvPr>
          <p:cNvSpPr txBox="1"/>
          <p:nvPr/>
        </p:nvSpPr>
        <p:spPr>
          <a:xfrm>
            <a:off x="4546600" y="3340100"/>
            <a:ext cx="3098800" cy="276999"/>
          </a:xfrm>
          <a:prstGeom prst="rect">
            <a:avLst/>
          </a:prstGeom>
          <a:noFill/>
        </p:spPr>
        <p:txBody>
          <a:bodyPr vert="horz" wrap="square" lIns="0" tIns="0" rIns="0" bIns="0" rtlCol="0">
            <a:noAutofit/>
          </a:bodyPr>
          <a:lstStyle/>
          <a:p>
            <a:pPr>
              <a:spcAft>
                <a:spcPts val="700"/>
              </a:spcAft>
            </a:pPr>
            <a:r>
              <a:rPr lang="en-US" sz="1700">
                <a:solidFill>
                  <a:srgbClr val="F2F6FC"/>
                </a:solidFill>
                <a:latin typeface="Aptos" panose="020B0004020202020204" pitchFamily="34" charset="0"/>
              </a:rPr>
              <a:t>Why peering is not transitive
How UDRs select the appliance
Why the return path matters</a:t>
            </a:r>
          </a:p>
        </p:txBody>
      </p:sp>
      <p:sp>
        <p:nvSpPr>
          <p:cNvPr id="17" name="Rectangle 16">
            <a:extLst>
              <a:ext uri="{FF2B5EF4-FFF2-40B4-BE49-F238E27FC236}">
                <a16:creationId xmlns:a16="http://schemas.microsoft.com/office/drawing/2014/main" id="{1EECE411-57B9-5043-D9B8-15D2CE2495CF}"/>
              </a:ext>
            </a:extLst>
          </p:cNvPr>
          <p:cNvSpPr/>
          <p:nvPr/>
        </p:nvSpPr>
        <p:spPr>
          <a:xfrm>
            <a:off x="8128000" y="2349500"/>
            <a:ext cx="3556000" cy="32385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045403B-D818-9577-C5B3-403FD5C61AF8}"/>
              </a:ext>
            </a:extLst>
          </p:cNvPr>
          <p:cNvSpPr/>
          <p:nvPr/>
        </p:nvSpPr>
        <p:spPr>
          <a:xfrm>
            <a:off x="8128000" y="2349500"/>
            <a:ext cx="50800" cy="3238500"/>
          </a:xfrm>
          <a:prstGeom prst="rect">
            <a:avLst/>
          </a:prstGeom>
          <a:solidFill>
            <a:srgbClr val="35D4E8"/>
          </a:solidFill>
          <a:ln>
            <a:solidFill>
              <a:srgbClr val="35D4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67A7511E-A0A7-10A7-1E2C-8DB0B83A415C}"/>
              </a:ext>
            </a:extLst>
          </p:cNvPr>
          <p:cNvSpPr txBox="1"/>
          <p:nvPr/>
        </p:nvSpPr>
        <p:spPr>
          <a:xfrm>
            <a:off x="8356600" y="2565400"/>
            <a:ext cx="3098800" cy="276999"/>
          </a:xfrm>
          <a:prstGeom prst="rect">
            <a:avLst/>
          </a:prstGeom>
          <a:noFill/>
        </p:spPr>
        <p:txBody>
          <a:bodyPr vert="horz" wrap="square" lIns="0" tIns="0" rIns="0" bIns="0" rtlCol="0">
            <a:noAutofit/>
          </a:bodyPr>
          <a:lstStyle/>
          <a:p>
            <a:pPr>
              <a:spcAft>
                <a:spcPts val="700"/>
              </a:spcAft>
            </a:pPr>
            <a:r>
              <a:rPr lang="en-US" sz="2000" b="1">
                <a:solidFill>
                  <a:srgbClr val="35D4E8"/>
                </a:solidFill>
                <a:latin typeface="Aptos" panose="020B0004020202020204" pitchFamily="34" charset="0"/>
              </a:rPr>
              <a:t>VERIFY</a:t>
            </a:r>
          </a:p>
        </p:txBody>
      </p:sp>
      <p:sp>
        <p:nvSpPr>
          <p:cNvPr id="20" name="TextBox 19">
            <a:extLst>
              <a:ext uri="{FF2B5EF4-FFF2-40B4-BE49-F238E27FC236}">
                <a16:creationId xmlns:a16="http://schemas.microsoft.com/office/drawing/2014/main" id="{65CC8C33-1085-621E-B4CC-2B3B4DF6F3B4}"/>
              </a:ext>
            </a:extLst>
          </p:cNvPr>
          <p:cNvSpPr txBox="1"/>
          <p:nvPr/>
        </p:nvSpPr>
        <p:spPr>
          <a:xfrm>
            <a:off x="8356600" y="3340100"/>
            <a:ext cx="3098800" cy="276999"/>
          </a:xfrm>
          <a:prstGeom prst="rect">
            <a:avLst/>
          </a:prstGeom>
          <a:noFill/>
        </p:spPr>
        <p:txBody>
          <a:bodyPr vert="horz" wrap="square" lIns="0" tIns="0" rIns="0" bIns="0" rtlCol="0">
            <a:noAutofit/>
          </a:bodyPr>
          <a:lstStyle/>
          <a:p>
            <a:pPr>
              <a:spcAft>
                <a:spcPts val="700"/>
              </a:spcAft>
            </a:pPr>
            <a:r>
              <a:rPr lang="en-US" sz="1700">
                <a:solidFill>
                  <a:srgbClr val="F2F6FC"/>
                </a:solidFill>
                <a:latin typeface="Aptos" panose="020B0004020202020204" pitchFamily="34" charset="0"/>
              </a:rPr>
              <a:t>Inspect effective routes
Test both traffic directions
Correlate traffic with metrics
Remove lab resources</a:t>
            </a:r>
          </a:p>
        </p:txBody>
      </p:sp>
    </p:spTree>
    <p:extLst>
      <p:ext uri="{BB962C8B-B14F-4D97-AF65-F5344CB8AC3E}">
        <p14:creationId xmlns:p14="http://schemas.microsoft.com/office/powerpoint/2010/main" val="69468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C183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A04F215-B9C2-C911-FCBB-D18BE2ECB23F}"/>
              </a:ext>
            </a:extLst>
          </p:cNvPr>
          <p:cNvSpPr/>
          <p:nvPr/>
        </p:nvSpPr>
        <p:spPr>
          <a:xfrm>
            <a:off x="0" y="0"/>
            <a:ext cx="12192000" cy="63500"/>
          </a:xfrm>
          <a:prstGeom prst="rect">
            <a:avLst/>
          </a:prstGeom>
          <a:solidFill>
            <a:srgbClr val="35D4E8"/>
          </a:solidFill>
          <a:ln>
            <a:solidFill>
              <a:srgbClr val="35D4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B91DC96-83F1-E0E2-D58A-F026F2B94E7B}"/>
              </a:ext>
            </a:extLst>
          </p:cNvPr>
          <p:cNvSpPr txBox="1"/>
          <p:nvPr/>
        </p:nvSpPr>
        <p:spPr>
          <a:xfrm>
            <a:off x="508000" y="292100"/>
            <a:ext cx="10795000" cy="276999"/>
          </a:xfrm>
          <a:prstGeom prst="rect">
            <a:avLst/>
          </a:prstGeom>
          <a:noFill/>
        </p:spPr>
        <p:txBody>
          <a:bodyPr vert="horz" wrap="square" lIns="0" tIns="0" rIns="0" bIns="0" rtlCol="0">
            <a:noAutofit/>
          </a:bodyPr>
          <a:lstStyle/>
          <a:p>
            <a:pPr>
              <a:spcAft>
                <a:spcPts val="700"/>
              </a:spcAft>
            </a:pPr>
            <a:r>
              <a:rPr lang="en-US" sz="1000" b="1">
                <a:solidFill>
                  <a:srgbClr val="35D4E8"/>
                </a:solidFill>
                <a:latin typeface="Aptos" panose="020B0004020202020204" pitchFamily="34" charset="0"/>
              </a:rPr>
              <a:t>02 / ARCHITECTURE CONTEXT</a:t>
            </a:r>
          </a:p>
        </p:txBody>
      </p:sp>
      <p:sp>
        <p:nvSpPr>
          <p:cNvPr id="4" name="TextBox 3">
            <a:extLst>
              <a:ext uri="{FF2B5EF4-FFF2-40B4-BE49-F238E27FC236}">
                <a16:creationId xmlns:a16="http://schemas.microsoft.com/office/drawing/2014/main" id="{1470A76D-DD87-80B2-C0E0-0A03327DD35F}"/>
              </a:ext>
            </a:extLst>
          </p:cNvPr>
          <p:cNvSpPr txBox="1"/>
          <p:nvPr/>
        </p:nvSpPr>
        <p:spPr>
          <a:xfrm>
            <a:off x="508000" y="723900"/>
            <a:ext cx="11176000" cy="276999"/>
          </a:xfrm>
          <a:prstGeom prst="rect">
            <a:avLst/>
          </a:prstGeom>
          <a:noFill/>
        </p:spPr>
        <p:txBody>
          <a:bodyPr vert="horz" wrap="square" lIns="0" tIns="0" rIns="0" bIns="0" rtlCol="0">
            <a:noAutofit/>
          </a:bodyPr>
          <a:lstStyle/>
          <a:p>
            <a:pPr>
              <a:spcAft>
                <a:spcPts val="700"/>
              </a:spcAft>
            </a:pPr>
            <a:r>
              <a:rPr lang="en-US" sz="3000" b="1">
                <a:solidFill>
                  <a:srgbClr val="F2F6FC"/>
                </a:solidFill>
                <a:latin typeface="Aptos" panose="020B0004020202020204" pitchFamily="34" charset="0"/>
              </a:rPr>
              <a:t>Where routing appliances fit</a:t>
            </a:r>
          </a:p>
        </p:txBody>
      </p:sp>
      <p:sp>
        <p:nvSpPr>
          <p:cNvPr id="5" name="TextBox 4">
            <a:extLst>
              <a:ext uri="{FF2B5EF4-FFF2-40B4-BE49-F238E27FC236}">
                <a16:creationId xmlns:a16="http://schemas.microsoft.com/office/drawing/2014/main" id="{D0AE0EA3-94F8-068A-0866-09C1D2EE5F56}"/>
              </a:ext>
            </a:extLst>
          </p:cNvPr>
          <p:cNvSpPr txBox="1"/>
          <p:nvPr/>
        </p:nvSpPr>
        <p:spPr>
          <a:xfrm>
            <a:off x="508000" y="1562100"/>
            <a:ext cx="11176000" cy="276999"/>
          </a:xfrm>
          <a:prstGeom prst="rect">
            <a:avLst/>
          </a:prstGeom>
          <a:noFill/>
        </p:spPr>
        <p:txBody>
          <a:bodyPr vert="horz" wrap="square" lIns="0" tIns="0" rIns="0" bIns="0" rtlCol="0">
            <a:noAutofit/>
          </a:bodyPr>
          <a:lstStyle/>
          <a:p>
            <a:pPr>
              <a:spcAft>
                <a:spcPts val="700"/>
              </a:spcAft>
            </a:pPr>
            <a:r>
              <a:rPr lang="en-US" sz="1400">
                <a:solidFill>
                  <a:srgbClr val="B6C5D9"/>
                </a:solidFill>
                <a:latin typeface="Aptos" panose="020B0004020202020204" pitchFamily="34" charset="0"/>
              </a:rPr>
              <a:t>Conceptual architecture supplied with the lab request - broader than this deployment.</a:t>
            </a:r>
          </a:p>
        </p:txBody>
      </p:sp>
      <p:sp>
        <p:nvSpPr>
          <p:cNvPr id="6" name="Rectangle 5">
            <a:extLst>
              <a:ext uri="{FF2B5EF4-FFF2-40B4-BE49-F238E27FC236}">
                <a16:creationId xmlns:a16="http://schemas.microsoft.com/office/drawing/2014/main" id="{32BAE038-21B7-788E-69F6-F134E65DD1F3}"/>
              </a:ext>
            </a:extLst>
          </p:cNvPr>
          <p:cNvSpPr/>
          <p:nvPr/>
        </p:nvSpPr>
        <p:spPr>
          <a:xfrm>
            <a:off x="508000" y="6413500"/>
            <a:ext cx="11176000" cy="12700"/>
          </a:xfrm>
          <a:prstGeom prst="rect">
            <a:avLst/>
          </a:prstGeom>
          <a:solidFill>
            <a:srgbClr val="31415B"/>
          </a:solidFill>
          <a:ln>
            <a:solidFill>
              <a:srgbClr val="3141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AD50877-240E-B331-D6C0-9931E83CC895}"/>
              </a:ext>
            </a:extLst>
          </p:cNvPr>
          <p:cNvSpPr txBox="1"/>
          <p:nvPr/>
        </p:nvSpPr>
        <p:spPr>
          <a:xfrm>
            <a:off x="508000" y="6553200"/>
            <a:ext cx="8890000" cy="276999"/>
          </a:xfrm>
          <a:prstGeom prst="rect">
            <a:avLst/>
          </a:prstGeom>
          <a:noFill/>
        </p:spPr>
        <p:txBody>
          <a:bodyPr vert="horz" wrap="square" lIns="0" tIns="0" rIns="0" bIns="0" rtlCol="0">
            <a:noAutofit/>
          </a:bodyPr>
          <a:lstStyle/>
          <a:p>
            <a:pPr>
              <a:spcAft>
                <a:spcPts val="700"/>
              </a:spcAft>
            </a:pPr>
            <a:r>
              <a:rPr lang="en-US" sz="900">
                <a:solidFill>
                  <a:srgbClr val="B6C5D9"/>
                </a:solidFill>
                <a:latin typeface="Aptos" panose="020B0004020202020204" pitchFamily="34" charset="0"/>
              </a:rPr>
              <a:t>AZURE NETWORK COURSE  /  LAB 240</a:t>
            </a:r>
          </a:p>
        </p:txBody>
      </p:sp>
      <p:sp>
        <p:nvSpPr>
          <p:cNvPr id="8" name="TextBox 7">
            <a:extLst>
              <a:ext uri="{FF2B5EF4-FFF2-40B4-BE49-F238E27FC236}">
                <a16:creationId xmlns:a16="http://schemas.microsoft.com/office/drawing/2014/main" id="{82C58045-32E7-B958-5297-58815CF4EC3F}"/>
              </a:ext>
            </a:extLst>
          </p:cNvPr>
          <p:cNvSpPr txBox="1"/>
          <p:nvPr/>
        </p:nvSpPr>
        <p:spPr>
          <a:xfrm>
            <a:off x="11214100" y="6527800"/>
            <a:ext cx="469900" cy="276999"/>
          </a:xfrm>
          <a:prstGeom prst="rect">
            <a:avLst/>
          </a:prstGeom>
          <a:noFill/>
        </p:spPr>
        <p:txBody>
          <a:bodyPr vert="horz" wrap="square" lIns="0" tIns="0" rIns="0" bIns="0" rtlCol="0">
            <a:noAutofit/>
          </a:bodyPr>
          <a:lstStyle/>
          <a:p>
            <a:pPr>
              <a:spcAft>
                <a:spcPts val="700"/>
              </a:spcAft>
            </a:pPr>
            <a:r>
              <a:rPr lang="en-US" sz="1100" b="1">
                <a:solidFill>
                  <a:srgbClr val="35D4E8"/>
                </a:solidFill>
                <a:latin typeface="Aptos" panose="020B0004020202020204" pitchFamily="34" charset="0"/>
              </a:rPr>
              <a:t>03</a:t>
            </a:r>
          </a:p>
        </p:txBody>
      </p:sp>
      <p:sp>
        <p:nvSpPr>
          <p:cNvPr id="9" name="Rectangle 8">
            <a:extLst>
              <a:ext uri="{FF2B5EF4-FFF2-40B4-BE49-F238E27FC236}">
                <a16:creationId xmlns:a16="http://schemas.microsoft.com/office/drawing/2014/main" id="{A0A01F04-1204-BFDE-2DC0-621CB52FDB10}"/>
              </a:ext>
            </a:extLst>
          </p:cNvPr>
          <p:cNvSpPr/>
          <p:nvPr/>
        </p:nvSpPr>
        <p:spPr>
          <a:xfrm>
            <a:off x="508000" y="2260600"/>
            <a:ext cx="11176000" cy="3835400"/>
          </a:xfrm>
          <a:prstGeom prst="rect">
            <a:avLst/>
          </a:prstGeom>
          <a:solidFill>
            <a:srgbClr val="F4F4F4"/>
          </a:solidFill>
          <a:ln>
            <a:solidFill>
              <a:srgbClr val="F4F4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FB6C9671-E817-0271-A5D6-7E50F51837F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96900" y="2298700"/>
            <a:ext cx="10998200" cy="3632200"/>
          </a:xfrm>
          <a:prstGeom prst="rect">
            <a:avLst/>
          </a:prstGeom>
        </p:spPr>
      </p:pic>
    </p:spTree>
    <p:extLst>
      <p:ext uri="{BB962C8B-B14F-4D97-AF65-F5344CB8AC3E}">
        <p14:creationId xmlns:p14="http://schemas.microsoft.com/office/powerpoint/2010/main" val="40067672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C183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0EB15F6-7C96-9DCA-9DB3-B588637E2AA9}"/>
              </a:ext>
            </a:extLst>
          </p:cNvPr>
          <p:cNvSpPr/>
          <p:nvPr/>
        </p:nvSpPr>
        <p:spPr>
          <a:xfrm>
            <a:off x="0" y="0"/>
            <a:ext cx="12192000" cy="63500"/>
          </a:xfrm>
          <a:prstGeom prst="rect">
            <a:avLst/>
          </a:prstGeom>
          <a:solidFill>
            <a:srgbClr val="35D4E8"/>
          </a:solidFill>
          <a:ln>
            <a:solidFill>
              <a:srgbClr val="35D4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D6135DC-6FAC-9B4B-A011-CABE75697A20}"/>
              </a:ext>
            </a:extLst>
          </p:cNvPr>
          <p:cNvSpPr txBox="1"/>
          <p:nvPr/>
        </p:nvSpPr>
        <p:spPr>
          <a:xfrm>
            <a:off x="508000" y="292100"/>
            <a:ext cx="10795000" cy="276999"/>
          </a:xfrm>
          <a:prstGeom prst="rect">
            <a:avLst/>
          </a:prstGeom>
          <a:noFill/>
        </p:spPr>
        <p:txBody>
          <a:bodyPr vert="horz" wrap="square" lIns="0" tIns="0" rIns="0" bIns="0" rtlCol="0">
            <a:noAutofit/>
          </a:bodyPr>
          <a:lstStyle/>
          <a:p>
            <a:pPr>
              <a:spcAft>
                <a:spcPts val="700"/>
              </a:spcAft>
            </a:pPr>
            <a:r>
              <a:rPr lang="en-US" sz="1000" b="1">
                <a:solidFill>
                  <a:srgbClr val="35D4E8"/>
                </a:solidFill>
                <a:latin typeface="Aptos" panose="020B0004020202020204" pitchFamily="34" charset="0"/>
              </a:rPr>
              <a:t>03 / ACTUAL LAB TOPOLOGY</a:t>
            </a:r>
          </a:p>
        </p:txBody>
      </p:sp>
      <p:sp>
        <p:nvSpPr>
          <p:cNvPr id="4" name="TextBox 3">
            <a:extLst>
              <a:ext uri="{FF2B5EF4-FFF2-40B4-BE49-F238E27FC236}">
                <a16:creationId xmlns:a16="http://schemas.microsoft.com/office/drawing/2014/main" id="{AE1779BE-5682-493F-93C3-7BA1417E8912}"/>
              </a:ext>
            </a:extLst>
          </p:cNvPr>
          <p:cNvSpPr txBox="1"/>
          <p:nvPr/>
        </p:nvSpPr>
        <p:spPr>
          <a:xfrm>
            <a:off x="508000" y="723900"/>
            <a:ext cx="11176000" cy="276999"/>
          </a:xfrm>
          <a:prstGeom prst="rect">
            <a:avLst/>
          </a:prstGeom>
          <a:noFill/>
        </p:spPr>
        <p:txBody>
          <a:bodyPr vert="horz" wrap="square" lIns="0" tIns="0" rIns="0" bIns="0" rtlCol="0">
            <a:noAutofit/>
          </a:bodyPr>
          <a:lstStyle/>
          <a:p>
            <a:pPr>
              <a:spcAft>
                <a:spcPts val="700"/>
              </a:spcAft>
            </a:pPr>
            <a:r>
              <a:rPr lang="en-US" sz="3000" b="1">
                <a:solidFill>
                  <a:srgbClr val="F2F6FC"/>
                </a:solidFill>
                <a:latin typeface="Aptos" panose="020B0004020202020204" pitchFamily="34" charset="0"/>
              </a:rPr>
              <a:t>Two spokes. One managed transit point.</a:t>
            </a:r>
          </a:p>
        </p:txBody>
      </p:sp>
      <p:sp>
        <p:nvSpPr>
          <p:cNvPr id="5" name="TextBox 4">
            <a:extLst>
              <a:ext uri="{FF2B5EF4-FFF2-40B4-BE49-F238E27FC236}">
                <a16:creationId xmlns:a16="http://schemas.microsoft.com/office/drawing/2014/main" id="{C0D28B65-0E94-2D2C-FE2D-83D9B8025C3F}"/>
              </a:ext>
            </a:extLst>
          </p:cNvPr>
          <p:cNvSpPr txBox="1"/>
          <p:nvPr/>
        </p:nvSpPr>
        <p:spPr>
          <a:xfrm>
            <a:off x="508000" y="1562100"/>
            <a:ext cx="11176000" cy="276999"/>
          </a:xfrm>
          <a:prstGeom prst="rect">
            <a:avLst/>
          </a:prstGeom>
          <a:noFill/>
        </p:spPr>
        <p:txBody>
          <a:bodyPr vert="horz" wrap="square" lIns="0" tIns="0" rIns="0" bIns="0" rtlCol="0">
            <a:noAutofit/>
          </a:bodyPr>
          <a:lstStyle/>
          <a:p>
            <a:pPr>
              <a:spcAft>
                <a:spcPts val="700"/>
              </a:spcAft>
            </a:pPr>
            <a:r>
              <a:rPr lang="en-US" sz="1400">
                <a:solidFill>
                  <a:srgbClr val="B6C5D9"/>
                </a:solidFill>
                <a:latin typeface="Aptos" panose="020B0004020202020204" pitchFamily="34" charset="0"/>
              </a:rPr>
              <a:t>No direct spoke-to-spoke peering; all resources are configured in Sweden Central.</a:t>
            </a:r>
          </a:p>
        </p:txBody>
      </p:sp>
      <p:sp>
        <p:nvSpPr>
          <p:cNvPr id="6" name="Rectangle 5">
            <a:extLst>
              <a:ext uri="{FF2B5EF4-FFF2-40B4-BE49-F238E27FC236}">
                <a16:creationId xmlns:a16="http://schemas.microsoft.com/office/drawing/2014/main" id="{6B6EB310-8EA5-7A88-ED3A-82C12D83BC55}"/>
              </a:ext>
            </a:extLst>
          </p:cNvPr>
          <p:cNvSpPr/>
          <p:nvPr/>
        </p:nvSpPr>
        <p:spPr>
          <a:xfrm>
            <a:off x="508000" y="6413500"/>
            <a:ext cx="11176000" cy="12700"/>
          </a:xfrm>
          <a:prstGeom prst="rect">
            <a:avLst/>
          </a:prstGeom>
          <a:solidFill>
            <a:srgbClr val="31415B"/>
          </a:solidFill>
          <a:ln>
            <a:solidFill>
              <a:srgbClr val="3141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5BD0D18-D7E9-73E6-5056-E84083790B91}"/>
              </a:ext>
            </a:extLst>
          </p:cNvPr>
          <p:cNvSpPr txBox="1"/>
          <p:nvPr/>
        </p:nvSpPr>
        <p:spPr>
          <a:xfrm>
            <a:off x="508000" y="6553200"/>
            <a:ext cx="8890000" cy="276999"/>
          </a:xfrm>
          <a:prstGeom prst="rect">
            <a:avLst/>
          </a:prstGeom>
          <a:noFill/>
        </p:spPr>
        <p:txBody>
          <a:bodyPr vert="horz" wrap="square" lIns="0" tIns="0" rIns="0" bIns="0" rtlCol="0">
            <a:noAutofit/>
          </a:bodyPr>
          <a:lstStyle/>
          <a:p>
            <a:pPr>
              <a:spcAft>
                <a:spcPts val="700"/>
              </a:spcAft>
            </a:pPr>
            <a:r>
              <a:rPr lang="en-US" sz="900">
                <a:solidFill>
                  <a:srgbClr val="B6C5D9"/>
                </a:solidFill>
                <a:latin typeface="Aptos" panose="020B0004020202020204" pitchFamily="34" charset="0"/>
              </a:rPr>
              <a:t>AZURE NETWORK COURSE  /  LAB 240</a:t>
            </a:r>
          </a:p>
        </p:txBody>
      </p:sp>
      <p:sp>
        <p:nvSpPr>
          <p:cNvPr id="8" name="TextBox 7">
            <a:extLst>
              <a:ext uri="{FF2B5EF4-FFF2-40B4-BE49-F238E27FC236}">
                <a16:creationId xmlns:a16="http://schemas.microsoft.com/office/drawing/2014/main" id="{1A827A20-9CC6-3127-A3AE-60551649AF43}"/>
              </a:ext>
            </a:extLst>
          </p:cNvPr>
          <p:cNvSpPr txBox="1"/>
          <p:nvPr/>
        </p:nvSpPr>
        <p:spPr>
          <a:xfrm>
            <a:off x="11214100" y="6527800"/>
            <a:ext cx="469900" cy="276999"/>
          </a:xfrm>
          <a:prstGeom prst="rect">
            <a:avLst/>
          </a:prstGeom>
          <a:noFill/>
        </p:spPr>
        <p:txBody>
          <a:bodyPr vert="horz" wrap="square" lIns="0" tIns="0" rIns="0" bIns="0" rtlCol="0">
            <a:noAutofit/>
          </a:bodyPr>
          <a:lstStyle/>
          <a:p>
            <a:pPr>
              <a:spcAft>
                <a:spcPts val="700"/>
              </a:spcAft>
            </a:pPr>
            <a:r>
              <a:rPr lang="en-US" sz="1100" b="1">
                <a:solidFill>
                  <a:srgbClr val="35D4E8"/>
                </a:solidFill>
                <a:latin typeface="Aptos" panose="020B0004020202020204" pitchFamily="34" charset="0"/>
              </a:rPr>
              <a:t>04</a:t>
            </a:r>
          </a:p>
        </p:txBody>
      </p:sp>
      <p:sp>
        <p:nvSpPr>
          <p:cNvPr id="9" name="Rectangle 8">
            <a:extLst>
              <a:ext uri="{FF2B5EF4-FFF2-40B4-BE49-F238E27FC236}">
                <a16:creationId xmlns:a16="http://schemas.microsoft.com/office/drawing/2014/main" id="{6D61E3F4-4350-064D-26D4-427C715E6C62}"/>
              </a:ext>
            </a:extLst>
          </p:cNvPr>
          <p:cNvSpPr/>
          <p:nvPr/>
        </p:nvSpPr>
        <p:spPr>
          <a:xfrm>
            <a:off x="508000" y="2590800"/>
            <a:ext cx="3175000" cy="25654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F68E9DA-9E69-F276-0956-7CFF50CE78B1}"/>
              </a:ext>
            </a:extLst>
          </p:cNvPr>
          <p:cNvSpPr/>
          <p:nvPr/>
        </p:nvSpPr>
        <p:spPr>
          <a:xfrm>
            <a:off x="508000" y="2590800"/>
            <a:ext cx="50800" cy="2565400"/>
          </a:xfrm>
          <a:prstGeom prst="rect">
            <a:avLst/>
          </a:prstGeom>
          <a:solidFill>
            <a:srgbClr val="35D4E8"/>
          </a:solidFill>
          <a:ln>
            <a:solidFill>
              <a:srgbClr val="35D4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21ECA44-0D0D-C77D-08A5-EFA2B858106A}"/>
              </a:ext>
            </a:extLst>
          </p:cNvPr>
          <p:cNvSpPr txBox="1"/>
          <p:nvPr/>
        </p:nvSpPr>
        <p:spPr>
          <a:xfrm>
            <a:off x="736600" y="2806700"/>
            <a:ext cx="2717800" cy="276999"/>
          </a:xfrm>
          <a:prstGeom prst="rect">
            <a:avLst/>
          </a:prstGeom>
          <a:noFill/>
        </p:spPr>
        <p:txBody>
          <a:bodyPr vert="horz" wrap="square" lIns="0" tIns="0" rIns="0" bIns="0" rtlCol="0">
            <a:noAutofit/>
          </a:bodyPr>
          <a:lstStyle/>
          <a:p>
            <a:pPr>
              <a:spcAft>
                <a:spcPts val="700"/>
              </a:spcAft>
            </a:pPr>
            <a:r>
              <a:rPr lang="en-US" sz="2000" b="1">
                <a:solidFill>
                  <a:srgbClr val="35D4E8"/>
                </a:solidFill>
                <a:latin typeface="Aptos" panose="020B0004020202020204" pitchFamily="34" charset="0"/>
              </a:rPr>
              <a:t>SPOKE 1</a:t>
            </a:r>
          </a:p>
        </p:txBody>
      </p:sp>
      <p:sp>
        <p:nvSpPr>
          <p:cNvPr id="12" name="TextBox 11">
            <a:extLst>
              <a:ext uri="{FF2B5EF4-FFF2-40B4-BE49-F238E27FC236}">
                <a16:creationId xmlns:a16="http://schemas.microsoft.com/office/drawing/2014/main" id="{A035DBA5-CAEB-81D1-291E-9F71F6736B55}"/>
              </a:ext>
            </a:extLst>
          </p:cNvPr>
          <p:cNvSpPr txBox="1"/>
          <p:nvPr/>
        </p:nvSpPr>
        <p:spPr>
          <a:xfrm>
            <a:off x="736600" y="3581400"/>
            <a:ext cx="2717800" cy="276999"/>
          </a:xfrm>
          <a:prstGeom prst="rect">
            <a:avLst/>
          </a:prstGeom>
          <a:noFill/>
        </p:spPr>
        <p:txBody>
          <a:bodyPr vert="horz" wrap="square" lIns="0" tIns="0" rIns="0" bIns="0" rtlCol="0">
            <a:noAutofit/>
          </a:bodyPr>
          <a:lstStyle/>
          <a:p>
            <a:pPr>
              <a:spcAft>
                <a:spcPts val="700"/>
              </a:spcAft>
            </a:pPr>
            <a:r>
              <a:rPr lang="en-US" sz="1700">
                <a:solidFill>
                  <a:srgbClr val="F2F6FC"/>
                </a:solidFill>
                <a:latin typeface="Aptos" panose="020B0004020202020204" pitchFamily="34" charset="0"/>
              </a:rPr>
              <a:t>vnet-spoke1
10.1.0.0/16
Workload: 10.1.0.0/24
vm-linux-spoke1</a:t>
            </a:r>
          </a:p>
        </p:txBody>
      </p:sp>
      <p:sp>
        <p:nvSpPr>
          <p:cNvPr id="13" name="Rectangle 12">
            <a:extLst>
              <a:ext uri="{FF2B5EF4-FFF2-40B4-BE49-F238E27FC236}">
                <a16:creationId xmlns:a16="http://schemas.microsoft.com/office/drawing/2014/main" id="{9A0A899D-4DDD-0B0A-6455-C3C076B85242}"/>
              </a:ext>
            </a:extLst>
          </p:cNvPr>
          <p:cNvSpPr/>
          <p:nvPr/>
        </p:nvSpPr>
        <p:spPr>
          <a:xfrm>
            <a:off x="4508500" y="2349500"/>
            <a:ext cx="3175000" cy="30480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CE30FBA-E1DF-08CE-8EAE-29D6B2EDBBD8}"/>
              </a:ext>
            </a:extLst>
          </p:cNvPr>
          <p:cNvSpPr/>
          <p:nvPr/>
        </p:nvSpPr>
        <p:spPr>
          <a:xfrm>
            <a:off x="4508500" y="2349500"/>
            <a:ext cx="50800" cy="3048000"/>
          </a:xfrm>
          <a:prstGeom prst="rect">
            <a:avLst/>
          </a:prstGeom>
          <a:solidFill>
            <a:srgbClr val="35D4E8"/>
          </a:solidFill>
          <a:ln>
            <a:solidFill>
              <a:srgbClr val="35D4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96F1352A-8954-F751-E428-F4A644E05535}"/>
              </a:ext>
            </a:extLst>
          </p:cNvPr>
          <p:cNvSpPr txBox="1"/>
          <p:nvPr/>
        </p:nvSpPr>
        <p:spPr>
          <a:xfrm>
            <a:off x="4737100" y="2565400"/>
            <a:ext cx="2717800" cy="276999"/>
          </a:xfrm>
          <a:prstGeom prst="rect">
            <a:avLst/>
          </a:prstGeom>
          <a:noFill/>
        </p:spPr>
        <p:txBody>
          <a:bodyPr vert="horz" wrap="square" lIns="0" tIns="0" rIns="0" bIns="0" rtlCol="0">
            <a:noAutofit/>
          </a:bodyPr>
          <a:lstStyle/>
          <a:p>
            <a:pPr>
              <a:spcAft>
                <a:spcPts val="700"/>
              </a:spcAft>
            </a:pPr>
            <a:r>
              <a:rPr lang="en-US" sz="2000" b="1">
                <a:solidFill>
                  <a:srgbClr val="35D4E8"/>
                </a:solidFill>
                <a:latin typeface="Aptos" panose="020B0004020202020204" pitchFamily="34" charset="0"/>
              </a:rPr>
              <a:t>HUB</a:t>
            </a:r>
          </a:p>
        </p:txBody>
      </p:sp>
      <p:sp>
        <p:nvSpPr>
          <p:cNvPr id="16" name="TextBox 15">
            <a:extLst>
              <a:ext uri="{FF2B5EF4-FFF2-40B4-BE49-F238E27FC236}">
                <a16:creationId xmlns:a16="http://schemas.microsoft.com/office/drawing/2014/main" id="{0412AB7F-F96B-B747-7901-7831955E3C30}"/>
              </a:ext>
            </a:extLst>
          </p:cNvPr>
          <p:cNvSpPr txBox="1"/>
          <p:nvPr/>
        </p:nvSpPr>
        <p:spPr>
          <a:xfrm>
            <a:off x="4737100" y="3340100"/>
            <a:ext cx="2717800" cy="276999"/>
          </a:xfrm>
          <a:prstGeom prst="rect">
            <a:avLst/>
          </a:prstGeom>
          <a:noFill/>
        </p:spPr>
        <p:txBody>
          <a:bodyPr vert="horz" wrap="square" lIns="0" tIns="0" rIns="0" bIns="0" rtlCol="0">
            <a:noAutofit/>
          </a:bodyPr>
          <a:lstStyle/>
          <a:p>
            <a:pPr>
              <a:spcAft>
                <a:spcPts val="700"/>
              </a:spcAft>
            </a:pPr>
            <a:r>
              <a:rPr lang="en-US" sz="1700">
                <a:solidFill>
                  <a:srgbClr val="F2F6FC"/>
                </a:solidFill>
                <a:latin typeface="Aptos" panose="020B0004020202020204" pitchFamily="34" charset="0"/>
              </a:rPr>
              <a:t>vnet-hub | 172.16.0.0/12
Routing subnet: /24
Managed appliance: 10 Gbps
Azure Bastion: admin access</a:t>
            </a:r>
          </a:p>
        </p:txBody>
      </p:sp>
      <p:sp>
        <p:nvSpPr>
          <p:cNvPr id="17" name="Rectangle 16">
            <a:extLst>
              <a:ext uri="{FF2B5EF4-FFF2-40B4-BE49-F238E27FC236}">
                <a16:creationId xmlns:a16="http://schemas.microsoft.com/office/drawing/2014/main" id="{07E3048C-ECE2-D8D8-DC62-FD61EA8270D2}"/>
              </a:ext>
            </a:extLst>
          </p:cNvPr>
          <p:cNvSpPr/>
          <p:nvPr/>
        </p:nvSpPr>
        <p:spPr>
          <a:xfrm>
            <a:off x="8509000" y="2590800"/>
            <a:ext cx="3175000" cy="25654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00D46BF-C386-985D-70BB-A4B605D805D4}"/>
              </a:ext>
            </a:extLst>
          </p:cNvPr>
          <p:cNvSpPr/>
          <p:nvPr/>
        </p:nvSpPr>
        <p:spPr>
          <a:xfrm>
            <a:off x="8509000" y="2590800"/>
            <a:ext cx="50800" cy="2565400"/>
          </a:xfrm>
          <a:prstGeom prst="rect">
            <a:avLst/>
          </a:prstGeom>
          <a:solidFill>
            <a:srgbClr val="35D4E8"/>
          </a:solidFill>
          <a:ln>
            <a:solidFill>
              <a:srgbClr val="35D4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0E91B927-D95C-D9DA-F1E6-ABDD10451F1A}"/>
              </a:ext>
            </a:extLst>
          </p:cNvPr>
          <p:cNvSpPr txBox="1"/>
          <p:nvPr/>
        </p:nvSpPr>
        <p:spPr>
          <a:xfrm>
            <a:off x="8737600" y="2806700"/>
            <a:ext cx="2717800" cy="276999"/>
          </a:xfrm>
          <a:prstGeom prst="rect">
            <a:avLst/>
          </a:prstGeom>
          <a:noFill/>
        </p:spPr>
        <p:txBody>
          <a:bodyPr vert="horz" wrap="square" lIns="0" tIns="0" rIns="0" bIns="0" rtlCol="0">
            <a:noAutofit/>
          </a:bodyPr>
          <a:lstStyle/>
          <a:p>
            <a:pPr>
              <a:spcAft>
                <a:spcPts val="700"/>
              </a:spcAft>
            </a:pPr>
            <a:r>
              <a:rPr lang="en-US" sz="2000" b="1">
                <a:solidFill>
                  <a:srgbClr val="35D4E8"/>
                </a:solidFill>
                <a:latin typeface="Aptos" panose="020B0004020202020204" pitchFamily="34" charset="0"/>
              </a:rPr>
              <a:t>SPOKE 2</a:t>
            </a:r>
          </a:p>
        </p:txBody>
      </p:sp>
      <p:sp>
        <p:nvSpPr>
          <p:cNvPr id="20" name="TextBox 19">
            <a:extLst>
              <a:ext uri="{FF2B5EF4-FFF2-40B4-BE49-F238E27FC236}">
                <a16:creationId xmlns:a16="http://schemas.microsoft.com/office/drawing/2014/main" id="{F66E6239-9B30-074A-F1C7-CD8011370815}"/>
              </a:ext>
            </a:extLst>
          </p:cNvPr>
          <p:cNvSpPr txBox="1"/>
          <p:nvPr/>
        </p:nvSpPr>
        <p:spPr>
          <a:xfrm>
            <a:off x="8737600" y="3581400"/>
            <a:ext cx="2717800" cy="276999"/>
          </a:xfrm>
          <a:prstGeom prst="rect">
            <a:avLst/>
          </a:prstGeom>
          <a:noFill/>
        </p:spPr>
        <p:txBody>
          <a:bodyPr vert="horz" wrap="square" lIns="0" tIns="0" rIns="0" bIns="0" rtlCol="0">
            <a:noAutofit/>
          </a:bodyPr>
          <a:lstStyle/>
          <a:p>
            <a:pPr>
              <a:spcAft>
                <a:spcPts val="700"/>
              </a:spcAft>
            </a:pPr>
            <a:r>
              <a:rPr lang="en-US" sz="1700">
                <a:solidFill>
                  <a:srgbClr val="F2F6FC"/>
                </a:solidFill>
                <a:latin typeface="Aptos" panose="020B0004020202020204" pitchFamily="34" charset="0"/>
              </a:rPr>
              <a:t>vnet-spoke2
10.2.0.0/16
Workload: 10.2.0.0/24
vm-linux-spoke2</a:t>
            </a:r>
          </a:p>
        </p:txBody>
      </p:sp>
      <p:cxnSp>
        <p:nvCxnSpPr>
          <p:cNvPr id="21" name="Straight Connector 20">
            <a:extLst>
              <a:ext uri="{FF2B5EF4-FFF2-40B4-BE49-F238E27FC236}">
                <a16:creationId xmlns:a16="http://schemas.microsoft.com/office/drawing/2014/main" id="{86C41EF8-0A9E-4061-B4BA-2D3AFC6B62E9}"/>
              </a:ext>
            </a:extLst>
          </p:cNvPr>
          <p:cNvCxnSpPr/>
          <p:nvPr/>
        </p:nvCxnSpPr>
        <p:spPr>
          <a:xfrm>
            <a:off x="3721100" y="3771900"/>
            <a:ext cx="723900" cy="0"/>
          </a:xfrm>
          <a:prstGeom prst="line">
            <a:avLst/>
          </a:prstGeom>
          <a:ln w="38100">
            <a:solidFill>
              <a:srgbClr val="35D4E8"/>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655BC43B-ABA0-42F5-16BA-969F79396D98}"/>
              </a:ext>
            </a:extLst>
          </p:cNvPr>
          <p:cNvCxnSpPr/>
          <p:nvPr/>
        </p:nvCxnSpPr>
        <p:spPr>
          <a:xfrm>
            <a:off x="7747000" y="3771900"/>
            <a:ext cx="698500" cy="0"/>
          </a:xfrm>
          <a:prstGeom prst="line">
            <a:avLst/>
          </a:prstGeom>
          <a:ln w="38100">
            <a:solidFill>
              <a:srgbClr val="35D4E8"/>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3CFD2462-FD55-83D7-3996-EB40555CD5DA}"/>
              </a:ext>
            </a:extLst>
          </p:cNvPr>
          <p:cNvSpPr txBox="1"/>
          <p:nvPr/>
        </p:nvSpPr>
        <p:spPr>
          <a:xfrm>
            <a:off x="508000" y="5727700"/>
            <a:ext cx="11176000" cy="276999"/>
          </a:xfrm>
          <a:prstGeom prst="rect">
            <a:avLst/>
          </a:prstGeom>
          <a:noFill/>
        </p:spPr>
        <p:txBody>
          <a:bodyPr vert="horz" wrap="square" lIns="0" tIns="0" rIns="0" bIns="0" rtlCol="0">
            <a:noAutofit/>
          </a:bodyPr>
          <a:lstStyle/>
          <a:p>
            <a:pPr>
              <a:spcAft>
                <a:spcPts val="700"/>
              </a:spcAft>
            </a:pPr>
            <a:r>
              <a:rPr lang="en-US" sz="1500" b="1">
                <a:solidFill>
                  <a:srgbClr val="35D4E8"/>
                </a:solidFill>
                <a:latin typeface="Aptos" panose="020B0004020202020204" pitchFamily="34" charset="0"/>
              </a:rPr>
              <a:t>Traffic path: workload VM -&gt; hub routing appliance -&gt; remote workload VM</a:t>
            </a:r>
          </a:p>
        </p:txBody>
      </p:sp>
    </p:spTree>
    <p:extLst>
      <p:ext uri="{BB962C8B-B14F-4D97-AF65-F5344CB8AC3E}">
        <p14:creationId xmlns:p14="http://schemas.microsoft.com/office/powerpoint/2010/main" val="16582277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C183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52F53A6-E8E7-ED7D-B2A2-1987B2A1EB78}"/>
              </a:ext>
            </a:extLst>
          </p:cNvPr>
          <p:cNvSpPr/>
          <p:nvPr/>
        </p:nvSpPr>
        <p:spPr>
          <a:xfrm>
            <a:off x="0" y="0"/>
            <a:ext cx="12192000" cy="63500"/>
          </a:xfrm>
          <a:prstGeom prst="rect">
            <a:avLst/>
          </a:prstGeom>
          <a:solidFill>
            <a:srgbClr val="35D4E8"/>
          </a:solidFill>
          <a:ln>
            <a:solidFill>
              <a:srgbClr val="35D4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23A141E-B986-ACE2-5FAB-B86A7B789766}"/>
              </a:ext>
            </a:extLst>
          </p:cNvPr>
          <p:cNvSpPr txBox="1"/>
          <p:nvPr/>
        </p:nvSpPr>
        <p:spPr>
          <a:xfrm>
            <a:off x="508000" y="292100"/>
            <a:ext cx="10795000" cy="276999"/>
          </a:xfrm>
          <a:prstGeom prst="rect">
            <a:avLst/>
          </a:prstGeom>
          <a:noFill/>
        </p:spPr>
        <p:txBody>
          <a:bodyPr vert="horz" wrap="square" lIns="0" tIns="0" rIns="0" bIns="0" rtlCol="0">
            <a:noAutofit/>
          </a:bodyPr>
          <a:lstStyle/>
          <a:p>
            <a:pPr>
              <a:spcAft>
                <a:spcPts val="700"/>
              </a:spcAft>
            </a:pPr>
            <a:r>
              <a:rPr lang="en-US" sz="1000" b="1">
                <a:solidFill>
                  <a:srgbClr val="35D4E8"/>
                </a:solidFill>
                <a:latin typeface="Aptos" panose="020B0004020202020204" pitchFamily="34" charset="0"/>
              </a:rPr>
              <a:t>04 / ADDRESS PLAN</a:t>
            </a:r>
          </a:p>
        </p:txBody>
      </p:sp>
      <p:sp>
        <p:nvSpPr>
          <p:cNvPr id="4" name="TextBox 3">
            <a:extLst>
              <a:ext uri="{FF2B5EF4-FFF2-40B4-BE49-F238E27FC236}">
                <a16:creationId xmlns:a16="http://schemas.microsoft.com/office/drawing/2014/main" id="{1499C995-ABAD-D1B2-EC47-178DD1B051C1}"/>
              </a:ext>
            </a:extLst>
          </p:cNvPr>
          <p:cNvSpPr txBox="1"/>
          <p:nvPr/>
        </p:nvSpPr>
        <p:spPr>
          <a:xfrm>
            <a:off x="508000" y="723900"/>
            <a:ext cx="11176000" cy="276999"/>
          </a:xfrm>
          <a:prstGeom prst="rect">
            <a:avLst/>
          </a:prstGeom>
          <a:noFill/>
        </p:spPr>
        <p:txBody>
          <a:bodyPr vert="horz" wrap="square" lIns="0" tIns="0" rIns="0" bIns="0" rtlCol="0">
            <a:noAutofit/>
          </a:bodyPr>
          <a:lstStyle/>
          <a:p>
            <a:pPr>
              <a:spcAft>
                <a:spcPts val="700"/>
              </a:spcAft>
            </a:pPr>
            <a:r>
              <a:rPr lang="en-US" sz="3000" b="1">
                <a:solidFill>
                  <a:srgbClr val="F2F6FC"/>
                </a:solidFill>
                <a:latin typeface="Aptos" panose="020B0004020202020204" pitchFamily="34" charset="0"/>
              </a:rPr>
              <a:t>Know the prefixes before reading the routes</a:t>
            </a:r>
          </a:p>
        </p:txBody>
      </p:sp>
      <p:sp>
        <p:nvSpPr>
          <p:cNvPr id="5" name="Rectangle 4">
            <a:extLst>
              <a:ext uri="{FF2B5EF4-FFF2-40B4-BE49-F238E27FC236}">
                <a16:creationId xmlns:a16="http://schemas.microsoft.com/office/drawing/2014/main" id="{9745C7ED-2D0A-77C9-46E1-AC539C448D5A}"/>
              </a:ext>
            </a:extLst>
          </p:cNvPr>
          <p:cNvSpPr/>
          <p:nvPr/>
        </p:nvSpPr>
        <p:spPr>
          <a:xfrm>
            <a:off x="508000" y="6413500"/>
            <a:ext cx="11176000" cy="12700"/>
          </a:xfrm>
          <a:prstGeom prst="rect">
            <a:avLst/>
          </a:prstGeom>
          <a:solidFill>
            <a:srgbClr val="31415B"/>
          </a:solidFill>
          <a:ln>
            <a:solidFill>
              <a:srgbClr val="3141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7E059F1-9102-0572-9323-1904FEEE884B}"/>
              </a:ext>
            </a:extLst>
          </p:cNvPr>
          <p:cNvSpPr txBox="1"/>
          <p:nvPr/>
        </p:nvSpPr>
        <p:spPr>
          <a:xfrm>
            <a:off x="508000" y="6553200"/>
            <a:ext cx="8890000" cy="276999"/>
          </a:xfrm>
          <a:prstGeom prst="rect">
            <a:avLst/>
          </a:prstGeom>
          <a:noFill/>
        </p:spPr>
        <p:txBody>
          <a:bodyPr vert="horz" wrap="square" lIns="0" tIns="0" rIns="0" bIns="0" rtlCol="0">
            <a:noAutofit/>
          </a:bodyPr>
          <a:lstStyle/>
          <a:p>
            <a:pPr>
              <a:spcAft>
                <a:spcPts val="700"/>
              </a:spcAft>
            </a:pPr>
            <a:r>
              <a:rPr lang="en-US" sz="900">
                <a:solidFill>
                  <a:srgbClr val="B6C5D9"/>
                </a:solidFill>
                <a:latin typeface="Aptos" panose="020B0004020202020204" pitchFamily="34" charset="0"/>
              </a:rPr>
              <a:t>AZURE NETWORK COURSE  /  LAB 240</a:t>
            </a:r>
          </a:p>
        </p:txBody>
      </p:sp>
      <p:sp>
        <p:nvSpPr>
          <p:cNvPr id="7" name="TextBox 6">
            <a:extLst>
              <a:ext uri="{FF2B5EF4-FFF2-40B4-BE49-F238E27FC236}">
                <a16:creationId xmlns:a16="http://schemas.microsoft.com/office/drawing/2014/main" id="{9FA22E0B-8DEA-43E2-46BC-9DEA44061A0A}"/>
              </a:ext>
            </a:extLst>
          </p:cNvPr>
          <p:cNvSpPr txBox="1"/>
          <p:nvPr/>
        </p:nvSpPr>
        <p:spPr>
          <a:xfrm>
            <a:off x="11214100" y="6527800"/>
            <a:ext cx="469900" cy="276999"/>
          </a:xfrm>
          <a:prstGeom prst="rect">
            <a:avLst/>
          </a:prstGeom>
          <a:noFill/>
        </p:spPr>
        <p:txBody>
          <a:bodyPr vert="horz" wrap="square" lIns="0" tIns="0" rIns="0" bIns="0" rtlCol="0">
            <a:noAutofit/>
          </a:bodyPr>
          <a:lstStyle/>
          <a:p>
            <a:pPr>
              <a:spcAft>
                <a:spcPts val="700"/>
              </a:spcAft>
            </a:pPr>
            <a:r>
              <a:rPr lang="en-US" sz="1100" b="1">
                <a:solidFill>
                  <a:srgbClr val="35D4E8"/>
                </a:solidFill>
                <a:latin typeface="Aptos" panose="020B0004020202020204" pitchFamily="34" charset="0"/>
              </a:rPr>
              <a:t>05</a:t>
            </a:r>
          </a:p>
        </p:txBody>
      </p:sp>
      <p:sp>
        <p:nvSpPr>
          <p:cNvPr id="8" name="Rectangle 7">
            <a:extLst>
              <a:ext uri="{FF2B5EF4-FFF2-40B4-BE49-F238E27FC236}">
                <a16:creationId xmlns:a16="http://schemas.microsoft.com/office/drawing/2014/main" id="{10F76551-BFA5-6C6D-D74D-8B0A653B419A}"/>
              </a:ext>
            </a:extLst>
          </p:cNvPr>
          <p:cNvSpPr/>
          <p:nvPr/>
        </p:nvSpPr>
        <p:spPr>
          <a:xfrm>
            <a:off x="508000" y="2222500"/>
            <a:ext cx="3810000" cy="558800"/>
          </a:xfrm>
          <a:prstGeom prst="rect">
            <a:avLst/>
          </a:prstGeom>
          <a:solidFill>
            <a:srgbClr val="234569"/>
          </a:solidFill>
          <a:ln>
            <a:solidFill>
              <a:srgbClr val="23456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C3612FC-11B7-8776-ACEB-0563A563F189}"/>
              </a:ext>
            </a:extLst>
          </p:cNvPr>
          <p:cNvSpPr txBox="1"/>
          <p:nvPr/>
        </p:nvSpPr>
        <p:spPr>
          <a:xfrm>
            <a:off x="635000" y="2336800"/>
            <a:ext cx="3556000" cy="276999"/>
          </a:xfrm>
          <a:prstGeom prst="rect">
            <a:avLst/>
          </a:prstGeom>
          <a:noFill/>
        </p:spPr>
        <p:txBody>
          <a:bodyPr vert="horz" wrap="square" lIns="0" tIns="0" rIns="0" bIns="0" rtlCol="0">
            <a:noAutofit/>
          </a:bodyPr>
          <a:lstStyle/>
          <a:p>
            <a:pPr>
              <a:spcAft>
                <a:spcPts val="700"/>
              </a:spcAft>
            </a:pPr>
            <a:r>
              <a:rPr lang="en-US" sz="1500" b="1">
                <a:solidFill>
                  <a:srgbClr val="F2F6FC"/>
                </a:solidFill>
                <a:latin typeface="Aptos" panose="020B0004020202020204" pitchFamily="34" charset="0"/>
              </a:rPr>
              <a:t>Resource</a:t>
            </a:r>
          </a:p>
        </p:txBody>
      </p:sp>
      <p:sp>
        <p:nvSpPr>
          <p:cNvPr id="10" name="Rectangle 9">
            <a:extLst>
              <a:ext uri="{FF2B5EF4-FFF2-40B4-BE49-F238E27FC236}">
                <a16:creationId xmlns:a16="http://schemas.microsoft.com/office/drawing/2014/main" id="{E64491F6-BAD1-85DB-AE54-782717780F9D}"/>
              </a:ext>
            </a:extLst>
          </p:cNvPr>
          <p:cNvSpPr/>
          <p:nvPr/>
        </p:nvSpPr>
        <p:spPr>
          <a:xfrm>
            <a:off x="4318000" y="2222500"/>
            <a:ext cx="3556000" cy="558800"/>
          </a:xfrm>
          <a:prstGeom prst="rect">
            <a:avLst/>
          </a:prstGeom>
          <a:solidFill>
            <a:srgbClr val="234569"/>
          </a:solidFill>
          <a:ln>
            <a:solidFill>
              <a:srgbClr val="23456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B345915-980B-75F3-ED61-6B0ED238A58A}"/>
              </a:ext>
            </a:extLst>
          </p:cNvPr>
          <p:cNvSpPr txBox="1"/>
          <p:nvPr/>
        </p:nvSpPr>
        <p:spPr>
          <a:xfrm>
            <a:off x="4445000" y="2336800"/>
            <a:ext cx="3302000" cy="276999"/>
          </a:xfrm>
          <a:prstGeom prst="rect">
            <a:avLst/>
          </a:prstGeom>
          <a:noFill/>
        </p:spPr>
        <p:txBody>
          <a:bodyPr vert="horz" wrap="square" lIns="0" tIns="0" rIns="0" bIns="0" rtlCol="0">
            <a:noAutofit/>
          </a:bodyPr>
          <a:lstStyle/>
          <a:p>
            <a:pPr>
              <a:spcAft>
                <a:spcPts val="700"/>
              </a:spcAft>
            </a:pPr>
            <a:r>
              <a:rPr lang="en-US" sz="1500" b="1">
                <a:solidFill>
                  <a:srgbClr val="F2F6FC"/>
                </a:solidFill>
                <a:latin typeface="Aptos" panose="020B0004020202020204" pitchFamily="34" charset="0"/>
              </a:rPr>
              <a:t>Prefix / setting</a:t>
            </a:r>
          </a:p>
        </p:txBody>
      </p:sp>
      <p:sp>
        <p:nvSpPr>
          <p:cNvPr id="12" name="Rectangle 11">
            <a:extLst>
              <a:ext uri="{FF2B5EF4-FFF2-40B4-BE49-F238E27FC236}">
                <a16:creationId xmlns:a16="http://schemas.microsoft.com/office/drawing/2014/main" id="{A1F9E102-02DC-FDC2-C165-6F22BC6184A2}"/>
              </a:ext>
            </a:extLst>
          </p:cNvPr>
          <p:cNvSpPr/>
          <p:nvPr/>
        </p:nvSpPr>
        <p:spPr>
          <a:xfrm>
            <a:off x="7874000" y="2222500"/>
            <a:ext cx="3810000" cy="558800"/>
          </a:xfrm>
          <a:prstGeom prst="rect">
            <a:avLst/>
          </a:prstGeom>
          <a:solidFill>
            <a:srgbClr val="234569"/>
          </a:solidFill>
          <a:ln>
            <a:solidFill>
              <a:srgbClr val="23456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EC5F19F7-7DE2-2E37-5E0C-057D81805596}"/>
              </a:ext>
            </a:extLst>
          </p:cNvPr>
          <p:cNvSpPr txBox="1"/>
          <p:nvPr/>
        </p:nvSpPr>
        <p:spPr>
          <a:xfrm>
            <a:off x="8001000" y="2336800"/>
            <a:ext cx="3556000" cy="276999"/>
          </a:xfrm>
          <a:prstGeom prst="rect">
            <a:avLst/>
          </a:prstGeom>
          <a:noFill/>
        </p:spPr>
        <p:txBody>
          <a:bodyPr vert="horz" wrap="square" lIns="0" tIns="0" rIns="0" bIns="0" rtlCol="0">
            <a:noAutofit/>
          </a:bodyPr>
          <a:lstStyle/>
          <a:p>
            <a:pPr>
              <a:spcAft>
                <a:spcPts val="700"/>
              </a:spcAft>
            </a:pPr>
            <a:r>
              <a:rPr lang="en-US" sz="1500" b="1">
                <a:solidFill>
                  <a:srgbClr val="F2F6FC"/>
                </a:solidFill>
                <a:latin typeface="Aptos" panose="020B0004020202020204" pitchFamily="34" charset="0"/>
              </a:rPr>
              <a:t>Role</a:t>
            </a:r>
          </a:p>
        </p:txBody>
      </p:sp>
      <p:sp>
        <p:nvSpPr>
          <p:cNvPr id="14" name="Rectangle 13">
            <a:extLst>
              <a:ext uri="{FF2B5EF4-FFF2-40B4-BE49-F238E27FC236}">
                <a16:creationId xmlns:a16="http://schemas.microsoft.com/office/drawing/2014/main" id="{AFD538D5-EEE6-4A5C-35D5-624122597D52}"/>
              </a:ext>
            </a:extLst>
          </p:cNvPr>
          <p:cNvSpPr/>
          <p:nvPr/>
        </p:nvSpPr>
        <p:spPr>
          <a:xfrm>
            <a:off x="508000" y="2806700"/>
            <a:ext cx="3810000" cy="5588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DB62DBA4-78F2-901B-BFAE-715A723ED2D3}"/>
              </a:ext>
            </a:extLst>
          </p:cNvPr>
          <p:cNvSpPr txBox="1"/>
          <p:nvPr/>
        </p:nvSpPr>
        <p:spPr>
          <a:xfrm>
            <a:off x="635000" y="2921000"/>
            <a:ext cx="3556000" cy="276999"/>
          </a:xfrm>
          <a:prstGeom prst="rect">
            <a:avLst/>
          </a:prstGeom>
          <a:noFill/>
        </p:spPr>
        <p:txBody>
          <a:bodyPr vert="horz" wrap="square" lIns="0" tIns="0" rIns="0" bIns="0" rtlCol="0">
            <a:noAutofit/>
          </a:bodyPr>
          <a:lstStyle/>
          <a:p>
            <a:pPr>
              <a:spcAft>
                <a:spcPts val="700"/>
              </a:spcAft>
            </a:pPr>
            <a:r>
              <a:rPr lang="en-US" sz="1500">
                <a:solidFill>
                  <a:srgbClr val="F2F6FC"/>
                </a:solidFill>
                <a:latin typeface="Aptos" panose="020B0004020202020204" pitchFamily="34" charset="0"/>
              </a:rPr>
              <a:t>Hub VNet</a:t>
            </a:r>
          </a:p>
        </p:txBody>
      </p:sp>
      <p:sp>
        <p:nvSpPr>
          <p:cNvPr id="16" name="Rectangle 15">
            <a:extLst>
              <a:ext uri="{FF2B5EF4-FFF2-40B4-BE49-F238E27FC236}">
                <a16:creationId xmlns:a16="http://schemas.microsoft.com/office/drawing/2014/main" id="{74804BEE-4A5E-F77F-39D9-ED5046A13660}"/>
              </a:ext>
            </a:extLst>
          </p:cNvPr>
          <p:cNvSpPr/>
          <p:nvPr/>
        </p:nvSpPr>
        <p:spPr>
          <a:xfrm>
            <a:off x="4318000" y="2806700"/>
            <a:ext cx="3556000" cy="5588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E991F31F-D3AC-0BA6-8689-0CA4CA001663}"/>
              </a:ext>
            </a:extLst>
          </p:cNvPr>
          <p:cNvSpPr txBox="1"/>
          <p:nvPr/>
        </p:nvSpPr>
        <p:spPr>
          <a:xfrm>
            <a:off x="4445000" y="2921000"/>
            <a:ext cx="3302000" cy="276999"/>
          </a:xfrm>
          <a:prstGeom prst="rect">
            <a:avLst/>
          </a:prstGeom>
          <a:noFill/>
        </p:spPr>
        <p:txBody>
          <a:bodyPr vert="horz" wrap="square" lIns="0" tIns="0" rIns="0" bIns="0" rtlCol="0">
            <a:noAutofit/>
          </a:bodyPr>
          <a:lstStyle/>
          <a:p>
            <a:pPr>
              <a:spcAft>
                <a:spcPts val="700"/>
              </a:spcAft>
            </a:pPr>
            <a:r>
              <a:rPr lang="en-US" sz="1500">
                <a:solidFill>
                  <a:srgbClr val="F2F6FC"/>
                </a:solidFill>
                <a:latin typeface="Aptos" panose="020B0004020202020204" pitchFamily="34" charset="0"/>
              </a:rPr>
              <a:t>172.16.0.0/12</a:t>
            </a:r>
          </a:p>
        </p:txBody>
      </p:sp>
      <p:sp>
        <p:nvSpPr>
          <p:cNvPr id="18" name="Rectangle 17">
            <a:extLst>
              <a:ext uri="{FF2B5EF4-FFF2-40B4-BE49-F238E27FC236}">
                <a16:creationId xmlns:a16="http://schemas.microsoft.com/office/drawing/2014/main" id="{E0188C30-D92C-684C-6783-3AC6F57389AD}"/>
              </a:ext>
            </a:extLst>
          </p:cNvPr>
          <p:cNvSpPr/>
          <p:nvPr/>
        </p:nvSpPr>
        <p:spPr>
          <a:xfrm>
            <a:off x="7874000" y="2806700"/>
            <a:ext cx="3810000" cy="5588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A3A34027-851B-D4B2-9E40-9E39D0A1CDC2}"/>
              </a:ext>
            </a:extLst>
          </p:cNvPr>
          <p:cNvSpPr txBox="1"/>
          <p:nvPr/>
        </p:nvSpPr>
        <p:spPr>
          <a:xfrm>
            <a:off x="8001000" y="2921000"/>
            <a:ext cx="3556000" cy="276999"/>
          </a:xfrm>
          <a:prstGeom prst="rect">
            <a:avLst/>
          </a:prstGeom>
          <a:noFill/>
        </p:spPr>
        <p:txBody>
          <a:bodyPr vert="horz" wrap="square" lIns="0" tIns="0" rIns="0" bIns="0" rtlCol="0">
            <a:noAutofit/>
          </a:bodyPr>
          <a:lstStyle/>
          <a:p>
            <a:pPr>
              <a:spcAft>
                <a:spcPts val="700"/>
              </a:spcAft>
            </a:pPr>
            <a:r>
              <a:rPr lang="en-US" sz="1500">
                <a:solidFill>
                  <a:srgbClr val="F2F6FC"/>
                </a:solidFill>
                <a:latin typeface="Aptos" panose="020B0004020202020204" pitchFamily="34" charset="0"/>
              </a:rPr>
              <a:t>Shared connectivity</a:t>
            </a:r>
          </a:p>
        </p:txBody>
      </p:sp>
      <p:sp>
        <p:nvSpPr>
          <p:cNvPr id="20" name="Rectangle 19">
            <a:extLst>
              <a:ext uri="{FF2B5EF4-FFF2-40B4-BE49-F238E27FC236}">
                <a16:creationId xmlns:a16="http://schemas.microsoft.com/office/drawing/2014/main" id="{B323CA72-EF99-4343-908F-C90865B27717}"/>
              </a:ext>
            </a:extLst>
          </p:cNvPr>
          <p:cNvSpPr/>
          <p:nvPr/>
        </p:nvSpPr>
        <p:spPr>
          <a:xfrm>
            <a:off x="508000" y="3390900"/>
            <a:ext cx="3810000" cy="558800"/>
          </a:xfrm>
          <a:prstGeom prst="rect">
            <a:avLst/>
          </a:prstGeom>
          <a:solidFill>
            <a:srgbClr val="192E4A"/>
          </a:solidFill>
          <a:ln>
            <a:solidFill>
              <a:srgbClr val="192E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74C4F181-A861-9264-EDCB-86C609E77120}"/>
              </a:ext>
            </a:extLst>
          </p:cNvPr>
          <p:cNvSpPr txBox="1"/>
          <p:nvPr/>
        </p:nvSpPr>
        <p:spPr>
          <a:xfrm>
            <a:off x="635000" y="3505200"/>
            <a:ext cx="3556000" cy="276999"/>
          </a:xfrm>
          <a:prstGeom prst="rect">
            <a:avLst/>
          </a:prstGeom>
          <a:noFill/>
        </p:spPr>
        <p:txBody>
          <a:bodyPr vert="horz" wrap="square" lIns="0" tIns="0" rIns="0" bIns="0" rtlCol="0">
            <a:noAutofit/>
          </a:bodyPr>
          <a:lstStyle/>
          <a:p>
            <a:pPr>
              <a:spcAft>
                <a:spcPts val="700"/>
              </a:spcAft>
            </a:pPr>
            <a:r>
              <a:rPr lang="en-US" sz="1500">
                <a:solidFill>
                  <a:srgbClr val="F2F6FC"/>
                </a:solidFill>
                <a:latin typeface="Aptos" panose="020B0004020202020204" pitchFamily="34" charset="0"/>
              </a:rPr>
              <a:t>VirtualNetworkApplianceSubnet</a:t>
            </a:r>
          </a:p>
        </p:txBody>
      </p:sp>
      <p:sp>
        <p:nvSpPr>
          <p:cNvPr id="22" name="Rectangle 21">
            <a:extLst>
              <a:ext uri="{FF2B5EF4-FFF2-40B4-BE49-F238E27FC236}">
                <a16:creationId xmlns:a16="http://schemas.microsoft.com/office/drawing/2014/main" id="{2ADBA875-532C-EB5A-65A5-8B60DA982BAB}"/>
              </a:ext>
            </a:extLst>
          </p:cNvPr>
          <p:cNvSpPr/>
          <p:nvPr/>
        </p:nvSpPr>
        <p:spPr>
          <a:xfrm>
            <a:off x="4318000" y="3390900"/>
            <a:ext cx="3556000" cy="558800"/>
          </a:xfrm>
          <a:prstGeom prst="rect">
            <a:avLst/>
          </a:prstGeom>
          <a:solidFill>
            <a:srgbClr val="192E4A"/>
          </a:solidFill>
          <a:ln>
            <a:solidFill>
              <a:srgbClr val="192E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80957D83-9051-4ABF-5743-3DD20840D1B4}"/>
              </a:ext>
            </a:extLst>
          </p:cNvPr>
          <p:cNvSpPr txBox="1"/>
          <p:nvPr/>
        </p:nvSpPr>
        <p:spPr>
          <a:xfrm>
            <a:off x="4445000" y="3505200"/>
            <a:ext cx="3302000" cy="276999"/>
          </a:xfrm>
          <a:prstGeom prst="rect">
            <a:avLst/>
          </a:prstGeom>
          <a:noFill/>
        </p:spPr>
        <p:txBody>
          <a:bodyPr vert="horz" wrap="square" lIns="0" tIns="0" rIns="0" bIns="0" rtlCol="0">
            <a:noAutofit/>
          </a:bodyPr>
          <a:lstStyle/>
          <a:p>
            <a:pPr>
              <a:spcAft>
                <a:spcPts val="700"/>
              </a:spcAft>
            </a:pPr>
            <a:r>
              <a:rPr lang="en-US" sz="1500">
                <a:solidFill>
                  <a:srgbClr val="F2F6FC"/>
                </a:solidFill>
                <a:latin typeface="Aptos" panose="020B0004020202020204" pitchFamily="34" charset="0"/>
              </a:rPr>
              <a:t>172.16.0.0/24</a:t>
            </a:r>
          </a:p>
        </p:txBody>
      </p:sp>
      <p:sp>
        <p:nvSpPr>
          <p:cNvPr id="24" name="Rectangle 23">
            <a:extLst>
              <a:ext uri="{FF2B5EF4-FFF2-40B4-BE49-F238E27FC236}">
                <a16:creationId xmlns:a16="http://schemas.microsoft.com/office/drawing/2014/main" id="{2E4BCE25-44B7-7419-A786-86F64D3760AD}"/>
              </a:ext>
            </a:extLst>
          </p:cNvPr>
          <p:cNvSpPr/>
          <p:nvPr/>
        </p:nvSpPr>
        <p:spPr>
          <a:xfrm>
            <a:off x="7874000" y="3390900"/>
            <a:ext cx="3810000" cy="558800"/>
          </a:xfrm>
          <a:prstGeom prst="rect">
            <a:avLst/>
          </a:prstGeom>
          <a:solidFill>
            <a:srgbClr val="192E4A"/>
          </a:solidFill>
          <a:ln>
            <a:solidFill>
              <a:srgbClr val="192E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0479C202-4CC9-67B8-39FF-21D5550896A3}"/>
              </a:ext>
            </a:extLst>
          </p:cNvPr>
          <p:cNvSpPr txBox="1"/>
          <p:nvPr/>
        </p:nvSpPr>
        <p:spPr>
          <a:xfrm>
            <a:off x="8001000" y="3505200"/>
            <a:ext cx="3556000" cy="276999"/>
          </a:xfrm>
          <a:prstGeom prst="rect">
            <a:avLst/>
          </a:prstGeom>
          <a:noFill/>
        </p:spPr>
        <p:txBody>
          <a:bodyPr vert="horz" wrap="square" lIns="0" tIns="0" rIns="0" bIns="0" rtlCol="0">
            <a:noAutofit/>
          </a:bodyPr>
          <a:lstStyle/>
          <a:p>
            <a:pPr>
              <a:spcAft>
                <a:spcPts val="700"/>
              </a:spcAft>
            </a:pPr>
            <a:r>
              <a:rPr lang="en-US" sz="1500">
                <a:solidFill>
                  <a:srgbClr val="F2F6FC"/>
                </a:solidFill>
                <a:latin typeface="Aptos" panose="020B0004020202020204" pitchFamily="34" charset="0"/>
              </a:rPr>
              <a:t>Dedicated managed appliance</a:t>
            </a:r>
          </a:p>
        </p:txBody>
      </p:sp>
      <p:sp>
        <p:nvSpPr>
          <p:cNvPr id="26" name="Rectangle 25">
            <a:extLst>
              <a:ext uri="{FF2B5EF4-FFF2-40B4-BE49-F238E27FC236}">
                <a16:creationId xmlns:a16="http://schemas.microsoft.com/office/drawing/2014/main" id="{BE85219B-3688-2A07-4D66-5988E7042FC1}"/>
              </a:ext>
            </a:extLst>
          </p:cNvPr>
          <p:cNvSpPr/>
          <p:nvPr/>
        </p:nvSpPr>
        <p:spPr>
          <a:xfrm>
            <a:off x="508000" y="3975100"/>
            <a:ext cx="3810000" cy="5588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5889BFBD-73B5-5C3E-51FB-ABFD17A7672A}"/>
              </a:ext>
            </a:extLst>
          </p:cNvPr>
          <p:cNvSpPr txBox="1"/>
          <p:nvPr/>
        </p:nvSpPr>
        <p:spPr>
          <a:xfrm>
            <a:off x="635000" y="4089400"/>
            <a:ext cx="3556000" cy="276999"/>
          </a:xfrm>
          <a:prstGeom prst="rect">
            <a:avLst/>
          </a:prstGeom>
          <a:noFill/>
        </p:spPr>
        <p:txBody>
          <a:bodyPr vert="horz" wrap="square" lIns="0" tIns="0" rIns="0" bIns="0" rtlCol="0">
            <a:noAutofit/>
          </a:bodyPr>
          <a:lstStyle/>
          <a:p>
            <a:pPr>
              <a:spcAft>
                <a:spcPts val="700"/>
              </a:spcAft>
            </a:pPr>
            <a:r>
              <a:rPr lang="en-US" sz="1500">
                <a:solidFill>
                  <a:srgbClr val="F2F6FC"/>
                </a:solidFill>
                <a:latin typeface="Aptos" panose="020B0004020202020204" pitchFamily="34" charset="0"/>
              </a:rPr>
              <a:t>AzureBastionSubnet</a:t>
            </a:r>
          </a:p>
        </p:txBody>
      </p:sp>
      <p:sp>
        <p:nvSpPr>
          <p:cNvPr id="28" name="Rectangle 27">
            <a:extLst>
              <a:ext uri="{FF2B5EF4-FFF2-40B4-BE49-F238E27FC236}">
                <a16:creationId xmlns:a16="http://schemas.microsoft.com/office/drawing/2014/main" id="{51340959-9F58-A2AF-2375-6B6558DC21E1}"/>
              </a:ext>
            </a:extLst>
          </p:cNvPr>
          <p:cNvSpPr/>
          <p:nvPr/>
        </p:nvSpPr>
        <p:spPr>
          <a:xfrm>
            <a:off x="4318000" y="3975100"/>
            <a:ext cx="3556000" cy="5588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1EAFBD14-7E3D-4A5D-E85A-32D1AF3BFCD4}"/>
              </a:ext>
            </a:extLst>
          </p:cNvPr>
          <p:cNvSpPr txBox="1"/>
          <p:nvPr/>
        </p:nvSpPr>
        <p:spPr>
          <a:xfrm>
            <a:off x="4445000" y="4089400"/>
            <a:ext cx="3302000" cy="276999"/>
          </a:xfrm>
          <a:prstGeom prst="rect">
            <a:avLst/>
          </a:prstGeom>
          <a:noFill/>
        </p:spPr>
        <p:txBody>
          <a:bodyPr vert="horz" wrap="square" lIns="0" tIns="0" rIns="0" bIns="0" rtlCol="0">
            <a:noAutofit/>
          </a:bodyPr>
          <a:lstStyle/>
          <a:p>
            <a:pPr>
              <a:spcAft>
                <a:spcPts val="700"/>
              </a:spcAft>
            </a:pPr>
            <a:r>
              <a:rPr lang="en-US" sz="1500">
                <a:solidFill>
                  <a:srgbClr val="F2F6FC"/>
                </a:solidFill>
                <a:latin typeface="Aptos" panose="020B0004020202020204" pitchFamily="34" charset="0"/>
              </a:rPr>
              <a:t>172.16.1.0/27 (as coded)</a:t>
            </a:r>
          </a:p>
        </p:txBody>
      </p:sp>
      <p:sp>
        <p:nvSpPr>
          <p:cNvPr id="30" name="Rectangle 29">
            <a:extLst>
              <a:ext uri="{FF2B5EF4-FFF2-40B4-BE49-F238E27FC236}">
                <a16:creationId xmlns:a16="http://schemas.microsoft.com/office/drawing/2014/main" id="{A6150D12-A3E6-52A2-1420-5F819AEBD8EC}"/>
              </a:ext>
            </a:extLst>
          </p:cNvPr>
          <p:cNvSpPr/>
          <p:nvPr/>
        </p:nvSpPr>
        <p:spPr>
          <a:xfrm>
            <a:off x="7874000" y="3975100"/>
            <a:ext cx="3810000" cy="5588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FD841E9A-F14C-7D6F-B8A1-09D84A6007CD}"/>
              </a:ext>
            </a:extLst>
          </p:cNvPr>
          <p:cNvSpPr txBox="1"/>
          <p:nvPr/>
        </p:nvSpPr>
        <p:spPr>
          <a:xfrm>
            <a:off x="8001000" y="4089400"/>
            <a:ext cx="3556000" cy="276999"/>
          </a:xfrm>
          <a:prstGeom prst="rect">
            <a:avLst/>
          </a:prstGeom>
          <a:noFill/>
        </p:spPr>
        <p:txBody>
          <a:bodyPr vert="horz" wrap="square" lIns="0" tIns="0" rIns="0" bIns="0" rtlCol="0">
            <a:noAutofit/>
          </a:bodyPr>
          <a:lstStyle/>
          <a:p>
            <a:pPr>
              <a:spcAft>
                <a:spcPts val="700"/>
              </a:spcAft>
            </a:pPr>
            <a:r>
              <a:rPr lang="en-US" sz="1500">
                <a:solidFill>
                  <a:srgbClr val="F2F6FC"/>
                </a:solidFill>
                <a:latin typeface="Aptos" panose="020B0004020202020204" pitchFamily="34" charset="0"/>
              </a:rPr>
              <a:t>Admin access; review sizing</a:t>
            </a:r>
          </a:p>
        </p:txBody>
      </p:sp>
      <p:sp>
        <p:nvSpPr>
          <p:cNvPr id="32" name="Rectangle 31">
            <a:extLst>
              <a:ext uri="{FF2B5EF4-FFF2-40B4-BE49-F238E27FC236}">
                <a16:creationId xmlns:a16="http://schemas.microsoft.com/office/drawing/2014/main" id="{C7226602-7851-AE0C-5A95-5C19F5CFC57A}"/>
              </a:ext>
            </a:extLst>
          </p:cNvPr>
          <p:cNvSpPr/>
          <p:nvPr/>
        </p:nvSpPr>
        <p:spPr>
          <a:xfrm>
            <a:off x="508000" y="4559300"/>
            <a:ext cx="3810000" cy="558800"/>
          </a:xfrm>
          <a:prstGeom prst="rect">
            <a:avLst/>
          </a:prstGeom>
          <a:solidFill>
            <a:srgbClr val="192E4A"/>
          </a:solidFill>
          <a:ln>
            <a:solidFill>
              <a:srgbClr val="192E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C9DD7212-A343-2B62-621C-82D713B915D5}"/>
              </a:ext>
            </a:extLst>
          </p:cNvPr>
          <p:cNvSpPr txBox="1"/>
          <p:nvPr/>
        </p:nvSpPr>
        <p:spPr>
          <a:xfrm>
            <a:off x="635000" y="4673600"/>
            <a:ext cx="3556000" cy="276999"/>
          </a:xfrm>
          <a:prstGeom prst="rect">
            <a:avLst/>
          </a:prstGeom>
          <a:noFill/>
        </p:spPr>
        <p:txBody>
          <a:bodyPr vert="horz" wrap="square" lIns="0" tIns="0" rIns="0" bIns="0" rtlCol="0">
            <a:noAutofit/>
          </a:bodyPr>
          <a:lstStyle/>
          <a:p>
            <a:pPr>
              <a:spcAft>
                <a:spcPts val="700"/>
              </a:spcAft>
            </a:pPr>
            <a:r>
              <a:rPr lang="en-US" sz="1500">
                <a:solidFill>
                  <a:srgbClr val="F2F6FC"/>
                </a:solidFill>
                <a:latin typeface="Aptos" panose="020B0004020202020204" pitchFamily="34" charset="0"/>
              </a:rPr>
              <a:t>Spoke 1 workload subnet</a:t>
            </a:r>
          </a:p>
        </p:txBody>
      </p:sp>
      <p:sp>
        <p:nvSpPr>
          <p:cNvPr id="34" name="Rectangle 33">
            <a:extLst>
              <a:ext uri="{FF2B5EF4-FFF2-40B4-BE49-F238E27FC236}">
                <a16:creationId xmlns:a16="http://schemas.microsoft.com/office/drawing/2014/main" id="{449E64E4-36B0-32F8-724D-6A2D6AC1E774}"/>
              </a:ext>
            </a:extLst>
          </p:cNvPr>
          <p:cNvSpPr/>
          <p:nvPr/>
        </p:nvSpPr>
        <p:spPr>
          <a:xfrm>
            <a:off x="4318000" y="4559300"/>
            <a:ext cx="3556000" cy="558800"/>
          </a:xfrm>
          <a:prstGeom prst="rect">
            <a:avLst/>
          </a:prstGeom>
          <a:solidFill>
            <a:srgbClr val="192E4A"/>
          </a:solidFill>
          <a:ln>
            <a:solidFill>
              <a:srgbClr val="192E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C0A9403B-1624-29CA-42E7-FDCADB609E1F}"/>
              </a:ext>
            </a:extLst>
          </p:cNvPr>
          <p:cNvSpPr txBox="1"/>
          <p:nvPr/>
        </p:nvSpPr>
        <p:spPr>
          <a:xfrm>
            <a:off x="4445000" y="4673600"/>
            <a:ext cx="3302000" cy="276999"/>
          </a:xfrm>
          <a:prstGeom prst="rect">
            <a:avLst/>
          </a:prstGeom>
          <a:noFill/>
        </p:spPr>
        <p:txBody>
          <a:bodyPr vert="horz" wrap="square" lIns="0" tIns="0" rIns="0" bIns="0" rtlCol="0">
            <a:noAutofit/>
          </a:bodyPr>
          <a:lstStyle/>
          <a:p>
            <a:pPr>
              <a:spcAft>
                <a:spcPts val="700"/>
              </a:spcAft>
            </a:pPr>
            <a:r>
              <a:rPr lang="en-US" sz="1500">
                <a:solidFill>
                  <a:srgbClr val="F2F6FC"/>
                </a:solidFill>
                <a:latin typeface="Aptos" panose="020B0004020202020204" pitchFamily="34" charset="0"/>
              </a:rPr>
              <a:t>10.1.0.0/24</a:t>
            </a:r>
          </a:p>
        </p:txBody>
      </p:sp>
      <p:sp>
        <p:nvSpPr>
          <p:cNvPr id="36" name="Rectangle 35">
            <a:extLst>
              <a:ext uri="{FF2B5EF4-FFF2-40B4-BE49-F238E27FC236}">
                <a16:creationId xmlns:a16="http://schemas.microsoft.com/office/drawing/2014/main" id="{DA66F02B-08E7-56C6-3465-7CAAA2A53CFB}"/>
              </a:ext>
            </a:extLst>
          </p:cNvPr>
          <p:cNvSpPr/>
          <p:nvPr/>
        </p:nvSpPr>
        <p:spPr>
          <a:xfrm>
            <a:off x="7874000" y="4559300"/>
            <a:ext cx="3810000" cy="558800"/>
          </a:xfrm>
          <a:prstGeom prst="rect">
            <a:avLst/>
          </a:prstGeom>
          <a:solidFill>
            <a:srgbClr val="192E4A"/>
          </a:solidFill>
          <a:ln>
            <a:solidFill>
              <a:srgbClr val="192E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0C8A96B5-FCAC-CC08-502F-B3E57853A86E}"/>
              </a:ext>
            </a:extLst>
          </p:cNvPr>
          <p:cNvSpPr txBox="1"/>
          <p:nvPr/>
        </p:nvSpPr>
        <p:spPr>
          <a:xfrm>
            <a:off x="8001000" y="4673600"/>
            <a:ext cx="3556000" cy="276999"/>
          </a:xfrm>
          <a:prstGeom prst="rect">
            <a:avLst/>
          </a:prstGeom>
          <a:noFill/>
        </p:spPr>
        <p:txBody>
          <a:bodyPr vert="horz" wrap="square" lIns="0" tIns="0" rIns="0" bIns="0" rtlCol="0">
            <a:noAutofit/>
          </a:bodyPr>
          <a:lstStyle/>
          <a:p>
            <a:pPr>
              <a:spcAft>
                <a:spcPts val="700"/>
              </a:spcAft>
            </a:pPr>
            <a:r>
              <a:rPr lang="nl-NL" sz="1500">
                <a:solidFill>
                  <a:srgbClr val="F2F6FC"/>
                </a:solidFill>
                <a:latin typeface="Aptos" panose="020B0004020202020204" pitchFamily="34" charset="0"/>
              </a:rPr>
              <a:t>VM 1; VNet is 10.1.0.0/16</a:t>
            </a:r>
            <a:endParaRPr lang="en-US" sz="1500">
              <a:solidFill>
                <a:srgbClr val="F2F6FC"/>
              </a:solidFill>
              <a:latin typeface="Aptos" panose="020B0004020202020204" pitchFamily="34" charset="0"/>
            </a:endParaRPr>
          </a:p>
        </p:txBody>
      </p:sp>
      <p:sp>
        <p:nvSpPr>
          <p:cNvPr id="38" name="Rectangle 37">
            <a:extLst>
              <a:ext uri="{FF2B5EF4-FFF2-40B4-BE49-F238E27FC236}">
                <a16:creationId xmlns:a16="http://schemas.microsoft.com/office/drawing/2014/main" id="{2EB878A7-516C-DD57-3AC2-0045B0515935}"/>
              </a:ext>
            </a:extLst>
          </p:cNvPr>
          <p:cNvSpPr/>
          <p:nvPr/>
        </p:nvSpPr>
        <p:spPr>
          <a:xfrm>
            <a:off x="508000" y="5143500"/>
            <a:ext cx="3810000" cy="5588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8CF9D37D-78ED-6954-4C38-1BB7022755FB}"/>
              </a:ext>
            </a:extLst>
          </p:cNvPr>
          <p:cNvSpPr txBox="1"/>
          <p:nvPr/>
        </p:nvSpPr>
        <p:spPr>
          <a:xfrm>
            <a:off x="635000" y="5257800"/>
            <a:ext cx="3556000" cy="276999"/>
          </a:xfrm>
          <a:prstGeom prst="rect">
            <a:avLst/>
          </a:prstGeom>
          <a:noFill/>
        </p:spPr>
        <p:txBody>
          <a:bodyPr vert="horz" wrap="square" lIns="0" tIns="0" rIns="0" bIns="0" rtlCol="0">
            <a:noAutofit/>
          </a:bodyPr>
          <a:lstStyle/>
          <a:p>
            <a:pPr>
              <a:spcAft>
                <a:spcPts val="700"/>
              </a:spcAft>
            </a:pPr>
            <a:r>
              <a:rPr lang="en-US" sz="1500">
                <a:solidFill>
                  <a:srgbClr val="F2F6FC"/>
                </a:solidFill>
                <a:latin typeface="Aptos" panose="020B0004020202020204" pitchFamily="34" charset="0"/>
              </a:rPr>
              <a:t>Spoke 2 workload subnet</a:t>
            </a:r>
          </a:p>
        </p:txBody>
      </p:sp>
      <p:sp>
        <p:nvSpPr>
          <p:cNvPr id="40" name="Rectangle 39">
            <a:extLst>
              <a:ext uri="{FF2B5EF4-FFF2-40B4-BE49-F238E27FC236}">
                <a16:creationId xmlns:a16="http://schemas.microsoft.com/office/drawing/2014/main" id="{6D645C04-BD88-769E-93B5-B0AC8E9F2250}"/>
              </a:ext>
            </a:extLst>
          </p:cNvPr>
          <p:cNvSpPr/>
          <p:nvPr/>
        </p:nvSpPr>
        <p:spPr>
          <a:xfrm>
            <a:off x="4318000" y="5143500"/>
            <a:ext cx="3556000" cy="5588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40BA12E4-FF57-4107-7B52-8A0A021FE9B4}"/>
              </a:ext>
            </a:extLst>
          </p:cNvPr>
          <p:cNvSpPr txBox="1"/>
          <p:nvPr/>
        </p:nvSpPr>
        <p:spPr>
          <a:xfrm>
            <a:off x="4445000" y="5257800"/>
            <a:ext cx="3302000" cy="276999"/>
          </a:xfrm>
          <a:prstGeom prst="rect">
            <a:avLst/>
          </a:prstGeom>
          <a:noFill/>
        </p:spPr>
        <p:txBody>
          <a:bodyPr vert="horz" wrap="square" lIns="0" tIns="0" rIns="0" bIns="0" rtlCol="0">
            <a:noAutofit/>
          </a:bodyPr>
          <a:lstStyle/>
          <a:p>
            <a:pPr>
              <a:spcAft>
                <a:spcPts val="700"/>
              </a:spcAft>
            </a:pPr>
            <a:r>
              <a:rPr lang="en-US" sz="1500">
                <a:solidFill>
                  <a:srgbClr val="F2F6FC"/>
                </a:solidFill>
                <a:latin typeface="Aptos" panose="020B0004020202020204" pitchFamily="34" charset="0"/>
              </a:rPr>
              <a:t>10.2.0.0/24</a:t>
            </a:r>
          </a:p>
        </p:txBody>
      </p:sp>
      <p:sp>
        <p:nvSpPr>
          <p:cNvPr id="42" name="Rectangle 41">
            <a:extLst>
              <a:ext uri="{FF2B5EF4-FFF2-40B4-BE49-F238E27FC236}">
                <a16:creationId xmlns:a16="http://schemas.microsoft.com/office/drawing/2014/main" id="{D2019979-C35B-EBDA-BAE8-FB0B0EE52A8A}"/>
              </a:ext>
            </a:extLst>
          </p:cNvPr>
          <p:cNvSpPr/>
          <p:nvPr/>
        </p:nvSpPr>
        <p:spPr>
          <a:xfrm>
            <a:off x="7874000" y="5143500"/>
            <a:ext cx="3810000" cy="5588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5D2B8CAC-9D8A-957F-B5C9-73A444B4BB21}"/>
              </a:ext>
            </a:extLst>
          </p:cNvPr>
          <p:cNvSpPr txBox="1"/>
          <p:nvPr/>
        </p:nvSpPr>
        <p:spPr>
          <a:xfrm>
            <a:off x="8001000" y="5257800"/>
            <a:ext cx="3556000" cy="276999"/>
          </a:xfrm>
          <a:prstGeom prst="rect">
            <a:avLst/>
          </a:prstGeom>
          <a:noFill/>
        </p:spPr>
        <p:txBody>
          <a:bodyPr vert="horz" wrap="square" lIns="0" tIns="0" rIns="0" bIns="0" rtlCol="0">
            <a:noAutofit/>
          </a:bodyPr>
          <a:lstStyle/>
          <a:p>
            <a:pPr>
              <a:spcAft>
                <a:spcPts val="700"/>
              </a:spcAft>
            </a:pPr>
            <a:r>
              <a:rPr lang="nl-NL" sz="1500">
                <a:solidFill>
                  <a:srgbClr val="F2F6FC"/>
                </a:solidFill>
                <a:latin typeface="Aptos" panose="020B0004020202020204" pitchFamily="34" charset="0"/>
              </a:rPr>
              <a:t>VM 2; VNet is 10.2.0.0/16</a:t>
            </a:r>
            <a:endParaRPr lang="en-US" sz="1500">
              <a:solidFill>
                <a:srgbClr val="F2F6FC"/>
              </a:solidFill>
              <a:latin typeface="Aptos" panose="020B0004020202020204" pitchFamily="34" charset="0"/>
            </a:endParaRPr>
          </a:p>
        </p:txBody>
      </p:sp>
      <p:sp>
        <p:nvSpPr>
          <p:cNvPr id="44" name="TextBox 43">
            <a:extLst>
              <a:ext uri="{FF2B5EF4-FFF2-40B4-BE49-F238E27FC236}">
                <a16:creationId xmlns:a16="http://schemas.microsoft.com/office/drawing/2014/main" id="{F1D56F0D-8F7E-DFF0-4D61-A00CCA06EE90}"/>
              </a:ext>
            </a:extLst>
          </p:cNvPr>
          <p:cNvSpPr txBox="1"/>
          <p:nvPr/>
        </p:nvSpPr>
        <p:spPr>
          <a:xfrm>
            <a:off x="508000" y="5918200"/>
            <a:ext cx="11176000" cy="276999"/>
          </a:xfrm>
          <a:prstGeom prst="rect">
            <a:avLst/>
          </a:prstGeom>
          <a:noFill/>
        </p:spPr>
        <p:txBody>
          <a:bodyPr vert="horz" wrap="square" lIns="0" tIns="0" rIns="0" bIns="0" rtlCol="0">
            <a:noAutofit/>
          </a:bodyPr>
          <a:lstStyle/>
          <a:p>
            <a:pPr>
              <a:spcAft>
                <a:spcPts val="700"/>
              </a:spcAft>
            </a:pPr>
            <a:r>
              <a:rPr lang="en-US" sz="1500" b="1">
                <a:solidFill>
                  <a:srgbClr val="35D4E8"/>
                </a:solidFill>
                <a:latin typeface="Aptos" panose="020B0004020202020204" pitchFamily="34" charset="0"/>
              </a:rPr>
              <a:t>VM IPs and the appliance IP are outputs, not hard-coded values.</a:t>
            </a:r>
          </a:p>
        </p:txBody>
      </p:sp>
    </p:spTree>
    <p:extLst>
      <p:ext uri="{BB962C8B-B14F-4D97-AF65-F5344CB8AC3E}">
        <p14:creationId xmlns:p14="http://schemas.microsoft.com/office/powerpoint/2010/main" val="2233917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C183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C81BDBE-953B-937B-F6A9-6A5DC77A1515}"/>
              </a:ext>
            </a:extLst>
          </p:cNvPr>
          <p:cNvSpPr/>
          <p:nvPr/>
        </p:nvSpPr>
        <p:spPr>
          <a:xfrm>
            <a:off x="0" y="0"/>
            <a:ext cx="12192000" cy="63500"/>
          </a:xfrm>
          <a:prstGeom prst="rect">
            <a:avLst/>
          </a:prstGeom>
          <a:solidFill>
            <a:srgbClr val="35D4E8"/>
          </a:solidFill>
          <a:ln>
            <a:solidFill>
              <a:srgbClr val="35D4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22B9ACD-2E72-A066-2159-E4C74C48D57D}"/>
              </a:ext>
            </a:extLst>
          </p:cNvPr>
          <p:cNvSpPr txBox="1"/>
          <p:nvPr/>
        </p:nvSpPr>
        <p:spPr>
          <a:xfrm>
            <a:off x="508000" y="292100"/>
            <a:ext cx="10795000" cy="276999"/>
          </a:xfrm>
          <a:prstGeom prst="rect">
            <a:avLst/>
          </a:prstGeom>
          <a:noFill/>
        </p:spPr>
        <p:txBody>
          <a:bodyPr vert="horz" wrap="square" lIns="0" tIns="0" rIns="0" bIns="0" rtlCol="0">
            <a:noAutofit/>
          </a:bodyPr>
          <a:lstStyle/>
          <a:p>
            <a:pPr>
              <a:spcAft>
                <a:spcPts val="700"/>
              </a:spcAft>
            </a:pPr>
            <a:r>
              <a:rPr lang="en-US" sz="1000" b="1">
                <a:solidFill>
                  <a:srgbClr val="35D4E8"/>
                </a:solidFill>
                <a:latin typeface="Aptos" panose="020B0004020202020204" pitchFamily="34" charset="0"/>
              </a:rPr>
              <a:t>05 / SERVICE MODEL</a:t>
            </a:r>
          </a:p>
        </p:txBody>
      </p:sp>
      <p:sp>
        <p:nvSpPr>
          <p:cNvPr id="4" name="TextBox 3">
            <a:extLst>
              <a:ext uri="{FF2B5EF4-FFF2-40B4-BE49-F238E27FC236}">
                <a16:creationId xmlns:a16="http://schemas.microsoft.com/office/drawing/2014/main" id="{2CDA8857-0C79-AF94-5F88-644CE9A5905C}"/>
              </a:ext>
            </a:extLst>
          </p:cNvPr>
          <p:cNvSpPr txBox="1"/>
          <p:nvPr/>
        </p:nvSpPr>
        <p:spPr>
          <a:xfrm>
            <a:off x="508000" y="723900"/>
            <a:ext cx="11176000" cy="276999"/>
          </a:xfrm>
          <a:prstGeom prst="rect">
            <a:avLst/>
          </a:prstGeom>
          <a:noFill/>
        </p:spPr>
        <p:txBody>
          <a:bodyPr vert="horz" wrap="square" lIns="0" tIns="0" rIns="0" bIns="0" rtlCol="0">
            <a:noAutofit/>
          </a:bodyPr>
          <a:lstStyle/>
          <a:p>
            <a:pPr>
              <a:spcAft>
                <a:spcPts val="700"/>
              </a:spcAft>
            </a:pPr>
            <a:r>
              <a:rPr lang="en-US" sz="3000" b="1">
                <a:solidFill>
                  <a:srgbClr val="F2F6FC"/>
                </a:solidFill>
                <a:latin typeface="Aptos" panose="020B0004020202020204" pitchFamily="34" charset="0"/>
              </a:rPr>
              <a:t>Managed routing is not a router VM</a:t>
            </a:r>
          </a:p>
        </p:txBody>
      </p:sp>
      <p:sp>
        <p:nvSpPr>
          <p:cNvPr id="5" name="TextBox 4">
            <a:extLst>
              <a:ext uri="{FF2B5EF4-FFF2-40B4-BE49-F238E27FC236}">
                <a16:creationId xmlns:a16="http://schemas.microsoft.com/office/drawing/2014/main" id="{FC0A1586-8BF5-866F-E06B-54D4907944DC}"/>
              </a:ext>
            </a:extLst>
          </p:cNvPr>
          <p:cNvSpPr txBox="1"/>
          <p:nvPr/>
        </p:nvSpPr>
        <p:spPr>
          <a:xfrm>
            <a:off x="508000" y="1562100"/>
            <a:ext cx="11176000" cy="276999"/>
          </a:xfrm>
          <a:prstGeom prst="rect">
            <a:avLst/>
          </a:prstGeom>
          <a:noFill/>
        </p:spPr>
        <p:txBody>
          <a:bodyPr vert="horz" wrap="square" lIns="0" tIns="0" rIns="0" bIns="0" rtlCol="0">
            <a:noAutofit/>
          </a:bodyPr>
          <a:lstStyle/>
          <a:p>
            <a:pPr>
              <a:spcAft>
                <a:spcPts val="700"/>
              </a:spcAft>
            </a:pPr>
            <a:r>
              <a:rPr lang="en-US" sz="1400">
                <a:solidFill>
                  <a:srgbClr val="B6C5D9"/>
                </a:solidFill>
                <a:latin typeface="Aptos" panose="020B0004020202020204" pitchFamily="34" charset="0"/>
              </a:rPr>
              <a:t>Use the implementation as the source of truth when the lab README differs.</a:t>
            </a:r>
          </a:p>
        </p:txBody>
      </p:sp>
      <p:sp>
        <p:nvSpPr>
          <p:cNvPr id="6" name="Rectangle 5">
            <a:extLst>
              <a:ext uri="{FF2B5EF4-FFF2-40B4-BE49-F238E27FC236}">
                <a16:creationId xmlns:a16="http://schemas.microsoft.com/office/drawing/2014/main" id="{C8D8122E-6E8B-13BF-02F5-B806F813D23A}"/>
              </a:ext>
            </a:extLst>
          </p:cNvPr>
          <p:cNvSpPr/>
          <p:nvPr/>
        </p:nvSpPr>
        <p:spPr>
          <a:xfrm>
            <a:off x="508000" y="6413500"/>
            <a:ext cx="11176000" cy="12700"/>
          </a:xfrm>
          <a:prstGeom prst="rect">
            <a:avLst/>
          </a:prstGeom>
          <a:solidFill>
            <a:srgbClr val="31415B"/>
          </a:solidFill>
          <a:ln>
            <a:solidFill>
              <a:srgbClr val="3141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B07744D-A43A-7ABA-0E25-A5B20AA3765D}"/>
              </a:ext>
            </a:extLst>
          </p:cNvPr>
          <p:cNvSpPr txBox="1"/>
          <p:nvPr/>
        </p:nvSpPr>
        <p:spPr>
          <a:xfrm>
            <a:off x="508000" y="6553200"/>
            <a:ext cx="8890000" cy="276999"/>
          </a:xfrm>
          <a:prstGeom prst="rect">
            <a:avLst/>
          </a:prstGeom>
          <a:noFill/>
        </p:spPr>
        <p:txBody>
          <a:bodyPr vert="horz" wrap="square" lIns="0" tIns="0" rIns="0" bIns="0" rtlCol="0">
            <a:noAutofit/>
          </a:bodyPr>
          <a:lstStyle/>
          <a:p>
            <a:pPr>
              <a:spcAft>
                <a:spcPts val="700"/>
              </a:spcAft>
            </a:pPr>
            <a:r>
              <a:rPr lang="en-US" sz="900">
                <a:solidFill>
                  <a:srgbClr val="B6C5D9"/>
                </a:solidFill>
                <a:latin typeface="Aptos" panose="020B0004020202020204" pitchFamily="34" charset="0"/>
              </a:rPr>
              <a:t>AZURE NETWORK COURSE  /  LAB 240</a:t>
            </a:r>
          </a:p>
        </p:txBody>
      </p:sp>
      <p:sp>
        <p:nvSpPr>
          <p:cNvPr id="8" name="TextBox 7">
            <a:extLst>
              <a:ext uri="{FF2B5EF4-FFF2-40B4-BE49-F238E27FC236}">
                <a16:creationId xmlns:a16="http://schemas.microsoft.com/office/drawing/2014/main" id="{F2B0C74C-C7AC-D4C9-407D-612E57F81C0C}"/>
              </a:ext>
            </a:extLst>
          </p:cNvPr>
          <p:cNvSpPr txBox="1"/>
          <p:nvPr/>
        </p:nvSpPr>
        <p:spPr>
          <a:xfrm>
            <a:off x="11214100" y="6527800"/>
            <a:ext cx="469900" cy="276999"/>
          </a:xfrm>
          <a:prstGeom prst="rect">
            <a:avLst/>
          </a:prstGeom>
          <a:noFill/>
        </p:spPr>
        <p:txBody>
          <a:bodyPr vert="horz" wrap="square" lIns="0" tIns="0" rIns="0" bIns="0" rtlCol="0">
            <a:noAutofit/>
          </a:bodyPr>
          <a:lstStyle/>
          <a:p>
            <a:pPr>
              <a:spcAft>
                <a:spcPts val="700"/>
              </a:spcAft>
            </a:pPr>
            <a:r>
              <a:rPr lang="en-US" sz="1100" b="1">
                <a:solidFill>
                  <a:srgbClr val="35D4E8"/>
                </a:solidFill>
                <a:latin typeface="Aptos" panose="020B0004020202020204" pitchFamily="34" charset="0"/>
              </a:rPr>
              <a:t>06</a:t>
            </a:r>
          </a:p>
        </p:txBody>
      </p:sp>
      <p:sp>
        <p:nvSpPr>
          <p:cNvPr id="9" name="Rectangle 8">
            <a:extLst>
              <a:ext uri="{FF2B5EF4-FFF2-40B4-BE49-F238E27FC236}">
                <a16:creationId xmlns:a16="http://schemas.microsoft.com/office/drawing/2014/main" id="{D8595B65-5239-62C4-C9EF-4E3176D2385A}"/>
              </a:ext>
            </a:extLst>
          </p:cNvPr>
          <p:cNvSpPr/>
          <p:nvPr/>
        </p:nvSpPr>
        <p:spPr>
          <a:xfrm>
            <a:off x="508000" y="2324100"/>
            <a:ext cx="5461000" cy="32385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0524CEB-6E79-2CD4-352A-FC53BFD226AD}"/>
              </a:ext>
            </a:extLst>
          </p:cNvPr>
          <p:cNvSpPr/>
          <p:nvPr/>
        </p:nvSpPr>
        <p:spPr>
          <a:xfrm>
            <a:off x="508000" y="2324100"/>
            <a:ext cx="50800" cy="3238500"/>
          </a:xfrm>
          <a:prstGeom prst="rect">
            <a:avLst/>
          </a:prstGeom>
          <a:solidFill>
            <a:srgbClr val="35D4E8"/>
          </a:solidFill>
          <a:ln>
            <a:solidFill>
              <a:srgbClr val="35D4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75001AA4-170F-F80F-FE25-EDA339C7F956}"/>
              </a:ext>
            </a:extLst>
          </p:cNvPr>
          <p:cNvSpPr txBox="1"/>
          <p:nvPr/>
        </p:nvSpPr>
        <p:spPr>
          <a:xfrm>
            <a:off x="736600" y="2540000"/>
            <a:ext cx="5003800" cy="276999"/>
          </a:xfrm>
          <a:prstGeom prst="rect">
            <a:avLst/>
          </a:prstGeom>
          <a:noFill/>
        </p:spPr>
        <p:txBody>
          <a:bodyPr vert="horz" wrap="square" lIns="0" tIns="0" rIns="0" bIns="0" rtlCol="0">
            <a:noAutofit/>
          </a:bodyPr>
          <a:lstStyle/>
          <a:p>
            <a:pPr>
              <a:spcAft>
                <a:spcPts val="700"/>
              </a:spcAft>
            </a:pPr>
            <a:r>
              <a:rPr lang="en-US" sz="2000" b="1">
                <a:solidFill>
                  <a:srgbClr val="35D4E8"/>
                </a:solidFill>
                <a:latin typeface="Aptos" panose="020B0004020202020204" pitchFamily="34" charset="0"/>
              </a:rPr>
              <a:t>THIS LAB</a:t>
            </a:r>
          </a:p>
        </p:txBody>
      </p:sp>
      <p:sp>
        <p:nvSpPr>
          <p:cNvPr id="12" name="TextBox 11">
            <a:extLst>
              <a:ext uri="{FF2B5EF4-FFF2-40B4-BE49-F238E27FC236}">
                <a16:creationId xmlns:a16="http://schemas.microsoft.com/office/drawing/2014/main" id="{9DADA377-8996-8B2F-C2E8-F2EB2A243CCC}"/>
              </a:ext>
            </a:extLst>
          </p:cNvPr>
          <p:cNvSpPr txBox="1"/>
          <p:nvPr/>
        </p:nvSpPr>
        <p:spPr>
          <a:xfrm>
            <a:off x="736600" y="3314700"/>
            <a:ext cx="5003800" cy="276999"/>
          </a:xfrm>
          <a:prstGeom prst="rect">
            <a:avLst/>
          </a:prstGeom>
          <a:noFill/>
        </p:spPr>
        <p:txBody>
          <a:bodyPr vert="horz" wrap="square" lIns="0" tIns="0" rIns="0" bIns="0" rtlCol="0">
            <a:noAutofit/>
          </a:bodyPr>
          <a:lstStyle/>
          <a:p>
            <a:pPr>
              <a:spcAft>
                <a:spcPts val="700"/>
              </a:spcAft>
            </a:pPr>
            <a:r>
              <a:rPr lang="en-US" sz="1700">
                <a:solidFill>
                  <a:srgbClr val="F2F6FC"/>
                </a:solidFill>
                <a:latin typeface="Aptos" panose="020B0004020202020204" pitchFamily="34" charset="0"/>
              </a:rPr>
              <a:t>Microsoft.Network/
virtualNetworkAppliances
Azure-managed forwarding
No guest OS to configure
10-Gbps IPv4 appliance</a:t>
            </a:r>
          </a:p>
        </p:txBody>
      </p:sp>
      <p:sp>
        <p:nvSpPr>
          <p:cNvPr id="13" name="Rectangle 12">
            <a:extLst>
              <a:ext uri="{FF2B5EF4-FFF2-40B4-BE49-F238E27FC236}">
                <a16:creationId xmlns:a16="http://schemas.microsoft.com/office/drawing/2014/main" id="{FAE00C2E-7833-D528-2DCF-1B8DAF0C6AFB}"/>
              </a:ext>
            </a:extLst>
          </p:cNvPr>
          <p:cNvSpPr/>
          <p:nvPr/>
        </p:nvSpPr>
        <p:spPr>
          <a:xfrm>
            <a:off x="6223000" y="2324100"/>
            <a:ext cx="5461000" cy="32385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717651D-4AC7-BDDA-FE2E-4B80CF558935}"/>
              </a:ext>
            </a:extLst>
          </p:cNvPr>
          <p:cNvSpPr/>
          <p:nvPr/>
        </p:nvSpPr>
        <p:spPr>
          <a:xfrm>
            <a:off x="6223000" y="2324100"/>
            <a:ext cx="50800" cy="3238500"/>
          </a:xfrm>
          <a:prstGeom prst="rect">
            <a:avLst/>
          </a:prstGeom>
          <a:solidFill>
            <a:srgbClr val="328DFF"/>
          </a:solidFill>
          <a:ln>
            <a:solidFill>
              <a:srgbClr val="328D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60183D2-4799-983D-D88F-0FD4D409F845}"/>
              </a:ext>
            </a:extLst>
          </p:cNvPr>
          <p:cNvSpPr txBox="1"/>
          <p:nvPr/>
        </p:nvSpPr>
        <p:spPr>
          <a:xfrm>
            <a:off x="6451600" y="2540000"/>
            <a:ext cx="5003800" cy="276999"/>
          </a:xfrm>
          <a:prstGeom prst="rect">
            <a:avLst/>
          </a:prstGeom>
          <a:noFill/>
        </p:spPr>
        <p:txBody>
          <a:bodyPr vert="horz" wrap="square" lIns="0" tIns="0" rIns="0" bIns="0" rtlCol="0">
            <a:noAutofit/>
          </a:bodyPr>
          <a:lstStyle/>
          <a:p>
            <a:pPr>
              <a:spcAft>
                <a:spcPts val="700"/>
              </a:spcAft>
            </a:pPr>
            <a:r>
              <a:rPr lang="en-US" sz="2000" b="1">
                <a:solidFill>
                  <a:srgbClr val="328DFF"/>
                </a:solidFill>
                <a:latin typeface="Aptos" panose="020B0004020202020204" pitchFamily="34" charset="0"/>
              </a:rPr>
              <a:t>NOT DEPLOYED</a:t>
            </a:r>
          </a:p>
        </p:txBody>
      </p:sp>
      <p:sp>
        <p:nvSpPr>
          <p:cNvPr id="16" name="TextBox 15">
            <a:extLst>
              <a:ext uri="{FF2B5EF4-FFF2-40B4-BE49-F238E27FC236}">
                <a16:creationId xmlns:a16="http://schemas.microsoft.com/office/drawing/2014/main" id="{0B7A0651-0FD6-D35E-7CDA-3216120A26EC}"/>
              </a:ext>
            </a:extLst>
          </p:cNvPr>
          <p:cNvSpPr txBox="1"/>
          <p:nvPr/>
        </p:nvSpPr>
        <p:spPr>
          <a:xfrm>
            <a:off x="6451600" y="3314700"/>
            <a:ext cx="5003800" cy="276999"/>
          </a:xfrm>
          <a:prstGeom prst="rect">
            <a:avLst/>
          </a:prstGeom>
          <a:noFill/>
        </p:spPr>
        <p:txBody>
          <a:bodyPr vert="horz" wrap="square" lIns="0" tIns="0" rIns="0" bIns="0" rtlCol="0">
            <a:noAutofit/>
          </a:bodyPr>
          <a:lstStyle/>
          <a:p>
            <a:pPr>
              <a:spcAft>
                <a:spcPts val="700"/>
              </a:spcAft>
            </a:pPr>
            <a:r>
              <a:rPr lang="en-US" sz="1700">
                <a:solidFill>
                  <a:srgbClr val="F2F6FC"/>
                </a:solidFill>
                <a:latin typeface="Aptos" panose="020B0004020202020204" pitchFamily="34" charset="0"/>
              </a:rPr>
              <a:t>A self-managed NVA VM
Azure Firewall or firewall policy
BGP routing daemon
VPN / ExpressRoute gateway
Private endpoints or NAT Gateway</a:t>
            </a:r>
          </a:p>
        </p:txBody>
      </p:sp>
      <p:sp>
        <p:nvSpPr>
          <p:cNvPr id="17" name="TextBox 16">
            <a:extLst>
              <a:ext uri="{FF2B5EF4-FFF2-40B4-BE49-F238E27FC236}">
                <a16:creationId xmlns:a16="http://schemas.microsoft.com/office/drawing/2014/main" id="{731F4A1D-1A7C-FC3D-45BC-B3D87994AE33}"/>
              </a:ext>
            </a:extLst>
          </p:cNvPr>
          <p:cNvSpPr txBox="1"/>
          <p:nvPr/>
        </p:nvSpPr>
        <p:spPr>
          <a:xfrm>
            <a:off x="508000" y="5753100"/>
            <a:ext cx="11176000" cy="276999"/>
          </a:xfrm>
          <a:prstGeom prst="rect">
            <a:avLst/>
          </a:prstGeom>
          <a:noFill/>
        </p:spPr>
        <p:txBody>
          <a:bodyPr vert="horz" wrap="square" lIns="0" tIns="0" rIns="0" bIns="0" rtlCol="0">
            <a:noAutofit/>
          </a:bodyPr>
          <a:lstStyle/>
          <a:p>
            <a:pPr>
              <a:spcAft>
                <a:spcPts val="700"/>
              </a:spcAft>
            </a:pPr>
            <a:r>
              <a:rPr lang="en-US" sz="1500" b="1">
                <a:solidFill>
                  <a:srgbClr val="FFCA70"/>
                </a:solidFill>
                <a:latin typeface="Aptos" panose="020B0004020202020204" pitchFamily="34" charset="0"/>
              </a:rPr>
              <a:t>Forwarding connectivity does not by itself provide firewall inspection.</a:t>
            </a:r>
          </a:p>
        </p:txBody>
      </p:sp>
    </p:spTree>
    <p:extLst>
      <p:ext uri="{BB962C8B-B14F-4D97-AF65-F5344CB8AC3E}">
        <p14:creationId xmlns:p14="http://schemas.microsoft.com/office/powerpoint/2010/main" val="9001164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C183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4FABCF3-A7A0-B55C-DE82-FCB4DC1BF955}"/>
              </a:ext>
            </a:extLst>
          </p:cNvPr>
          <p:cNvSpPr/>
          <p:nvPr/>
        </p:nvSpPr>
        <p:spPr>
          <a:xfrm>
            <a:off x="0" y="0"/>
            <a:ext cx="12192000" cy="63500"/>
          </a:xfrm>
          <a:prstGeom prst="rect">
            <a:avLst/>
          </a:prstGeom>
          <a:solidFill>
            <a:srgbClr val="35D4E8"/>
          </a:solidFill>
          <a:ln>
            <a:solidFill>
              <a:srgbClr val="35D4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A8B4684-9F0C-494E-C087-1FDA0D12F27F}"/>
              </a:ext>
            </a:extLst>
          </p:cNvPr>
          <p:cNvSpPr txBox="1"/>
          <p:nvPr/>
        </p:nvSpPr>
        <p:spPr>
          <a:xfrm>
            <a:off x="508000" y="292100"/>
            <a:ext cx="10795000" cy="276999"/>
          </a:xfrm>
          <a:prstGeom prst="rect">
            <a:avLst/>
          </a:prstGeom>
          <a:noFill/>
        </p:spPr>
        <p:txBody>
          <a:bodyPr vert="horz" wrap="square" lIns="0" tIns="0" rIns="0" bIns="0" rtlCol="0">
            <a:noAutofit/>
          </a:bodyPr>
          <a:lstStyle/>
          <a:p>
            <a:pPr>
              <a:spcAft>
                <a:spcPts val="700"/>
              </a:spcAft>
            </a:pPr>
            <a:r>
              <a:rPr lang="en-US" sz="1000" b="1">
                <a:solidFill>
                  <a:srgbClr val="35D4E8"/>
                </a:solidFill>
                <a:latin typeface="Aptos" panose="020B0004020202020204" pitchFamily="34" charset="0"/>
              </a:rPr>
              <a:t>06 / TERRAFORM WALKTHROUGH</a:t>
            </a:r>
          </a:p>
        </p:txBody>
      </p:sp>
      <p:sp>
        <p:nvSpPr>
          <p:cNvPr id="4" name="TextBox 3">
            <a:extLst>
              <a:ext uri="{FF2B5EF4-FFF2-40B4-BE49-F238E27FC236}">
                <a16:creationId xmlns:a16="http://schemas.microsoft.com/office/drawing/2014/main" id="{534A2D5F-6EE3-5921-FE7A-3D60FE44F923}"/>
              </a:ext>
            </a:extLst>
          </p:cNvPr>
          <p:cNvSpPr txBox="1"/>
          <p:nvPr/>
        </p:nvSpPr>
        <p:spPr>
          <a:xfrm>
            <a:off x="508000" y="723900"/>
            <a:ext cx="11176000" cy="276999"/>
          </a:xfrm>
          <a:prstGeom prst="rect">
            <a:avLst/>
          </a:prstGeom>
          <a:noFill/>
        </p:spPr>
        <p:txBody>
          <a:bodyPr vert="horz" wrap="square" lIns="0" tIns="0" rIns="0" bIns="0" rtlCol="0">
            <a:noAutofit/>
          </a:bodyPr>
          <a:lstStyle/>
          <a:p>
            <a:pPr>
              <a:spcAft>
                <a:spcPts val="700"/>
              </a:spcAft>
            </a:pPr>
            <a:r>
              <a:rPr lang="en-US" sz="3000" b="1">
                <a:solidFill>
                  <a:srgbClr val="F2F6FC"/>
                </a:solidFill>
                <a:latin typeface="Aptos" panose="020B0004020202020204" pitchFamily="34" charset="0"/>
              </a:rPr>
              <a:t>Read the lab in dependency order</a:t>
            </a:r>
          </a:p>
        </p:txBody>
      </p:sp>
      <p:sp>
        <p:nvSpPr>
          <p:cNvPr id="5" name="Rectangle 4">
            <a:extLst>
              <a:ext uri="{FF2B5EF4-FFF2-40B4-BE49-F238E27FC236}">
                <a16:creationId xmlns:a16="http://schemas.microsoft.com/office/drawing/2014/main" id="{D9CDFA83-262D-3D6B-C152-7CF22441C09A}"/>
              </a:ext>
            </a:extLst>
          </p:cNvPr>
          <p:cNvSpPr/>
          <p:nvPr/>
        </p:nvSpPr>
        <p:spPr>
          <a:xfrm>
            <a:off x="508000" y="6413500"/>
            <a:ext cx="11176000" cy="12700"/>
          </a:xfrm>
          <a:prstGeom prst="rect">
            <a:avLst/>
          </a:prstGeom>
          <a:solidFill>
            <a:srgbClr val="31415B"/>
          </a:solidFill>
          <a:ln>
            <a:solidFill>
              <a:srgbClr val="3141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DD08B69-7FCF-F2E7-19E2-8126F33A385B}"/>
              </a:ext>
            </a:extLst>
          </p:cNvPr>
          <p:cNvSpPr txBox="1"/>
          <p:nvPr/>
        </p:nvSpPr>
        <p:spPr>
          <a:xfrm>
            <a:off x="508000" y="6553200"/>
            <a:ext cx="8890000" cy="276999"/>
          </a:xfrm>
          <a:prstGeom prst="rect">
            <a:avLst/>
          </a:prstGeom>
          <a:noFill/>
        </p:spPr>
        <p:txBody>
          <a:bodyPr vert="horz" wrap="square" lIns="0" tIns="0" rIns="0" bIns="0" rtlCol="0">
            <a:noAutofit/>
          </a:bodyPr>
          <a:lstStyle/>
          <a:p>
            <a:pPr>
              <a:spcAft>
                <a:spcPts val="700"/>
              </a:spcAft>
            </a:pPr>
            <a:r>
              <a:rPr lang="en-US" sz="900">
                <a:solidFill>
                  <a:srgbClr val="B6C5D9"/>
                </a:solidFill>
                <a:latin typeface="Aptos" panose="020B0004020202020204" pitchFamily="34" charset="0"/>
              </a:rPr>
              <a:t>AZURE NETWORK COURSE  /  LAB 240</a:t>
            </a:r>
          </a:p>
        </p:txBody>
      </p:sp>
      <p:sp>
        <p:nvSpPr>
          <p:cNvPr id="7" name="TextBox 6">
            <a:extLst>
              <a:ext uri="{FF2B5EF4-FFF2-40B4-BE49-F238E27FC236}">
                <a16:creationId xmlns:a16="http://schemas.microsoft.com/office/drawing/2014/main" id="{8E752585-3045-D04B-19C8-2DC53471A459}"/>
              </a:ext>
            </a:extLst>
          </p:cNvPr>
          <p:cNvSpPr txBox="1"/>
          <p:nvPr/>
        </p:nvSpPr>
        <p:spPr>
          <a:xfrm>
            <a:off x="11214100" y="6527800"/>
            <a:ext cx="469900" cy="276999"/>
          </a:xfrm>
          <a:prstGeom prst="rect">
            <a:avLst/>
          </a:prstGeom>
          <a:noFill/>
        </p:spPr>
        <p:txBody>
          <a:bodyPr vert="horz" wrap="square" lIns="0" tIns="0" rIns="0" bIns="0" rtlCol="0">
            <a:noAutofit/>
          </a:bodyPr>
          <a:lstStyle/>
          <a:p>
            <a:pPr>
              <a:spcAft>
                <a:spcPts val="700"/>
              </a:spcAft>
            </a:pPr>
            <a:r>
              <a:rPr lang="en-US" sz="1100" b="1">
                <a:solidFill>
                  <a:srgbClr val="35D4E8"/>
                </a:solidFill>
                <a:latin typeface="Aptos" panose="020B0004020202020204" pitchFamily="34" charset="0"/>
              </a:rPr>
              <a:t>07</a:t>
            </a:r>
          </a:p>
        </p:txBody>
      </p:sp>
      <p:sp>
        <p:nvSpPr>
          <p:cNvPr id="8" name="Rectangle 7">
            <a:extLst>
              <a:ext uri="{FF2B5EF4-FFF2-40B4-BE49-F238E27FC236}">
                <a16:creationId xmlns:a16="http://schemas.microsoft.com/office/drawing/2014/main" id="{E343E936-14CD-DB63-64C7-5AA617E20156}"/>
              </a:ext>
            </a:extLst>
          </p:cNvPr>
          <p:cNvSpPr/>
          <p:nvPr/>
        </p:nvSpPr>
        <p:spPr>
          <a:xfrm>
            <a:off x="508000" y="2222500"/>
            <a:ext cx="1968500" cy="584200"/>
          </a:xfrm>
          <a:prstGeom prst="rect">
            <a:avLst/>
          </a:prstGeom>
          <a:solidFill>
            <a:srgbClr val="234569"/>
          </a:solidFill>
          <a:ln>
            <a:solidFill>
              <a:srgbClr val="23456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D35EA08-E00F-65D2-35C0-2AACCAF819D5}"/>
              </a:ext>
            </a:extLst>
          </p:cNvPr>
          <p:cNvSpPr txBox="1"/>
          <p:nvPr/>
        </p:nvSpPr>
        <p:spPr>
          <a:xfrm>
            <a:off x="635000" y="2336800"/>
            <a:ext cx="1714500" cy="276999"/>
          </a:xfrm>
          <a:prstGeom prst="rect">
            <a:avLst/>
          </a:prstGeom>
          <a:noFill/>
        </p:spPr>
        <p:txBody>
          <a:bodyPr vert="horz" wrap="square" lIns="0" tIns="0" rIns="0" bIns="0" rtlCol="0">
            <a:noAutofit/>
          </a:bodyPr>
          <a:lstStyle/>
          <a:p>
            <a:pPr>
              <a:spcAft>
                <a:spcPts val="700"/>
              </a:spcAft>
            </a:pPr>
            <a:r>
              <a:rPr lang="en-US" sz="1500" b="1">
                <a:solidFill>
                  <a:srgbClr val="F2F6FC"/>
                </a:solidFill>
                <a:latin typeface="Aptos" panose="020B0004020202020204" pitchFamily="34" charset="0"/>
              </a:rPr>
              <a:t>Stage</a:t>
            </a:r>
          </a:p>
        </p:txBody>
      </p:sp>
      <p:sp>
        <p:nvSpPr>
          <p:cNvPr id="10" name="Rectangle 9">
            <a:extLst>
              <a:ext uri="{FF2B5EF4-FFF2-40B4-BE49-F238E27FC236}">
                <a16:creationId xmlns:a16="http://schemas.microsoft.com/office/drawing/2014/main" id="{50DA1DB1-E930-9DE3-9705-84700B4AF617}"/>
              </a:ext>
            </a:extLst>
          </p:cNvPr>
          <p:cNvSpPr/>
          <p:nvPr/>
        </p:nvSpPr>
        <p:spPr>
          <a:xfrm>
            <a:off x="2476500" y="2222500"/>
            <a:ext cx="5334000" cy="584200"/>
          </a:xfrm>
          <a:prstGeom prst="rect">
            <a:avLst/>
          </a:prstGeom>
          <a:solidFill>
            <a:srgbClr val="234569"/>
          </a:solidFill>
          <a:ln>
            <a:solidFill>
              <a:srgbClr val="23456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5B443B1C-5BCF-87A2-6BFC-0DEE8CAD0511}"/>
              </a:ext>
            </a:extLst>
          </p:cNvPr>
          <p:cNvSpPr txBox="1"/>
          <p:nvPr/>
        </p:nvSpPr>
        <p:spPr>
          <a:xfrm>
            <a:off x="2603500" y="2336800"/>
            <a:ext cx="5080000" cy="276999"/>
          </a:xfrm>
          <a:prstGeom prst="rect">
            <a:avLst/>
          </a:prstGeom>
          <a:noFill/>
        </p:spPr>
        <p:txBody>
          <a:bodyPr vert="horz" wrap="square" lIns="0" tIns="0" rIns="0" bIns="0" rtlCol="0">
            <a:noAutofit/>
          </a:bodyPr>
          <a:lstStyle/>
          <a:p>
            <a:pPr>
              <a:spcAft>
                <a:spcPts val="700"/>
              </a:spcAft>
            </a:pPr>
            <a:r>
              <a:rPr lang="en-US" sz="1500" b="1">
                <a:solidFill>
                  <a:srgbClr val="F2F6FC"/>
                </a:solidFill>
                <a:latin typeface="Aptos" panose="020B0004020202020204" pitchFamily="34" charset="0"/>
              </a:rPr>
              <a:t>Files</a:t>
            </a:r>
          </a:p>
        </p:txBody>
      </p:sp>
      <p:sp>
        <p:nvSpPr>
          <p:cNvPr id="12" name="Rectangle 11">
            <a:extLst>
              <a:ext uri="{FF2B5EF4-FFF2-40B4-BE49-F238E27FC236}">
                <a16:creationId xmlns:a16="http://schemas.microsoft.com/office/drawing/2014/main" id="{4BC1DA88-8608-BB89-984F-60E80D70C2EE}"/>
              </a:ext>
            </a:extLst>
          </p:cNvPr>
          <p:cNvSpPr/>
          <p:nvPr/>
        </p:nvSpPr>
        <p:spPr>
          <a:xfrm>
            <a:off x="7810500" y="2222500"/>
            <a:ext cx="3873500" cy="584200"/>
          </a:xfrm>
          <a:prstGeom prst="rect">
            <a:avLst/>
          </a:prstGeom>
          <a:solidFill>
            <a:srgbClr val="234569"/>
          </a:solidFill>
          <a:ln>
            <a:solidFill>
              <a:srgbClr val="23456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7C354C7F-6530-F4BA-9D60-331C39DC7FA8}"/>
              </a:ext>
            </a:extLst>
          </p:cNvPr>
          <p:cNvSpPr txBox="1"/>
          <p:nvPr/>
        </p:nvSpPr>
        <p:spPr>
          <a:xfrm>
            <a:off x="7937500" y="2336800"/>
            <a:ext cx="3619500" cy="276999"/>
          </a:xfrm>
          <a:prstGeom prst="rect">
            <a:avLst/>
          </a:prstGeom>
          <a:noFill/>
        </p:spPr>
        <p:txBody>
          <a:bodyPr vert="horz" wrap="square" lIns="0" tIns="0" rIns="0" bIns="0" rtlCol="0">
            <a:noAutofit/>
          </a:bodyPr>
          <a:lstStyle/>
          <a:p>
            <a:pPr>
              <a:spcAft>
                <a:spcPts val="700"/>
              </a:spcAft>
            </a:pPr>
            <a:r>
              <a:rPr lang="en-US" sz="1500" b="1">
                <a:solidFill>
                  <a:srgbClr val="F2F6FC"/>
                </a:solidFill>
                <a:latin typeface="Aptos" panose="020B0004020202020204" pitchFamily="34" charset="0"/>
              </a:rPr>
              <a:t>What to inspect</a:t>
            </a:r>
          </a:p>
        </p:txBody>
      </p:sp>
      <p:sp>
        <p:nvSpPr>
          <p:cNvPr id="14" name="Rectangle 13">
            <a:extLst>
              <a:ext uri="{FF2B5EF4-FFF2-40B4-BE49-F238E27FC236}">
                <a16:creationId xmlns:a16="http://schemas.microsoft.com/office/drawing/2014/main" id="{7EE05C3E-090A-B5B6-41ED-B5956F8B8F76}"/>
              </a:ext>
            </a:extLst>
          </p:cNvPr>
          <p:cNvSpPr/>
          <p:nvPr/>
        </p:nvSpPr>
        <p:spPr>
          <a:xfrm>
            <a:off x="508000" y="2832100"/>
            <a:ext cx="1968500" cy="5842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4F889454-5F39-E496-E902-CE64D7AB2164}"/>
              </a:ext>
            </a:extLst>
          </p:cNvPr>
          <p:cNvSpPr txBox="1"/>
          <p:nvPr/>
        </p:nvSpPr>
        <p:spPr>
          <a:xfrm>
            <a:off x="635000" y="2946400"/>
            <a:ext cx="1714500" cy="276999"/>
          </a:xfrm>
          <a:prstGeom prst="rect">
            <a:avLst/>
          </a:prstGeom>
          <a:noFill/>
        </p:spPr>
        <p:txBody>
          <a:bodyPr vert="horz" wrap="square" lIns="0" tIns="0" rIns="0" bIns="0" rtlCol="0">
            <a:noAutofit/>
          </a:bodyPr>
          <a:lstStyle/>
          <a:p>
            <a:pPr>
              <a:spcAft>
                <a:spcPts val="700"/>
              </a:spcAft>
            </a:pPr>
            <a:r>
              <a:rPr lang="en-US" sz="1500">
                <a:solidFill>
                  <a:srgbClr val="F2F6FC"/>
                </a:solidFill>
                <a:latin typeface="Aptos" panose="020B0004020202020204" pitchFamily="34" charset="0"/>
              </a:rPr>
              <a:t>1. Foundation</a:t>
            </a:r>
          </a:p>
        </p:txBody>
      </p:sp>
      <p:sp>
        <p:nvSpPr>
          <p:cNvPr id="16" name="Rectangle 15">
            <a:extLst>
              <a:ext uri="{FF2B5EF4-FFF2-40B4-BE49-F238E27FC236}">
                <a16:creationId xmlns:a16="http://schemas.microsoft.com/office/drawing/2014/main" id="{D52ADE03-A3CC-12F0-2113-4128E16D3B6B}"/>
              </a:ext>
            </a:extLst>
          </p:cNvPr>
          <p:cNvSpPr/>
          <p:nvPr/>
        </p:nvSpPr>
        <p:spPr>
          <a:xfrm>
            <a:off x="2476500" y="2832100"/>
            <a:ext cx="5334000" cy="5842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C86D47C0-E7F4-9071-4FD4-D319F1A58883}"/>
              </a:ext>
            </a:extLst>
          </p:cNvPr>
          <p:cNvSpPr txBox="1"/>
          <p:nvPr/>
        </p:nvSpPr>
        <p:spPr>
          <a:xfrm>
            <a:off x="2603500" y="2946400"/>
            <a:ext cx="5080000" cy="276999"/>
          </a:xfrm>
          <a:prstGeom prst="rect">
            <a:avLst/>
          </a:prstGeom>
          <a:noFill/>
        </p:spPr>
        <p:txBody>
          <a:bodyPr vert="horz" wrap="square" lIns="0" tIns="0" rIns="0" bIns="0" rtlCol="0">
            <a:noAutofit/>
          </a:bodyPr>
          <a:lstStyle/>
          <a:p>
            <a:pPr>
              <a:spcAft>
                <a:spcPts val="700"/>
              </a:spcAft>
            </a:pPr>
            <a:r>
              <a:rPr lang="en-US" sz="1500">
                <a:solidFill>
                  <a:srgbClr val="F2F6FC"/>
                </a:solidFill>
                <a:latin typeface="Aptos" panose="020B0004020202020204" pitchFamily="34" charset="0"/>
              </a:rPr>
              <a:t>providers.tf; *_rg.tf; *_vnet.tf</a:t>
            </a:r>
          </a:p>
        </p:txBody>
      </p:sp>
      <p:sp>
        <p:nvSpPr>
          <p:cNvPr id="18" name="Rectangle 17">
            <a:extLst>
              <a:ext uri="{FF2B5EF4-FFF2-40B4-BE49-F238E27FC236}">
                <a16:creationId xmlns:a16="http://schemas.microsoft.com/office/drawing/2014/main" id="{FCFA18BA-B18E-11DA-6D11-EEA18C761577}"/>
              </a:ext>
            </a:extLst>
          </p:cNvPr>
          <p:cNvSpPr/>
          <p:nvPr/>
        </p:nvSpPr>
        <p:spPr>
          <a:xfrm>
            <a:off x="7810500" y="2832100"/>
            <a:ext cx="3873500" cy="5842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28B1A3E5-9461-5FE5-8256-7EA54FEF57E8}"/>
              </a:ext>
            </a:extLst>
          </p:cNvPr>
          <p:cNvSpPr txBox="1"/>
          <p:nvPr/>
        </p:nvSpPr>
        <p:spPr>
          <a:xfrm>
            <a:off x="7937500" y="2946400"/>
            <a:ext cx="3619500" cy="276999"/>
          </a:xfrm>
          <a:prstGeom prst="rect">
            <a:avLst/>
          </a:prstGeom>
          <a:noFill/>
        </p:spPr>
        <p:txBody>
          <a:bodyPr vert="horz" wrap="square" lIns="0" tIns="0" rIns="0" bIns="0" rtlCol="0">
            <a:noAutofit/>
          </a:bodyPr>
          <a:lstStyle/>
          <a:p>
            <a:pPr>
              <a:spcAft>
                <a:spcPts val="700"/>
              </a:spcAft>
            </a:pPr>
            <a:r>
              <a:rPr lang="en-US" sz="1500">
                <a:solidFill>
                  <a:srgbClr val="F2F6FC"/>
                </a:solidFill>
                <a:latin typeface="Aptos" panose="020B0004020202020204" pitchFamily="34" charset="0"/>
              </a:rPr>
              <a:t>Versions, location, address spaces</a:t>
            </a:r>
          </a:p>
        </p:txBody>
      </p:sp>
      <p:sp>
        <p:nvSpPr>
          <p:cNvPr id="20" name="Rectangle 19">
            <a:extLst>
              <a:ext uri="{FF2B5EF4-FFF2-40B4-BE49-F238E27FC236}">
                <a16:creationId xmlns:a16="http://schemas.microsoft.com/office/drawing/2014/main" id="{34BB64CB-4067-5C99-706E-65B74E9B1A36}"/>
              </a:ext>
            </a:extLst>
          </p:cNvPr>
          <p:cNvSpPr/>
          <p:nvPr/>
        </p:nvSpPr>
        <p:spPr>
          <a:xfrm>
            <a:off x="508000" y="3441700"/>
            <a:ext cx="1968500" cy="584200"/>
          </a:xfrm>
          <a:prstGeom prst="rect">
            <a:avLst/>
          </a:prstGeom>
          <a:solidFill>
            <a:srgbClr val="192E4A"/>
          </a:solidFill>
          <a:ln>
            <a:solidFill>
              <a:srgbClr val="192E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C4038115-0BB1-CD61-CA0C-2447A4ABFD67}"/>
              </a:ext>
            </a:extLst>
          </p:cNvPr>
          <p:cNvSpPr txBox="1"/>
          <p:nvPr/>
        </p:nvSpPr>
        <p:spPr>
          <a:xfrm>
            <a:off x="635000" y="3556000"/>
            <a:ext cx="1714500" cy="276999"/>
          </a:xfrm>
          <a:prstGeom prst="rect">
            <a:avLst/>
          </a:prstGeom>
          <a:noFill/>
        </p:spPr>
        <p:txBody>
          <a:bodyPr vert="horz" wrap="square" lIns="0" tIns="0" rIns="0" bIns="0" rtlCol="0">
            <a:noAutofit/>
          </a:bodyPr>
          <a:lstStyle/>
          <a:p>
            <a:pPr>
              <a:spcAft>
                <a:spcPts val="700"/>
              </a:spcAft>
            </a:pPr>
            <a:r>
              <a:rPr lang="en-US" sz="1500">
                <a:solidFill>
                  <a:srgbClr val="F2F6FC"/>
                </a:solidFill>
                <a:latin typeface="Aptos" panose="020B0004020202020204" pitchFamily="34" charset="0"/>
              </a:rPr>
              <a:t>2. Managed forwarding</a:t>
            </a:r>
          </a:p>
        </p:txBody>
      </p:sp>
      <p:sp>
        <p:nvSpPr>
          <p:cNvPr id="22" name="Rectangle 21">
            <a:extLst>
              <a:ext uri="{FF2B5EF4-FFF2-40B4-BE49-F238E27FC236}">
                <a16:creationId xmlns:a16="http://schemas.microsoft.com/office/drawing/2014/main" id="{75DDFF4A-69DE-AB61-1217-E6FA9919855A}"/>
              </a:ext>
            </a:extLst>
          </p:cNvPr>
          <p:cNvSpPr/>
          <p:nvPr/>
        </p:nvSpPr>
        <p:spPr>
          <a:xfrm>
            <a:off x="2476500" y="3441700"/>
            <a:ext cx="5334000" cy="584200"/>
          </a:xfrm>
          <a:prstGeom prst="rect">
            <a:avLst/>
          </a:prstGeom>
          <a:solidFill>
            <a:srgbClr val="192E4A"/>
          </a:solidFill>
          <a:ln>
            <a:solidFill>
              <a:srgbClr val="192E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6BBAAEF4-5749-1E5A-2B99-CABECDC98D92}"/>
              </a:ext>
            </a:extLst>
          </p:cNvPr>
          <p:cNvSpPr txBox="1"/>
          <p:nvPr/>
        </p:nvSpPr>
        <p:spPr>
          <a:xfrm>
            <a:off x="2603500" y="3556000"/>
            <a:ext cx="5080000" cy="276999"/>
          </a:xfrm>
          <a:prstGeom prst="rect">
            <a:avLst/>
          </a:prstGeom>
          <a:noFill/>
        </p:spPr>
        <p:txBody>
          <a:bodyPr vert="horz" wrap="square" lIns="0" tIns="0" rIns="0" bIns="0" rtlCol="0">
            <a:noAutofit/>
          </a:bodyPr>
          <a:lstStyle/>
          <a:p>
            <a:pPr>
              <a:spcAft>
                <a:spcPts val="700"/>
              </a:spcAft>
            </a:pPr>
            <a:r>
              <a:rPr lang="en-US" sz="1500">
                <a:solidFill>
                  <a:srgbClr val="F2F6FC"/>
                </a:solidFill>
                <a:latin typeface="Aptos" panose="020B0004020202020204" pitchFamily="34" charset="0"/>
              </a:rPr>
              <a:t>hub_routing_appliance.tf</a:t>
            </a:r>
          </a:p>
        </p:txBody>
      </p:sp>
      <p:sp>
        <p:nvSpPr>
          <p:cNvPr id="24" name="Rectangle 23">
            <a:extLst>
              <a:ext uri="{FF2B5EF4-FFF2-40B4-BE49-F238E27FC236}">
                <a16:creationId xmlns:a16="http://schemas.microsoft.com/office/drawing/2014/main" id="{6FEE52C6-FB03-52BC-378D-93E40271520A}"/>
              </a:ext>
            </a:extLst>
          </p:cNvPr>
          <p:cNvSpPr/>
          <p:nvPr/>
        </p:nvSpPr>
        <p:spPr>
          <a:xfrm>
            <a:off x="7810500" y="3441700"/>
            <a:ext cx="3873500" cy="584200"/>
          </a:xfrm>
          <a:prstGeom prst="rect">
            <a:avLst/>
          </a:prstGeom>
          <a:solidFill>
            <a:srgbClr val="192E4A"/>
          </a:solidFill>
          <a:ln>
            <a:solidFill>
              <a:srgbClr val="192E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77055D64-0901-2B5A-BFF2-A9D92E007F1B}"/>
              </a:ext>
            </a:extLst>
          </p:cNvPr>
          <p:cNvSpPr txBox="1"/>
          <p:nvPr/>
        </p:nvSpPr>
        <p:spPr>
          <a:xfrm>
            <a:off x="7937500" y="3556000"/>
            <a:ext cx="3619500" cy="276999"/>
          </a:xfrm>
          <a:prstGeom prst="rect">
            <a:avLst/>
          </a:prstGeom>
          <a:noFill/>
        </p:spPr>
        <p:txBody>
          <a:bodyPr vert="horz" wrap="square" lIns="0" tIns="0" rIns="0" bIns="0" rtlCol="0">
            <a:noAutofit/>
          </a:bodyPr>
          <a:lstStyle/>
          <a:p>
            <a:pPr>
              <a:spcAft>
                <a:spcPts val="700"/>
              </a:spcAft>
            </a:pPr>
            <a:r>
              <a:rPr lang="en-US" sz="1500">
                <a:solidFill>
                  <a:srgbClr val="F2F6FC"/>
                </a:solidFill>
                <a:latin typeface="Aptos" panose="020B0004020202020204" pitchFamily="34" charset="0"/>
              </a:rPr>
              <a:t>API version, subnet ID, IP output</a:t>
            </a:r>
          </a:p>
        </p:txBody>
      </p:sp>
      <p:sp>
        <p:nvSpPr>
          <p:cNvPr id="26" name="Rectangle 25">
            <a:extLst>
              <a:ext uri="{FF2B5EF4-FFF2-40B4-BE49-F238E27FC236}">
                <a16:creationId xmlns:a16="http://schemas.microsoft.com/office/drawing/2014/main" id="{27B7A538-B35A-1639-6EFB-0F72DFD806FB}"/>
              </a:ext>
            </a:extLst>
          </p:cNvPr>
          <p:cNvSpPr/>
          <p:nvPr/>
        </p:nvSpPr>
        <p:spPr>
          <a:xfrm>
            <a:off x="508000" y="4051300"/>
            <a:ext cx="1968500" cy="5842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0F6D664A-875F-9497-5AD3-5B1A963C8F6B}"/>
              </a:ext>
            </a:extLst>
          </p:cNvPr>
          <p:cNvSpPr txBox="1"/>
          <p:nvPr/>
        </p:nvSpPr>
        <p:spPr>
          <a:xfrm>
            <a:off x="635000" y="4165600"/>
            <a:ext cx="1714500" cy="276999"/>
          </a:xfrm>
          <a:prstGeom prst="rect">
            <a:avLst/>
          </a:prstGeom>
          <a:noFill/>
        </p:spPr>
        <p:txBody>
          <a:bodyPr vert="horz" wrap="square" lIns="0" tIns="0" rIns="0" bIns="0" rtlCol="0">
            <a:noAutofit/>
          </a:bodyPr>
          <a:lstStyle/>
          <a:p>
            <a:pPr>
              <a:spcAft>
                <a:spcPts val="700"/>
              </a:spcAft>
            </a:pPr>
            <a:r>
              <a:rPr lang="en-US" sz="1500">
                <a:solidFill>
                  <a:srgbClr val="F2F6FC"/>
                </a:solidFill>
                <a:latin typeface="Aptos" panose="020B0004020202020204" pitchFamily="34" charset="0"/>
              </a:rPr>
              <a:t>3. Connectivity</a:t>
            </a:r>
          </a:p>
        </p:txBody>
      </p:sp>
      <p:sp>
        <p:nvSpPr>
          <p:cNvPr id="28" name="Rectangle 27">
            <a:extLst>
              <a:ext uri="{FF2B5EF4-FFF2-40B4-BE49-F238E27FC236}">
                <a16:creationId xmlns:a16="http://schemas.microsoft.com/office/drawing/2014/main" id="{AAF5072B-D167-282E-D602-60CAE6FCFAD7}"/>
              </a:ext>
            </a:extLst>
          </p:cNvPr>
          <p:cNvSpPr/>
          <p:nvPr/>
        </p:nvSpPr>
        <p:spPr>
          <a:xfrm>
            <a:off x="2476500" y="4051300"/>
            <a:ext cx="5334000" cy="5842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015240C1-D6E0-0434-59CC-AA9E65113D21}"/>
              </a:ext>
            </a:extLst>
          </p:cNvPr>
          <p:cNvSpPr txBox="1"/>
          <p:nvPr/>
        </p:nvSpPr>
        <p:spPr>
          <a:xfrm>
            <a:off x="2603500" y="4165600"/>
            <a:ext cx="5080000" cy="276999"/>
          </a:xfrm>
          <a:prstGeom prst="rect">
            <a:avLst/>
          </a:prstGeom>
          <a:noFill/>
        </p:spPr>
        <p:txBody>
          <a:bodyPr vert="horz" wrap="square" lIns="0" tIns="0" rIns="0" bIns="0" rtlCol="0">
            <a:noAutofit/>
          </a:bodyPr>
          <a:lstStyle/>
          <a:p>
            <a:pPr>
              <a:spcAft>
                <a:spcPts val="700"/>
              </a:spcAft>
            </a:pPr>
            <a:r>
              <a:rPr lang="en-US" sz="1500">
                <a:solidFill>
                  <a:srgbClr val="F2F6FC"/>
                </a:solidFill>
                <a:latin typeface="Aptos" panose="020B0004020202020204" pitchFamily="34" charset="0"/>
              </a:rPr>
              <a:t>spoke1_peering.tf; spoke2_peering.tf</a:t>
            </a:r>
          </a:p>
        </p:txBody>
      </p:sp>
      <p:sp>
        <p:nvSpPr>
          <p:cNvPr id="30" name="Rectangle 29">
            <a:extLst>
              <a:ext uri="{FF2B5EF4-FFF2-40B4-BE49-F238E27FC236}">
                <a16:creationId xmlns:a16="http://schemas.microsoft.com/office/drawing/2014/main" id="{C4194E81-90FA-B00D-D3B6-FD58F031BEEB}"/>
              </a:ext>
            </a:extLst>
          </p:cNvPr>
          <p:cNvSpPr/>
          <p:nvPr/>
        </p:nvSpPr>
        <p:spPr>
          <a:xfrm>
            <a:off x="7810500" y="4051300"/>
            <a:ext cx="3873500" cy="5842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82B6B80B-6DB8-366F-5885-80E6AA5D24B6}"/>
              </a:ext>
            </a:extLst>
          </p:cNvPr>
          <p:cNvSpPr txBox="1"/>
          <p:nvPr/>
        </p:nvSpPr>
        <p:spPr>
          <a:xfrm>
            <a:off x="7937500" y="4165600"/>
            <a:ext cx="3619500" cy="276999"/>
          </a:xfrm>
          <a:prstGeom prst="rect">
            <a:avLst/>
          </a:prstGeom>
          <a:noFill/>
        </p:spPr>
        <p:txBody>
          <a:bodyPr vert="horz" wrap="square" lIns="0" tIns="0" rIns="0" bIns="0" rtlCol="0">
            <a:noAutofit/>
          </a:bodyPr>
          <a:lstStyle/>
          <a:p>
            <a:pPr>
              <a:spcAft>
                <a:spcPts val="700"/>
              </a:spcAft>
            </a:pPr>
            <a:r>
              <a:rPr lang="en-US" sz="1500">
                <a:solidFill>
                  <a:srgbClr val="F2F6FC"/>
                </a:solidFill>
                <a:latin typeface="Aptos" panose="020B0004020202020204" pitchFamily="34" charset="0"/>
              </a:rPr>
              <a:t>Bidirectional peering; forwarded traffic</a:t>
            </a:r>
          </a:p>
        </p:txBody>
      </p:sp>
      <p:sp>
        <p:nvSpPr>
          <p:cNvPr id="32" name="Rectangle 31">
            <a:extLst>
              <a:ext uri="{FF2B5EF4-FFF2-40B4-BE49-F238E27FC236}">
                <a16:creationId xmlns:a16="http://schemas.microsoft.com/office/drawing/2014/main" id="{06A951F4-6BC3-2039-2539-6E7B9CCA465D}"/>
              </a:ext>
            </a:extLst>
          </p:cNvPr>
          <p:cNvSpPr/>
          <p:nvPr/>
        </p:nvSpPr>
        <p:spPr>
          <a:xfrm>
            <a:off x="508000" y="4660900"/>
            <a:ext cx="1968500" cy="584200"/>
          </a:xfrm>
          <a:prstGeom prst="rect">
            <a:avLst/>
          </a:prstGeom>
          <a:solidFill>
            <a:srgbClr val="192E4A"/>
          </a:solidFill>
          <a:ln>
            <a:solidFill>
              <a:srgbClr val="192E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6A9B1353-0617-04A1-116B-60DB0C15F33A}"/>
              </a:ext>
            </a:extLst>
          </p:cNvPr>
          <p:cNvSpPr txBox="1"/>
          <p:nvPr/>
        </p:nvSpPr>
        <p:spPr>
          <a:xfrm>
            <a:off x="635000" y="4775200"/>
            <a:ext cx="1714500" cy="276999"/>
          </a:xfrm>
          <a:prstGeom prst="rect">
            <a:avLst/>
          </a:prstGeom>
          <a:noFill/>
        </p:spPr>
        <p:txBody>
          <a:bodyPr vert="horz" wrap="square" lIns="0" tIns="0" rIns="0" bIns="0" rtlCol="0">
            <a:noAutofit/>
          </a:bodyPr>
          <a:lstStyle/>
          <a:p>
            <a:pPr>
              <a:spcAft>
                <a:spcPts val="700"/>
              </a:spcAft>
            </a:pPr>
            <a:r>
              <a:rPr lang="en-US" sz="1500">
                <a:solidFill>
                  <a:srgbClr val="F2F6FC"/>
                </a:solidFill>
                <a:latin typeface="Aptos" panose="020B0004020202020204" pitchFamily="34" charset="0"/>
              </a:rPr>
              <a:t>4. Traffic steering</a:t>
            </a:r>
          </a:p>
        </p:txBody>
      </p:sp>
      <p:sp>
        <p:nvSpPr>
          <p:cNvPr id="34" name="Rectangle 33">
            <a:extLst>
              <a:ext uri="{FF2B5EF4-FFF2-40B4-BE49-F238E27FC236}">
                <a16:creationId xmlns:a16="http://schemas.microsoft.com/office/drawing/2014/main" id="{3910AE27-723B-C334-98B9-865E925879E7}"/>
              </a:ext>
            </a:extLst>
          </p:cNvPr>
          <p:cNvSpPr/>
          <p:nvPr/>
        </p:nvSpPr>
        <p:spPr>
          <a:xfrm>
            <a:off x="2476500" y="4660900"/>
            <a:ext cx="5334000" cy="584200"/>
          </a:xfrm>
          <a:prstGeom prst="rect">
            <a:avLst/>
          </a:prstGeom>
          <a:solidFill>
            <a:srgbClr val="192E4A"/>
          </a:solidFill>
          <a:ln>
            <a:solidFill>
              <a:srgbClr val="192E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24894149-88E1-4EBE-579F-42D2C1C63137}"/>
              </a:ext>
            </a:extLst>
          </p:cNvPr>
          <p:cNvSpPr txBox="1"/>
          <p:nvPr/>
        </p:nvSpPr>
        <p:spPr>
          <a:xfrm>
            <a:off x="2603500" y="4775200"/>
            <a:ext cx="5080000" cy="276999"/>
          </a:xfrm>
          <a:prstGeom prst="rect">
            <a:avLst/>
          </a:prstGeom>
          <a:noFill/>
        </p:spPr>
        <p:txBody>
          <a:bodyPr vert="horz" wrap="square" lIns="0" tIns="0" rIns="0" bIns="0" rtlCol="0">
            <a:noAutofit/>
          </a:bodyPr>
          <a:lstStyle/>
          <a:p>
            <a:pPr>
              <a:spcAft>
                <a:spcPts val="700"/>
              </a:spcAft>
            </a:pPr>
            <a:r>
              <a:rPr lang="en-US" sz="1500">
                <a:solidFill>
                  <a:srgbClr val="F2F6FC"/>
                </a:solidFill>
                <a:latin typeface="Aptos" panose="020B0004020202020204" pitchFamily="34" charset="0"/>
              </a:rPr>
              <a:t>spoke1_route_table.tf; spoke2_route_table.tf</a:t>
            </a:r>
          </a:p>
        </p:txBody>
      </p:sp>
      <p:sp>
        <p:nvSpPr>
          <p:cNvPr id="36" name="Rectangle 35">
            <a:extLst>
              <a:ext uri="{FF2B5EF4-FFF2-40B4-BE49-F238E27FC236}">
                <a16:creationId xmlns:a16="http://schemas.microsoft.com/office/drawing/2014/main" id="{3DCABD0D-08DB-2497-F20F-E1B1E144E4E7}"/>
              </a:ext>
            </a:extLst>
          </p:cNvPr>
          <p:cNvSpPr/>
          <p:nvPr/>
        </p:nvSpPr>
        <p:spPr>
          <a:xfrm>
            <a:off x="7810500" y="4660900"/>
            <a:ext cx="3873500" cy="584200"/>
          </a:xfrm>
          <a:prstGeom prst="rect">
            <a:avLst/>
          </a:prstGeom>
          <a:solidFill>
            <a:srgbClr val="192E4A"/>
          </a:solidFill>
          <a:ln>
            <a:solidFill>
              <a:srgbClr val="192E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1BC7ADF0-945D-918D-7A3C-61748DF543C9}"/>
              </a:ext>
            </a:extLst>
          </p:cNvPr>
          <p:cNvSpPr txBox="1"/>
          <p:nvPr/>
        </p:nvSpPr>
        <p:spPr>
          <a:xfrm>
            <a:off x="7937500" y="4775200"/>
            <a:ext cx="3619500" cy="276999"/>
          </a:xfrm>
          <a:prstGeom prst="rect">
            <a:avLst/>
          </a:prstGeom>
          <a:noFill/>
        </p:spPr>
        <p:txBody>
          <a:bodyPr vert="horz" wrap="square" lIns="0" tIns="0" rIns="0" bIns="0" rtlCol="0">
            <a:noAutofit/>
          </a:bodyPr>
          <a:lstStyle/>
          <a:p>
            <a:pPr>
              <a:spcAft>
                <a:spcPts val="700"/>
              </a:spcAft>
            </a:pPr>
            <a:r>
              <a:rPr lang="en-US" sz="1500">
                <a:solidFill>
                  <a:srgbClr val="F2F6FC"/>
                </a:solidFill>
                <a:latin typeface="Aptos" panose="020B0004020202020204" pitchFamily="34" charset="0"/>
              </a:rPr>
              <a:t>UDR destination, next hop, association</a:t>
            </a:r>
          </a:p>
        </p:txBody>
      </p:sp>
      <p:sp>
        <p:nvSpPr>
          <p:cNvPr id="38" name="Rectangle 37">
            <a:extLst>
              <a:ext uri="{FF2B5EF4-FFF2-40B4-BE49-F238E27FC236}">
                <a16:creationId xmlns:a16="http://schemas.microsoft.com/office/drawing/2014/main" id="{E49E710E-35A4-A66D-B438-85CAA793FAD1}"/>
              </a:ext>
            </a:extLst>
          </p:cNvPr>
          <p:cNvSpPr/>
          <p:nvPr/>
        </p:nvSpPr>
        <p:spPr>
          <a:xfrm>
            <a:off x="508000" y="5270500"/>
            <a:ext cx="1968500" cy="5842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4788483E-1DAD-08CA-6B66-14F3C65FDC96}"/>
              </a:ext>
            </a:extLst>
          </p:cNvPr>
          <p:cNvSpPr txBox="1"/>
          <p:nvPr/>
        </p:nvSpPr>
        <p:spPr>
          <a:xfrm>
            <a:off x="635000" y="5384800"/>
            <a:ext cx="1714500" cy="276999"/>
          </a:xfrm>
          <a:prstGeom prst="rect">
            <a:avLst/>
          </a:prstGeom>
          <a:noFill/>
        </p:spPr>
        <p:txBody>
          <a:bodyPr vert="horz" wrap="square" lIns="0" tIns="0" rIns="0" bIns="0" rtlCol="0">
            <a:noAutofit/>
          </a:bodyPr>
          <a:lstStyle/>
          <a:p>
            <a:pPr>
              <a:spcAft>
                <a:spcPts val="700"/>
              </a:spcAft>
            </a:pPr>
            <a:r>
              <a:rPr lang="en-US" sz="1500">
                <a:solidFill>
                  <a:srgbClr val="F2F6FC"/>
                </a:solidFill>
                <a:latin typeface="Aptos" panose="020B0004020202020204" pitchFamily="34" charset="0"/>
              </a:rPr>
              <a:t>5. Workloads / access</a:t>
            </a:r>
          </a:p>
        </p:txBody>
      </p:sp>
      <p:sp>
        <p:nvSpPr>
          <p:cNvPr id="40" name="Rectangle 39">
            <a:extLst>
              <a:ext uri="{FF2B5EF4-FFF2-40B4-BE49-F238E27FC236}">
                <a16:creationId xmlns:a16="http://schemas.microsoft.com/office/drawing/2014/main" id="{0EEC8567-A366-8D03-9B2C-5439410A41BA}"/>
              </a:ext>
            </a:extLst>
          </p:cNvPr>
          <p:cNvSpPr/>
          <p:nvPr/>
        </p:nvSpPr>
        <p:spPr>
          <a:xfrm>
            <a:off x="2476500" y="5270500"/>
            <a:ext cx="5334000" cy="5842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039B9D50-A05E-50C4-E0B1-3D6D258DBBC0}"/>
              </a:ext>
            </a:extLst>
          </p:cNvPr>
          <p:cNvSpPr txBox="1"/>
          <p:nvPr/>
        </p:nvSpPr>
        <p:spPr>
          <a:xfrm>
            <a:off x="2603500" y="5384800"/>
            <a:ext cx="5080000" cy="276999"/>
          </a:xfrm>
          <a:prstGeom prst="rect">
            <a:avLst/>
          </a:prstGeom>
          <a:noFill/>
        </p:spPr>
        <p:txBody>
          <a:bodyPr vert="horz" wrap="square" lIns="0" tIns="0" rIns="0" bIns="0" rtlCol="0">
            <a:noAutofit/>
          </a:bodyPr>
          <a:lstStyle/>
          <a:p>
            <a:pPr>
              <a:spcAft>
                <a:spcPts val="700"/>
              </a:spcAft>
            </a:pPr>
            <a:r>
              <a:rPr lang="en-US" sz="1500">
                <a:solidFill>
                  <a:srgbClr val="F2F6FC"/>
                </a:solidFill>
                <a:latin typeface="Aptos" panose="020B0004020202020204" pitchFamily="34" charset="0"/>
              </a:rPr>
              <a:t>spoke1_vm.tf; spoke2_vm.tf; bastion.tf</a:t>
            </a:r>
          </a:p>
        </p:txBody>
      </p:sp>
      <p:sp>
        <p:nvSpPr>
          <p:cNvPr id="42" name="Rectangle 41">
            <a:extLst>
              <a:ext uri="{FF2B5EF4-FFF2-40B4-BE49-F238E27FC236}">
                <a16:creationId xmlns:a16="http://schemas.microsoft.com/office/drawing/2014/main" id="{0AF3FAB5-E4A5-79E0-2C49-39E463C5E86E}"/>
              </a:ext>
            </a:extLst>
          </p:cNvPr>
          <p:cNvSpPr/>
          <p:nvPr/>
        </p:nvSpPr>
        <p:spPr>
          <a:xfrm>
            <a:off x="7810500" y="5270500"/>
            <a:ext cx="3873500" cy="5842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CB3AF789-C20E-CB91-A8EF-997CB55DC7D3}"/>
              </a:ext>
            </a:extLst>
          </p:cNvPr>
          <p:cNvSpPr txBox="1"/>
          <p:nvPr/>
        </p:nvSpPr>
        <p:spPr>
          <a:xfrm>
            <a:off x="7937500" y="5384800"/>
            <a:ext cx="3619500" cy="276999"/>
          </a:xfrm>
          <a:prstGeom prst="rect">
            <a:avLst/>
          </a:prstGeom>
          <a:noFill/>
        </p:spPr>
        <p:txBody>
          <a:bodyPr vert="horz" wrap="square" lIns="0" tIns="0" rIns="0" bIns="0" rtlCol="0">
            <a:noAutofit/>
          </a:bodyPr>
          <a:lstStyle/>
          <a:p>
            <a:pPr>
              <a:spcAft>
                <a:spcPts val="700"/>
              </a:spcAft>
            </a:pPr>
            <a:r>
              <a:rPr lang="en-US" sz="1500">
                <a:solidFill>
                  <a:srgbClr val="F2F6FC"/>
                </a:solidFill>
                <a:latin typeface="Aptos" panose="020B0004020202020204" pitchFamily="34" charset="0"/>
              </a:rPr>
              <a:t>Private VMs, bootstrap, Bastion</a:t>
            </a:r>
          </a:p>
        </p:txBody>
      </p:sp>
    </p:spTree>
    <p:extLst>
      <p:ext uri="{BB962C8B-B14F-4D97-AF65-F5344CB8AC3E}">
        <p14:creationId xmlns:p14="http://schemas.microsoft.com/office/powerpoint/2010/main" val="12777389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C183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17DB72A-7506-C347-2E80-E4F9E44BA835}"/>
              </a:ext>
            </a:extLst>
          </p:cNvPr>
          <p:cNvSpPr/>
          <p:nvPr/>
        </p:nvSpPr>
        <p:spPr>
          <a:xfrm>
            <a:off x="0" y="0"/>
            <a:ext cx="12192000" cy="63500"/>
          </a:xfrm>
          <a:prstGeom prst="rect">
            <a:avLst/>
          </a:prstGeom>
          <a:solidFill>
            <a:srgbClr val="35D4E8"/>
          </a:solidFill>
          <a:ln>
            <a:solidFill>
              <a:srgbClr val="35D4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E61E6E3-4FDD-0851-5F27-B24333671EFD}"/>
              </a:ext>
            </a:extLst>
          </p:cNvPr>
          <p:cNvSpPr txBox="1"/>
          <p:nvPr/>
        </p:nvSpPr>
        <p:spPr>
          <a:xfrm>
            <a:off x="508000" y="292100"/>
            <a:ext cx="10795000" cy="276999"/>
          </a:xfrm>
          <a:prstGeom prst="rect">
            <a:avLst/>
          </a:prstGeom>
          <a:noFill/>
        </p:spPr>
        <p:txBody>
          <a:bodyPr vert="horz" wrap="square" lIns="0" tIns="0" rIns="0" bIns="0" rtlCol="0">
            <a:noAutofit/>
          </a:bodyPr>
          <a:lstStyle/>
          <a:p>
            <a:pPr>
              <a:spcAft>
                <a:spcPts val="700"/>
              </a:spcAft>
            </a:pPr>
            <a:r>
              <a:rPr lang="en-US" sz="1000" b="1">
                <a:solidFill>
                  <a:srgbClr val="35D4E8"/>
                </a:solidFill>
                <a:latin typeface="Aptos" panose="020B0004020202020204" pitchFamily="34" charset="0"/>
              </a:rPr>
              <a:t>07 / MANAGED RESOURCE</a:t>
            </a:r>
          </a:p>
        </p:txBody>
      </p:sp>
      <p:sp>
        <p:nvSpPr>
          <p:cNvPr id="4" name="TextBox 3">
            <a:extLst>
              <a:ext uri="{FF2B5EF4-FFF2-40B4-BE49-F238E27FC236}">
                <a16:creationId xmlns:a16="http://schemas.microsoft.com/office/drawing/2014/main" id="{7C02DD75-FA57-C962-4E6D-B54D792144D9}"/>
              </a:ext>
            </a:extLst>
          </p:cNvPr>
          <p:cNvSpPr txBox="1"/>
          <p:nvPr/>
        </p:nvSpPr>
        <p:spPr>
          <a:xfrm>
            <a:off x="508000" y="723900"/>
            <a:ext cx="11176000" cy="276999"/>
          </a:xfrm>
          <a:prstGeom prst="rect">
            <a:avLst/>
          </a:prstGeom>
          <a:noFill/>
        </p:spPr>
        <p:txBody>
          <a:bodyPr vert="horz" wrap="square" lIns="0" tIns="0" rIns="0" bIns="0" rtlCol="0">
            <a:noAutofit/>
          </a:bodyPr>
          <a:lstStyle/>
          <a:p>
            <a:pPr>
              <a:spcAft>
                <a:spcPts val="700"/>
              </a:spcAft>
            </a:pPr>
            <a:r>
              <a:rPr lang="en-US" sz="3000" b="1">
                <a:solidFill>
                  <a:srgbClr val="F2F6FC"/>
                </a:solidFill>
                <a:latin typeface="Aptos" panose="020B0004020202020204" pitchFamily="34" charset="0"/>
              </a:rPr>
              <a:t>Deploy the appliance with AzAPI</a:t>
            </a:r>
          </a:p>
        </p:txBody>
      </p:sp>
      <p:sp>
        <p:nvSpPr>
          <p:cNvPr id="5" name="TextBox 4">
            <a:extLst>
              <a:ext uri="{FF2B5EF4-FFF2-40B4-BE49-F238E27FC236}">
                <a16:creationId xmlns:a16="http://schemas.microsoft.com/office/drawing/2014/main" id="{A36632F0-D2F4-076D-479B-199BEF6E7037}"/>
              </a:ext>
            </a:extLst>
          </p:cNvPr>
          <p:cNvSpPr txBox="1"/>
          <p:nvPr/>
        </p:nvSpPr>
        <p:spPr>
          <a:xfrm>
            <a:off x="508000" y="1562100"/>
            <a:ext cx="11176000" cy="276999"/>
          </a:xfrm>
          <a:prstGeom prst="rect">
            <a:avLst/>
          </a:prstGeom>
          <a:noFill/>
        </p:spPr>
        <p:txBody>
          <a:bodyPr vert="horz" wrap="square" lIns="0" tIns="0" rIns="0" bIns="0" rtlCol="0">
            <a:noAutofit/>
          </a:bodyPr>
          <a:lstStyle/>
          <a:p>
            <a:pPr>
              <a:spcAft>
                <a:spcPts val="700"/>
              </a:spcAft>
            </a:pPr>
            <a:r>
              <a:rPr lang="en-US" sz="1400">
                <a:solidFill>
                  <a:srgbClr val="B6C5D9"/>
                </a:solidFill>
                <a:latin typeface="Aptos" panose="020B0004020202020204" pitchFamily="34" charset="0"/>
              </a:rPr>
              <a:t>AzureRM builds the surrounding network; AzAPI creates the managed routing resource.</a:t>
            </a:r>
          </a:p>
        </p:txBody>
      </p:sp>
      <p:sp>
        <p:nvSpPr>
          <p:cNvPr id="6" name="Rectangle 5">
            <a:extLst>
              <a:ext uri="{FF2B5EF4-FFF2-40B4-BE49-F238E27FC236}">
                <a16:creationId xmlns:a16="http://schemas.microsoft.com/office/drawing/2014/main" id="{1853592B-7D53-852E-B90B-48242ECD331F}"/>
              </a:ext>
            </a:extLst>
          </p:cNvPr>
          <p:cNvSpPr/>
          <p:nvPr/>
        </p:nvSpPr>
        <p:spPr>
          <a:xfrm>
            <a:off x="508000" y="6413500"/>
            <a:ext cx="11176000" cy="12700"/>
          </a:xfrm>
          <a:prstGeom prst="rect">
            <a:avLst/>
          </a:prstGeom>
          <a:solidFill>
            <a:srgbClr val="31415B"/>
          </a:solidFill>
          <a:ln>
            <a:solidFill>
              <a:srgbClr val="3141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BD81D3C-735F-EAE5-BF65-FD289C108891}"/>
              </a:ext>
            </a:extLst>
          </p:cNvPr>
          <p:cNvSpPr txBox="1"/>
          <p:nvPr/>
        </p:nvSpPr>
        <p:spPr>
          <a:xfrm>
            <a:off x="508000" y="6553200"/>
            <a:ext cx="8890000" cy="276999"/>
          </a:xfrm>
          <a:prstGeom prst="rect">
            <a:avLst/>
          </a:prstGeom>
          <a:noFill/>
        </p:spPr>
        <p:txBody>
          <a:bodyPr vert="horz" wrap="square" lIns="0" tIns="0" rIns="0" bIns="0" rtlCol="0">
            <a:noAutofit/>
          </a:bodyPr>
          <a:lstStyle/>
          <a:p>
            <a:pPr>
              <a:spcAft>
                <a:spcPts val="700"/>
              </a:spcAft>
            </a:pPr>
            <a:r>
              <a:rPr lang="en-US" sz="900">
                <a:solidFill>
                  <a:srgbClr val="B6C5D9"/>
                </a:solidFill>
                <a:latin typeface="Aptos" panose="020B0004020202020204" pitchFamily="34" charset="0"/>
              </a:rPr>
              <a:t>AZURE NETWORK COURSE  /  LAB 240</a:t>
            </a:r>
          </a:p>
        </p:txBody>
      </p:sp>
      <p:sp>
        <p:nvSpPr>
          <p:cNvPr id="8" name="TextBox 7">
            <a:extLst>
              <a:ext uri="{FF2B5EF4-FFF2-40B4-BE49-F238E27FC236}">
                <a16:creationId xmlns:a16="http://schemas.microsoft.com/office/drawing/2014/main" id="{C19D0EAB-27A4-7772-796D-00751B9254CF}"/>
              </a:ext>
            </a:extLst>
          </p:cNvPr>
          <p:cNvSpPr txBox="1"/>
          <p:nvPr/>
        </p:nvSpPr>
        <p:spPr>
          <a:xfrm>
            <a:off x="11214100" y="6527800"/>
            <a:ext cx="469900" cy="276999"/>
          </a:xfrm>
          <a:prstGeom prst="rect">
            <a:avLst/>
          </a:prstGeom>
          <a:noFill/>
        </p:spPr>
        <p:txBody>
          <a:bodyPr vert="horz" wrap="square" lIns="0" tIns="0" rIns="0" bIns="0" rtlCol="0">
            <a:noAutofit/>
          </a:bodyPr>
          <a:lstStyle/>
          <a:p>
            <a:pPr>
              <a:spcAft>
                <a:spcPts val="700"/>
              </a:spcAft>
            </a:pPr>
            <a:r>
              <a:rPr lang="en-US" sz="1100" b="1">
                <a:solidFill>
                  <a:srgbClr val="35D4E8"/>
                </a:solidFill>
                <a:latin typeface="Aptos" panose="020B0004020202020204" pitchFamily="34" charset="0"/>
              </a:rPr>
              <a:t>08</a:t>
            </a:r>
          </a:p>
        </p:txBody>
      </p:sp>
      <p:sp>
        <p:nvSpPr>
          <p:cNvPr id="9" name="Rectangle 8">
            <a:extLst>
              <a:ext uri="{FF2B5EF4-FFF2-40B4-BE49-F238E27FC236}">
                <a16:creationId xmlns:a16="http://schemas.microsoft.com/office/drawing/2014/main" id="{311F2591-2201-C341-547C-DC56D0A53A83}"/>
              </a:ext>
            </a:extLst>
          </p:cNvPr>
          <p:cNvSpPr/>
          <p:nvPr/>
        </p:nvSpPr>
        <p:spPr>
          <a:xfrm>
            <a:off x="508000" y="2286000"/>
            <a:ext cx="11176000" cy="3263900"/>
          </a:xfrm>
          <a:prstGeom prst="rect">
            <a:avLst/>
          </a:prstGeom>
          <a:solidFill>
            <a:srgbClr val="081324"/>
          </a:solidFill>
          <a:ln>
            <a:solidFill>
              <a:srgbClr val="0813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0355A45-932E-FFE1-BE0E-AEC028D788E1}"/>
              </a:ext>
            </a:extLst>
          </p:cNvPr>
          <p:cNvSpPr txBox="1"/>
          <p:nvPr/>
        </p:nvSpPr>
        <p:spPr>
          <a:xfrm>
            <a:off x="736600" y="2476500"/>
            <a:ext cx="10718800" cy="276999"/>
          </a:xfrm>
          <a:prstGeom prst="rect">
            <a:avLst/>
          </a:prstGeom>
          <a:noFill/>
        </p:spPr>
        <p:txBody>
          <a:bodyPr vert="horz" wrap="square" lIns="0" tIns="0" rIns="0" bIns="0" rtlCol="0">
            <a:noAutofit/>
          </a:bodyPr>
          <a:lstStyle/>
          <a:p>
            <a:pPr>
              <a:spcAft>
                <a:spcPts val="700"/>
              </a:spcAft>
            </a:pPr>
            <a:r>
              <a:rPr lang="en-US" sz="1600">
                <a:solidFill>
                  <a:srgbClr val="F2F6FC"/>
                </a:solidFill>
                <a:latin typeface="Consolas" panose="020B0609020204030204" pitchFamily="49" charset="0"/>
              </a:rPr>
              <a:t>type = "Microsoft.Network/virtualNetworkAppliances@2026-05-01"</a:t>
            </a:r>
          </a:p>
          <a:p>
            <a:pPr>
              <a:spcAft>
                <a:spcPts val="700"/>
              </a:spcAft>
            </a:pPr>
            <a:r>
              <a:rPr lang="en-US" sz="1600">
                <a:solidFill>
                  <a:srgbClr val="F2F6FC"/>
                </a:solidFill>
                <a:latin typeface="Consolas" panose="020B0609020204030204" pitchFamily="49" charset="0"/>
              </a:rPr>
              <a:t>name = "hub-routing-appliance"</a:t>
            </a:r>
          </a:p>
          <a:p>
            <a:pPr>
              <a:spcAft>
                <a:spcPts val="700"/>
              </a:spcAft>
            </a:pPr>
            <a:r>
              <a:rPr lang="en-US" sz="1600">
                <a:solidFill>
                  <a:srgbClr val="F2F6FC"/>
                </a:solidFill>
                <a:latin typeface="Consolas" panose="020B0609020204030204" pitchFamily="49" charset="0"/>
              </a:rPr>
              <a:t>properties = {</a:t>
            </a:r>
          </a:p>
          <a:p>
            <a:pPr>
              <a:spcAft>
                <a:spcPts val="700"/>
              </a:spcAft>
            </a:pPr>
            <a:r>
              <a:rPr lang="en-US" sz="1600">
                <a:solidFill>
                  <a:srgbClr val="F2F6FC"/>
                </a:solidFill>
                <a:latin typeface="Consolas" panose="020B0609020204030204" pitchFamily="49" charset="0"/>
              </a:rPr>
              <a:t>  bandwidthInGbps         = 10</a:t>
            </a:r>
          </a:p>
          <a:p>
            <a:pPr>
              <a:spcAft>
                <a:spcPts val="700"/>
              </a:spcAft>
            </a:pPr>
            <a:r>
              <a:rPr lang="en-US" sz="1600">
                <a:solidFill>
                  <a:srgbClr val="F2F6FC"/>
                </a:solidFill>
                <a:latin typeface="Consolas" panose="020B0609020204030204" pitchFamily="49" charset="0"/>
              </a:rPr>
              <a:t>  privateIPAddressVersion = "IPv4"</a:t>
            </a:r>
          </a:p>
          <a:p>
            <a:pPr>
              <a:spcAft>
                <a:spcPts val="700"/>
              </a:spcAft>
            </a:pPr>
            <a:r>
              <a:rPr lang="en-US" sz="1600">
                <a:solidFill>
                  <a:srgbClr val="F2F6FC"/>
                </a:solidFill>
                <a:latin typeface="Consolas" panose="020B0609020204030204" pitchFamily="49" charset="0"/>
              </a:rPr>
              <a:t>  subnet = { id = azurerm_subnet.snet_routing_appliance.id }</a:t>
            </a:r>
          </a:p>
          <a:p>
            <a:pPr>
              <a:spcAft>
                <a:spcPts val="700"/>
              </a:spcAft>
            </a:pPr>
            <a:r>
              <a:rPr lang="en-US" sz="1600">
                <a:solidFill>
                  <a:srgbClr val="F2F6FC"/>
                </a:solidFill>
                <a:latin typeface="Consolas" panose="020B0609020204030204" pitchFamily="49" charset="0"/>
              </a:rPr>
              <a:t>}</a:t>
            </a:r>
          </a:p>
          <a:p>
            <a:pPr>
              <a:spcAft>
                <a:spcPts val="700"/>
              </a:spcAft>
            </a:pPr>
            <a:r>
              <a:rPr lang="en-US" sz="1600">
                <a:solidFill>
                  <a:srgbClr val="F2F6FC"/>
                </a:solidFill>
                <a:latin typeface="Consolas" panose="020B0609020204030204" pitchFamily="49" charset="0"/>
              </a:rPr>
              <a:t>response_export_values = ["*"]</a:t>
            </a:r>
          </a:p>
        </p:txBody>
      </p:sp>
      <p:sp>
        <p:nvSpPr>
          <p:cNvPr id="11" name="TextBox 10">
            <a:extLst>
              <a:ext uri="{FF2B5EF4-FFF2-40B4-BE49-F238E27FC236}">
                <a16:creationId xmlns:a16="http://schemas.microsoft.com/office/drawing/2014/main" id="{85C80D8E-6150-7946-F50E-5BA462845560}"/>
              </a:ext>
            </a:extLst>
          </p:cNvPr>
          <p:cNvSpPr txBox="1"/>
          <p:nvPr/>
        </p:nvSpPr>
        <p:spPr>
          <a:xfrm>
            <a:off x="508000" y="5727700"/>
            <a:ext cx="11176000" cy="276999"/>
          </a:xfrm>
          <a:prstGeom prst="rect">
            <a:avLst/>
          </a:prstGeom>
          <a:noFill/>
        </p:spPr>
        <p:txBody>
          <a:bodyPr vert="horz" wrap="square" lIns="0" tIns="0" rIns="0" bIns="0" rtlCol="0">
            <a:noAutofit/>
          </a:bodyPr>
          <a:lstStyle/>
          <a:p>
            <a:pPr>
              <a:spcAft>
                <a:spcPts val="700"/>
              </a:spcAft>
            </a:pPr>
            <a:r>
              <a:rPr lang="en-US" sz="1500" b="1">
                <a:solidFill>
                  <a:srgbClr val="35D4E8"/>
                </a:solidFill>
                <a:latin typeface="Aptos" panose="020B0004020202020204" pitchFamily="34" charset="0"/>
              </a:rPr>
              <a:t>Next-hop IP: output.properties.ipConfigurations.0.properties.privateIPAddress</a:t>
            </a:r>
          </a:p>
        </p:txBody>
      </p:sp>
    </p:spTree>
    <p:extLst>
      <p:ext uri="{BB962C8B-B14F-4D97-AF65-F5344CB8AC3E}">
        <p14:creationId xmlns:p14="http://schemas.microsoft.com/office/powerpoint/2010/main" val="8616585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C183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CC22012-FE4C-0F95-26F9-C40A378041B6}"/>
              </a:ext>
            </a:extLst>
          </p:cNvPr>
          <p:cNvSpPr/>
          <p:nvPr/>
        </p:nvSpPr>
        <p:spPr>
          <a:xfrm>
            <a:off x="0" y="0"/>
            <a:ext cx="12192000" cy="63500"/>
          </a:xfrm>
          <a:prstGeom prst="rect">
            <a:avLst/>
          </a:prstGeom>
          <a:solidFill>
            <a:srgbClr val="35D4E8"/>
          </a:solidFill>
          <a:ln>
            <a:solidFill>
              <a:srgbClr val="35D4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B5B9607-A6E2-EC7E-496C-F746DEB952B2}"/>
              </a:ext>
            </a:extLst>
          </p:cNvPr>
          <p:cNvSpPr txBox="1"/>
          <p:nvPr/>
        </p:nvSpPr>
        <p:spPr>
          <a:xfrm>
            <a:off x="508000" y="292100"/>
            <a:ext cx="10795000" cy="276999"/>
          </a:xfrm>
          <a:prstGeom prst="rect">
            <a:avLst/>
          </a:prstGeom>
          <a:noFill/>
        </p:spPr>
        <p:txBody>
          <a:bodyPr vert="horz" wrap="square" lIns="0" tIns="0" rIns="0" bIns="0" rtlCol="0">
            <a:noAutofit/>
          </a:bodyPr>
          <a:lstStyle/>
          <a:p>
            <a:pPr>
              <a:spcAft>
                <a:spcPts val="700"/>
              </a:spcAft>
            </a:pPr>
            <a:r>
              <a:rPr lang="en-US" sz="1000" b="1">
                <a:solidFill>
                  <a:srgbClr val="35D4E8"/>
                </a:solidFill>
                <a:latin typeface="Aptos" panose="020B0004020202020204" pitchFamily="34" charset="0"/>
              </a:rPr>
              <a:t>08 / USER-DEFINED ROUTES</a:t>
            </a:r>
          </a:p>
        </p:txBody>
      </p:sp>
      <p:sp>
        <p:nvSpPr>
          <p:cNvPr id="4" name="TextBox 3">
            <a:extLst>
              <a:ext uri="{FF2B5EF4-FFF2-40B4-BE49-F238E27FC236}">
                <a16:creationId xmlns:a16="http://schemas.microsoft.com/office/drawing/2014/main" id="{D405A10D-6E92-36FD-9C69-68C097D07B25}"/>
              </a:ext>
            </a:extLst>
          </p:cNvPr>
          <p:cNvSpPr txBox="1"/>
          <p:nvPr/>
        </p:nvSpPr>
        <p:spPr>
          <a:xfrm>
            <a:off x="508000" y="723900"/>
            <a:ext cx="11176000" cy="276999"/>
          </a:xfrm>
          <a:prstGeom prst="rect">
            <a:avLst/>
          </a:prstGeom>
          <a:noFill/>
        </p:spPr>
        <p:txBody>
          <a:bodyPr vert="horz" wrap="square" lIns="0" tIns="0" rIns="0" bIns="0" rtlCol="0">
            <a:noAutofit/>
          </a:bodyPr>
          <a:lstStyle/>
          <a:p>
            <a:pPr>
              <a:spcAft>
                <a:spcPts val="700"/>
              </a:spcAft>
            </a:pPr>
            <a:r>
              <a:rPr lang="en-US" sz="3000" b="1">
                <a:solidFill>
                  <a:srgbClr val="F2F6FC"/>
                </a:solidFill>
                <a:latin typeface="Aptos" panose="020B0004020202020204" pitchFamily="34" charset="0"/>
              </a:rPr>
              <a:t>Both spokes point 10.0.0.0/8 at the appliance</a:t>
            </a:r>
          </a:p>
        </p:txBody>
      </p:sp>
      <p:sp>
        <p:nvSpPr>
          <p:cNvPr id="5" name="TextBox 4">
            <a:extLst>
              <a:ext uri="{FF2B5EF4-FFF2-40B4-BE49-F238E27FC236}">
                <a16:creationId xmlns:a16="http://schemas.microsoft.com/office/drawing/2014/main" id="{50E7B200-5C58-0C4A-3187-381ACCA89BA7}"/>
              </a:ext>
            </a:extLst>
          </p:cNvPr>
          <p:cNvSpPr txBox="1"/>
          <p:nvPr/>
        </p:nvSpPr>
        <p:spPr>
          <a:xfrm>
            <a:off x="508000" y="1562100"/>
            <a:ext cx="11176000" cy="276999"/>
          </a:xfrm>
          <a:prstGeom prst="rect">
            <a:avLst/>
          </a:prstGeom>
          <a:noFill/>
        </p:spPr>
        <p:txBody>
          <a:bodyPr vert="horz" wrap="square" lIns="0" tIns="0" rIns="0" bIns="0" rtlCol="0">
            <a:noAutofit/>
          </a:bodyPr>
          <a:lstStyle/>
          <a:p>
            <a:pPr>
              <a:spcAft>
                <a:spcPts val="700"/>
              </a:spcAft>
            </a:pPr>
            <a:r>
              <a:rPr lang="en-US" sz="1400">
                <a:solidFill>
                  <a:srgbClr val="B6C5D9"/>
                </a:solidFill>
                <a:latin typeface="Aptos" panose="020B0004020202020204" pitchFamily="34" charset="0"/>
              </a:rPr>
              <a:t>The same destination prefix and next hop are configured on both workload subnets.</a:t>
            </a:r>
          </a:p>
        </p:txBody>
      </p:sp>
      <p:sp>
        <p:nvSpPr>
          <p:cNvPr id="6" name="Rectangle 5">
            <a:extLst>
              <a:ext uri="{FF2B5EF4-FFF2-40B4-BE49-F238E27FC236}">
                <a16:creationId xmlns:a16="http://schemas.microsoft.com/office/drawing/2014/main" id="{912EF02B-CCF8-807B-BFEF-34303FF9F793}"/>
              </a:ext>
            </a:extLst>
          </p:cNvPr>
          <p:cNvSpPr/>
          <p:nvPr/>
        </p:nvSpPr>
        <p:spPr>
          <a:xfrm>
            <a:off x="508000" y="6413500"/>
            <a:ext cx="11176000" cy="12700"/>
          </a:xfrm>
          <a:prstGeom prst="rect">
            <a:avLst/>
          </a:prstGeom>
          <a:solidFill>
            <a:srgbClr val="31415B"/>
          </a:solidFill>
          <a:ln>
            <a:solidFill>
              <a:srgbClr val="3141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FD67624-9936-8763-764A-A5FC0BD92FAE}"/>
              </a:ext>
            </a:extLst>
          </p:cNvPr>
          <p:cNvSpPr txBox="1"/>
          <p:nvPr/>
        </p:nvSpPr>
        <p:spPr>
          <a:xfrm>
            <a:off x="508000" y="6553200"/>
            <a:ext cx="8890000" cy="276999"/>
          </a:xfrm>
          <a:prstGeom prst="rect">
            <a:avLst/>
          </a:prstGeom>
          <a:noFill/>
        </p:spPr>
        <p:txBody>
          <a:bodyPr vert="horz" wrap="square" lIns="0" tIns="0" rIns="0" bIns="0" rtlCol="0">
            <a:noAutofit/>
          </a:bodyPr>
          <a:lstStyle/>
          <a:p>
            <a:pPr>
              <a:spcAft>
                <a:spcPts val="700"/>
              </a:spcAft>
            </a:pPr>
            <a:r>
              <a:rPr lang="en-US" sz="900">
                <a:solidFill>
                  <a:srgbClr val="B6C5D9"/>
                </a:solidFill>
                <a:latin typeface="Aptos" panose="020B0004020202020204" pitchFamily="34" charset="0"/>
              </a:rPr>
              <a:t>AZURE NETWORK COURSE  /  LAB 240</a:t>
            </a:r>
          </a:p>
        </p:txBody>
      </p:sp>
      <p:sp>
        <p:nvSpPr>
          <p:cNvPr id="8" name="TextBox 7">
            <a:extLst>
              <a:ext uri="{FF2B5EF4-FFF2-40B4-BE49-F238E27FC236}">
                <a16:creationId xmlns:a16="http://schemas.microsoft.com/office/drawing/2014/main" id="{C0EE6741-A5FA-313D-17A3-A0543A958344}"/>
              </a:ext>
            </a:extLst>
          </p:cNvPr>
          <p:cNvSpPr txBox="1"/>
          <p:nvPr/>
        </p:nvSpPr>
        <p:spPr>
          <a:xfrm>
            <a:off x="11214100" y="6527800"/>
            <a:ext cx="469900" cy="276999"/>
          </a:xfrm>
          <a:prstGeom prst="rect">
            <a:avLst/>
          </a:prstGeom>
          <a:noFill/>
        </p:spPr>
        <p:txBody>
          <a:bodyPr vert="horz" wrap="square" lIns="0" tIns="0" rIns="0" bIns="0" rtlCol="0">
            <a:noAutofit/>
          </a:bodyPr>
          <a:lstStyle/>
          <a:p>
            <a:pPr>
              <a:spcAft>
                <a:spcPts val="700"/>
              </a:spcAft>
            </a:pPr>
            <a:r>
              <a:rPr lang="en-US" sz="1100" b="1">
                <a:solidFill>
                  <a:srgbClr val="35D4E8"/>
                </a:solidFill>
                <a:latin typeface="Aptos" panose="020B0004020202020204" pitchFamily="34" charset="0"/>
              </a:rPr>
              <a:t>09</a:t>
            </a:r>
          </a:p>
        </p:txBody>
      </p:sp>
      <p:sp>
        <p:nvSpPr>
          <p:cNvPr id="9" name="Rectangle 8">
            <a:extLst>
              <a:ext uri="{FF2B5EF4-FFF2-40B4-BE49-F238E27FC236}">
                <a16:creationId xmlns:a16="http://schemas.microsoft.com/office/drawing/2014/main" id="{8572C5BD-A324-027D-A7A5-BBB6C9C40925}"/>
              </a:ext>
            </a:extLst>
          </p:cNvPr>
          <p:cNvSpPr/>
          <p:nvPr/>
        </p:nvSpPr>
        <p:spPr>
          <a:xfrm>
            <a:off x="508000" y="2273300"/>
            <a:ext cx="11176000" cy="2794000"/>
          </a:xfrm>
          <a:prstGeom prst="rect">
            <a:avLst/>
          </a:prstGeom>
          <a:solidFill>
            <a:srgbClr val="081324"/>
          </a:solidFill>
          <a:ln>
            <a:solidFill>
              <a:srgbClr val="0813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1F00732-FFEB-A544-2AED-0C270178A797}"/>
              </a:ext>
            </a:extLst>
          </p:cNvPr>
          <p:cNvSpPr txBox="1"/>
          <p:nvPr/>
        </p:nvSpPr>
        <p:spPr>
          <a:xfrm>
            <a:off x="736600" y="2463800"/>
            <a:ext cx="10718800" cy="276999"/>
          </a:xfrm>
          <a:prstGeom prst="rect">
            <a:avLst/>
          </a:prstGeom>
          <a:noFill/>
        </p:spPr>
        <p:txBody>
          <a:bodyPr vert="horz" wrap="square" lIns="0" tIns="0" rIns="0" bIns="0" rtlCol="0">
            <a:noAutofit/>
          </a:bodyPr>
          <a:lstStyle/>
          <a:p>
            <a:pPr>
              <a:spcAft>
                <a:spcPts val="700"/>
              </a:spcAft>
            </a:pPr>
            <a:r>
              <a:rPr lang="en-US">
                <a:solidFill>
                  <a:srgbClr val="F2F6FC"/>
                </a:solidFill>
                <a:latin typeface="Consolas" panose="020B0609020204030204" pitchFamily="49" charset="0"/>
              </a:rPr>
              <a:t>address_prefix         = "10.0.0.0/8"</a:t>
            </a:r>
          </a:p>
          <a:p>
            <a:pPr>
              <a:spcAft>
                <a:spcPts val="700"/>
              </a:spcAft>
            </a:pPr>
            <a:r>
              <a:rPr lang="en-US">
                <a:solidFill>
                  <a:srgbClr val="F2F6FC"/>
                </a:solidFill>
                <a:latin typeface="Consolas" panose="020B0609020204030204" pitchFamily="49" charset="0"/>
              </a:rPr>
              <a:t>next_hop_type          = "VirtualAppliance"</a:t>
            </a:r>
          </a:p>
          <a:p>
            <a:pPr>
              <a:spcAft>
                <a:spcPts val="700"/>
              </a:spcAft>
            </a:pPr>
            <a:r>
              <a:rPr lang="en-US">
                <a:solidFill>
                  <a:srgbClr val="F2F6FC"/>
                </a:solidFill>
                <a:latin typeface="Consolas" panose="020B0609020204030204" pitchFamily="49" charset="0"/>
              </a:rPr>
              <a:t>next_hop_in_ip_address =</a:t>
            </a:r>
          </a:p>
          <a:p>
            <a:pPr>
              <a:spcAft>
                <a:spcPts val="700"/>
              </a:spcAft>
            </a:pPr>
            <a:r>
              <a:rPr lang="en-US">
                <a:solidFill>
                  <a:srgbClr val="F2F6FC"/>
                </a:solidFill>
                <a:latin typeface="Consolas" panose="020B0609020204030204" pitchFamily="49" charset="0"/>
              </a:rPr>
              <a:t>  azapi_resource.hub_routing_appliance.output.properties.</a:t>
            </a:r>
          </a:p>
          <a:p>
            <a:pPr>
              <a:spcAft>
                <a:spcPts val="700"/>
              </a:spcAft>
            </a:pPr>
            <a:r>
              <a:rPr lang="en-US">
                <a:solidFill>
                  <a:srgbClr val="F2F6FC"/>
                </a:solidFill>
                <a:latin typeface="Consolas" panose="020B0609020204030204" pitchFamily="49" charset="0"/>
              </a:rPr>
              <a:t>  ipConfigurations.0.properties.privateIPAddress</a:t>
            </a:r>
          </a:p>
          <a:p>
            <a:pPr>
              <a:spcAft>
                <a:spcPts val="700"/>
              </a:spcAft>
            </a:pPr>
            <a:endParaRPr lang="en-US">
              <a:solidFill>
                <a:srgbClr val="F2F6FC"/>
              </a:solidFill>
              <a:latin typeface="Consolas" panose="020B0609020204030204" pitchFamily="49" charset="0"/>
            </a:endParaRPr>
          </a:p>
          <a:p>
            <a:pPr>
              <a:spcAft>
                <a:spcPts val="700"/>
              </a:spcAft>
            </a:pPr>
            <a:r>
              <a:rPr lang="en-US">
                <a:solidFill>
                  <a:srgbClr val="F2F6FC"/>
                </a:solidFill>
                <a:latin typeface="Consolas" panose="020B0609020204030204" pitchFamily="49" charset="0"/>
              </a:rPr>
              <a:t>bgp_route_propagation_enabled = false</a:t>
            </a:r>
          </a:p>
        </p:txBody>
      </p:sp>
      <p:sp>
        <p:nvSpPr>
          <p:cNvPr id="11" name="TextBox 10">
            <a:extLst>
              <a:ext uri="{FF2B5EF4-FFF2-40B4-BE49-F238E27FC236}">
                <a16:creationId xmlns:a16="http://schemas.microsoft.com/office/drawing/2014/main" id="{03A85746-CD52-8833-4AA2-81310B0BB9FD}"/>
              </a:ext>
            </a:extLst>
          </p:cNvPr>
          <p:cNvSpPr txBox="1"/>
          <p:nvPr/>
        </p:nvSpPr>
        <p:spPr>
          <a:xfrm>
            <a:off x="508000" y="5384800"/>
            <a:ext cx="11176000" cy="276999"/>
          </a:xfrm>
          <a:prstGeom prst="rect">
            <a:avLst/>
          </a:prstGeom>
          <a:noFill/>
        </p:spPr>
        <p:txBody>
          <a:bodyPr vert="horz" wrap="square" lIns="0" tIns="0" rIns="0" bIns="0" rtlCol="0">
            <a:noAutofit/>
          </a:bodyPr>
          <a:lstStyle/>
          <a:p>
            <a:pPr>
              <a:spcAft>
                <a:spcPts val="700"/>
              </a:spcAft>
            </a:pPr>
            <a:r>
              <a:rPr lang="en-US" sz="1500" b="1">
                <a:solidFill>
                  <a:srgbClr val="35D4E8"/>
                </a:solidFill>
                <a:latin typeface="Aptos" panose="020B0004020202020204" pitchFamily="34" charset="0"/>
              </a:rPr>
              <a:t>Associate each route table with its workload subnet.
This is not a 0.0.0.0/0 route and does not force internet egress.</a:t>
            </a:r>
          </a:p>
        </p:txBody>
      </p:sp>
    </p:spTree>
    <p:extLst>
      <p:ext uri="{BB962C8B-B14F-4D97-AF65-F5344CB8AC3E}">
        <p14:creationId xmlns:p14="http://schemas.microsoft.com/office/powerpoint/2010/main" val="7492595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C183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A31D12-BC29-7538-E32B-632CDFDD6287}"/>
              </a:ext>
            </a:extLst>
          </p:cNvPr>
          <p:cNvSpPr/>
          <p:nvPr/>
        </p:nvSpPr>
        <p:spPr>
          <a:xfrm>
            <a:off x="0" y="0"/>
            <a:ext cx="12192000" cy="63500"/>
          </a:xfrm>
          <a:prstGeom prst="rect">
            <a:avLst/>
          </a:prstGeom>
          <a:solidFill>
            <a:srgbClr val="35D4E8"/>
          </a:solidFill>
          <a:ln>
            <a:solidFill>
              <a:srgbClr val="35D4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89EE9AA-B7F6-8416-B8C9-3A0F5261B312}"/>
              </a:ext>
            </a:extLst>
          </p:cNvPr>
          <p:cNvSpPr txBox="1"/>
          <p:nvPr/>
        </p:nvSpPr>
        <p:spPr>
          <a:xfrm>
            <a:off x="508000" y="292100"/>
            <a:ext cx="10795000" cy="276999"/>
          </a:xfrm>
          <a:prstGeom prst="rect">
            <a:avLst/>
          </a:prstGeom>
          <a:noFill/>
        </p:spPr>
        <p:txBody>
          <a:bodyPr vert="horz" wrap="square" lIns="0" tIns="0" rIns="0" bIns="0" rtlCol="0">
            <a:noAutofit/>
          </a:bodyPr>
          <a:lstStyle/>
          <a:p>
            <a:pPr>
              <a:spcAft>
                <a:spcPts val="700"/>
              </a:spcAft>
            </a:pPr>
            <a:r>
              <a:rPr lang="en-US" sz="1000" b="1">
                <a:solidFill>
                  <a:srgbClr val="35D4E8"/>
                </a:solidFill>
                <a:latin typeface="Aptos" panose="020B0004020202020204" pitchFamily="34" charset="0"/>
              </a:rPr>
              <a:t>09 / PACKET WALK</a:t>
            </a:r>
          </a:p>
        </p:txBody>
      </p:sp>
      <p:sp>
        <p:nvSpPr>
          <p:cNvPr id="4" name="TextBox 3">
            <a:extLst>
              <a:ext uri="{FF2B5EF4-FFF2-40B4-BE49-F238E27FC236}">
                <a16:creationId xmlns:a16="http://schemas.microsoft.com/office/drawing/2014/main" id="{8E248F91-FA81-C466-F42E-2CBFD9C7398C}"/>
              </a:ext>
            </a:extLst>
          </p:cNvPr>
          <p:cNvSpPr txBox="1"/>
          <p:nvPr/>
        </p:nvSpPr>
        <p:spPr>
          <a:xfrm>
            <a:off x="508000" y="723900"/>
            <a:ext cx="11176000" cy="276999"/>
          </a:xfrm>
          <a:prstGeom prst="rect">
            <a:avLst/>
          </a:prstGeom>
          <a:noFill/>
        </p:spPr>
        <p:txBody>
          <a:bodyPr vert="horz" wrap="square" lIns="0" tIns="0" rIns="0" bIns="0" rtlCol="0">
            <a:noAutofit/>
          </a:bodyPr>
          <a:lstStyle/>
          <a:p>
            <a:pPr>
              <a:spcAft>
                <a:spcPts val="700"/>
              </a:spcAft>
            </a:pPr>
            <a:r>
              <a:rPr lang="en-US" sz="3000" b="1">
                <a:solidFill>
                  <a:srgbClr val="F2F6FC"/>
                </a:solidFill>
                <a:latin typeface="Aptos" panose="020B0004020202020204" pitchFamily="34" charset="0"/>
              </a:rPr>
              <a:t>Follow the request - then the reply</a:t>
            </a:r>
          </a:p>
        </p:txBody>
      </p:sp>
      <p:sp>
        <p:nvSpPr>
          <p:cNvPr id="5" name="Rectangle 4">
            <a:extLst>
              <a:ext uri="{FF2B5EF4-FFF2-40B4-BE49-F238E27FC236}">
                <a16:creationId xmlns:a16="http://schemas.microsoft.com/office/drawing/2014/main" id="{B72DAFF3-B677-EC15-4119-0FC479D4C73D}"/>
              </a:ext>
            </a:extLst>
          </p:cNvPr>
          <p:cNvSpPr/>
          <p:nvPr/>
        </p:nvSpPr>
        <p:spPr>
          <a:xfrm>
            <a:off x="508000" y="6413500"/>
            <a:ext cx="11176000" cy="12700"/>
          </a:xfrm>
          <a:prstGeom prst="rect">
            <a:avLst/>
          </a:prstGeom>
          <a:solidFill>
            <a:srgbClr val="31415B"/>
          </a:solidFill>
          <a:ln>
            <a:solidFill>
              <a:srgbClr val="3141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E020C19-8E13-FB79-6DA4-6742194C2125}"/>
              </a:ext>
            </a:extLst>
          </p:cNvPr>
          <p:cNvSpPr txBox="1"/>
          <p:nvPr/>
        </p:nvSpPr>
        <p:spPr>
          <a:xfrm>
            <a:off x="508000" y="6553200"/>
            <a:ext cx="8890000" cy="276999"/>
          </a:xfrm>
          <a:prstGeom prst="rect">
            <a:avLst/>
          </a:prstGeom>
          <a:noFill/>
        </p:spPr>
        <p:txBody>
          <a:bodyPr vert="horz" wrap="square" lIns="0" tIns="0" rIns="0" bIns="0" rtlCol="0">
            <a:noAutofit/>
          </a:bodyPr>
          <a:lstStyle/>
          <a:p>
            <a:pPr>
              <a:spcAft>
                <a:spcPts val="700"/>
              </a:spcAft>
            </a:pPr>
            <a:r>
              <a:rPr lang="en-US" sz="900">
                <a:solidFill>
                  <a:srgbClr val="B6C5D9"/>
                </a:solidFill>
                <a:latin typeface="Aptos" panose="020B0004020202020204" pitchFamily="34" charset="0"/>
              </a:rPr>
              <a:t>AZURE NETWORK COURSE  /  LAB 240</a:t>
            </a:r>
          </a:p>
        </p:txBody>
      </p:sp>
      <p:sp>
        <p:nvSpPr>
          <p:cNvPr id="7" name="TextBox 6">
            <a:extLst>
              <a:ext uri="{FF2B5EF4-FFF2-40B4-BE49-F238E27FC236}">
                <a16:creationId xmlns:a16="http://schemas.microsoft.com/office/drawing/2014/main" id="{252C7946-E1EB-953E-0778-09E624CF4DBE}"/>
              </a:ext>
            </a:extLst>
          </p:cNvPr>
          <p:cNvSpPr txBox="1"/>
          <p:nvPr/>
        </p:nvSpPr>
        <p:spPr>
          <a:xfrm>
            <a:off x="11214100" y="6527800"/>
            <a:ext cx="469900" cy="276999"/>
          </a:xfrm>
          <a:prstGeom prst="rect">
            <a:avLst/>
          </a:prstGeom>
          <a:noFill/>
        </p:spPr>
        <p:txBody>
          <a:bodyPr vert="horz" wrap="square" lIns="0" tIns="0" rIns="0" bIns="0" rtlCol="0">
            <a:noAutofit/>
          </a:bodyPr>
          <a:lstStyle/>
          <a:p>
            <a:pPr>
              <a:spcAft>
                <a:spcPts val="700"/>
              </a:spcAft>
            </a:pPr>
            <a:r>
              <a:rPr lang="en-US" sz="1100" b="1">
                <a:solidFill>
                  <a:srgbClr val="35D4E8"/>
                </a:solidFill>
                <a:latin typeface="Aptos" panose="020B0004020202020204" pitchFamily="34" charset="0"/>
              </a:rPr>
              <a:t>10</a:t>
            </a:r>
          </a:p>
        </p:txBody>
      </p:sp>
      <p:sp>
        <p:nvSpPr>
          <p:cNvPr id="8" name="Rectangle 7">
            <a:extLst>
              <a:ext uri="{FF2B5EF4-FFF2-40B4-BE49-F238E27FC236}">
                <a16:creationId xmlns:a16="http://schemas.microsoft.com/office/drawing/2014/main" id="{4EF311D1-4307-0E2F-47EA-E05DDB8B2F5A}"/>
              </a:ext>
            </a:extLst>
          </p:cNvPr>
          <p:cNvSpPr/>
          <p:nvPr/>
        </p:nvSpPr>
        <p:spPr>
          <a:xfrm>
            <a:off x="508000" y="2349500"/>
            <a:ext cx="3556000" cy="30480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6C32187-328E-49E1-0D43-ECD3803F2FF7}"/>
              </a:ext>
            </a:extLst>
          </p:cNvPr>
          <p:cNvSpPr/>
          <p:nvPr/>
        </p:nvSpPr>
        <p:spPr>
          <a:xfrm>
            <a:off x="508000" y="2349500"/>
            <a:ext cx="50800" cy="3048000"/>
          </a:xfrm>
          <a:prstGeom prst="rect">
            <a:avLst/>
          </a:prstGeom>
          <a:solidFill>
            <a:srgbClr val="35D4E8"/>
          </a:solidFill>
          <a:ln>
            <a:solidFill>
              <a:srgbClr val="35D4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CB6AE9A-2171-B8AA-BA53-50169AB9359C}"/>
              </a:ext>
            </a:extLst>
          </p:cNvPr>
          <p:cNvSpPr txBox="1"/>
          <p:nvPr/>
        </p:nvSpPr>
        <p:spPr>
          <a:xfrm>
            <a:off x="736600" y="2565400"/>
            <a:ext cx="3098800" cy="276999"/>
          </a:xfrm>
          <a:prstGeom prst="rect">
            <a:avLst/>
          </a:prstGeom>
          <a:noFill/>
        </p:spPr>
        <p:txBody>
          <a:bodyPr vert="horz" wrap="square" lIns="0" tIns="0" rIns="0" bIns="0" rtlCol="0">
            <a:noAutofit/>
          </a:bodyPr>
          <a:lstStyle/>
          <a:p>
            <a:pPr>
              <a:spcAft>
                <a:spcPts val="700"/>
              </a:spcAft>
            </a:pPr>
            <a:r>
              <a:rPr lang="en-US" sz="2000" b="1">
                <a:solidFill>
                  <a:srgbClr val="35D4E8"/>
                </a:solidFill>
                <a:latin typeface="Aptos" panose="020B0004020202020204" pitchFamily="34" charset="0"/>
              </a:rPr>
              <a:t>1 / REQUEST</a:t>
            </a:r>
          </a:p>
        </p:txBody>
      </p:sp>
      <p:sp>
        <p:nvSpPr>
          <p:cNvPr id="11" name="TextBox 10">
            <a:extLst>
              <a:ext uri="{FF2B5EF4-FFF2-40B4-BE49-F238E27FC236}">
                <a16:creationId xmlns:a16="http://schemas.microsoft.com/office/drawing/2014/main" id="{E554B023-A9C7-20DE-DD73-ED12C6A1CA33}"/>
              </a:ext>
            </a:extLst>
          </p:cNvPr>
          <p:cNvSpPr txBox="1"/>
          <p:nvPr/>
        </p:nvSpPr>
        <p:spPr>
          <a:xfrm>
            <a:off x="736600" y="3340100"/>
            <a:ext cx="3098800" cy="276999"/>
          </a:xfrm>
          <a:prstGeom prst="rect">
            <a:avLst/>
          </a:prstGeom>
          <a:noFill/>
        </p:spPr>
        <p:txBody>
          <a:bodyPr vert="horz" wrap="square" lIns="0" tIns="0" rIns="0" bIns="0" rtlCol="0">
            <a:noAutofit/>
          </a:bodyPr>
          <a:lstStyle/>
          <a:p>
            <a:pPr>
              <a:spcAft>
                <a:spcPts val="700"/>
              </a:spcAft>
            </a:pPr>
            <a:r>
              <a:rPr lang="en-US" sz="1700">
                <a:solidFill>
                  <a:srgbClr val="F2F6FC"/>
                </a:solidFill>
                <a:latin typeface="Aptos" panose="020B0004020202020204" pitchFamily="34" charset="0"/>
              </a:rPr>
              <a:t>VM 1 sends to VM 2's
10.2.x.x private address.
The spoke 1 UDR selects
the hub appliance IP.</a:t>
            </a:r>
          </a:p>
        </p:txBody>
      </p:sp>
      <p:sp>
        <p:nvSpPr>
          <p:cNvPr id="12" name="Rectangle 11">
            <a:extLst>
              <a:ext uri="{FF2B5EF4-FFF2-40B4-BE49-F238E27FC236}">
                <a16:creationId xmlns:a16="http://schemas.microsoft.com/office/drawing/2014/main" id="{24121CAD-B79D-2249-8CCE-72086805C754}"/>
              </a:ext>
            </a:extLst>
          </p:cNvPr>
          <p:cNvSpPr/>
          <p:nvPr/>
        </p:nvSpPr>
        <p:spPr>
          <a:xfrm>
            <a:off x="4318000" y="2349500"/>
            <a:ext cx="3556000" cy="30480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F369CEC-8F43-4D36-CC7A-26AD7C72CCE3}"/>
              </a:ext>
            </a:extLst>
          </p:cNvPr>
          <p:cNvSpPr/>
          <p:nvPr/>
        </p:nvSpPr>
        <p:spPr>
          <a:xfrm>
            <a:off x="4318000" y="2349500"/>
            <a:ext cx="50800" cy="3048000"/>
          </a:xfrm>
          <a:prstGeom prst="rect">
            <a:avLst/>
          </a:prstGeom>
          <a:solidFill>
            <a:srgbClr val="35D4E8"/>
          </a:solidFill>
          <a:ln>
            <a:solidFill>
              <a:srgbClr val="35D4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0FCD9C3C-2148-4031-DC7C-99962868AFA2}"/>
              </a:ext>
            </a:extLst>
          </p:cNvPr>
          <p:cNvSpPr txBox="1"/>
          <p:nvPr/>
        </p:nvSpPr>
        <p:spPr>
          <a:xfrm>
            <a:off x="4546600" y="2565400"/>
            <a:ext cx="3098800" cy="276999"/>
          </a:xfrm>
          <a:prstGeom prst="rect">
            <a:avLst/>
          </a:prstGeom>
          <a:noFill/>
        </p:spPr>
        <p:txBody>
          <a:bodyPr vert="horz" wrap="square" lIns="0" tIns="0" rIns="0" bIns="0" rtlCol="0">
            <a:noAutofit/>
          </a:bodyPr>
          <a:lstStyle/>
          <a:p>
            <a:pPr>
              <a:spcAft>
                <a:spcPts val="700"/>
              </a:spcAft>
            </a:pPr>
            <a:r>
              <a:rPr lang="en-US" sz="2000" b="1">
                <a:solidFill>
                  <a:srgbClr val="35D4E8"/>
                </a:solidFill>
                <a:latin typeface="Aptos" panose="020B0004020202020204" pitchFamily="34" charset="0"/>
              </a:rPr>
              <a:t>2 / FORWARD</a:t>
            </a:r>
          </a:p>
        </p:txBody>
      </p:sp>
      <p:sp>
        <p:nvSpPr>
          <p:cNvPr id="15" name="TextBox 14">
            <a:extLst>
              <a:ext uri="{FF2B5EF4-FFF2-40B4-BE49-F238E27FC236}">
                <a16:creationId xmlns:a16="http://schemas.microsoft.com/office/drawing/2014/main" id="{4D652756-4B0F-0147-39DB-010F9FA2588B}"/>
              </a:ext>
            </a:extLst>
          </p:cNvPr>
          <p:cNvSpPr txBox="1"/>
          <p:nvPr/>
        </p:nvSpPr>
        <p:spPr>
          <a:xfrm>
            <a:off x="4546600" y="3340100"/>
            <a:ext cx="3098800" cy="276999"/>
          </a:xfrm>
          <a:prstGeom prst="rect">
            <a:avLst/>
          </a:prstGeom>
          <a:noFill/>
        </p:spPr>
        <p:txBody>
          <a:bodyPr vert="horz" wrap="square" lIns="0" tIns="0" rIns="0" bIns="0" rtlCol="0">
            <a:noAutofit/>
          </a:bodyPr>
          <a:lstStyle/>
          <a:p>
            <a:pPr>
              <a:spcAft>
                <a:spcPts val="700"/>
              </a:spcAft>
            </a:pPr>
            <a:r>
              <a:rPr lang="en-US" sz="1700">
                <a:solidFill>
                  <a:srgbClr val="F2F6FC"/>
                </a:solidFill>
                <a:latin typeface="Aptos" panose="020B0004020202020204" pitchFamily="34" charset="0"/>
              </a:rPr>
              <a:t>The appliance forwards
to spoke 2 over peering.
No direct spoke-to-spoke
peering is configured.</a:t>
            </a:r>
          </a:p>
        </p:txBody>
      </p:sp>
      <p:sp>
        <p:nvSpPr>
          <p:cNvPr id="16" name="Rectangle 15">
            <a:extLst>
              <a:ext uri="{FF2B5EF4-FFF2-40B4-BE49-F238E27FC236}">
                <a16:creationId xmlns:a16="http://schemas.microsoft.com/office/drawing/2014/main" id="{527EAFBA-E72C-D19B-4534-A626AB2E880E}"/>
              </a:ext>
            </a:extLst>
          </p:cNvPr>
          <p:cNvSpPr/>
          <p:nvPr/>
        </p:nvSpPr>
        <p:spPr>
          <a:xfrm>
            <a:off x="8128000" y="2349500"/>
            <a:ext cx="3556000" cy="30480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9B3446F-1891-C393-7B4D-C9681293F9CC}"/>
              </a:ext>
            </a:extLst>
          </p:cNvPr>
          <p:cNvSpPr/>
          <p:nvPr/>
        </p:nvSpPr>
        <p:spPr>
          <a:xfrm>
            <a:off x="8128000" y="2349500"/>
            <a:ext cx="50800" cy="3048000"/>
          </a:xfrm>
          <a:prstGeom prst="rect">
            <a:avLst/>
          </a:prstGeom>
          <a:solidFill>
            <a:srgbClr val="35D4E8"/>
          </a:solidFill>
          <a:ln>
            <a:solidFill>
              <a:srgbClr val="35D4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3416FEEC-DBD5-DD38-02E4-83A7BE85D293}"/>
              </a:ext>
            </a:extLst>
          </p:cNvPr>
          <p:cNvSpPr txBox="1"/>
          <p:nvPr/>
        </p:nvSpPr>
        <p:spPr>
          <a:xfrm>
            <a:off x="8356600" y="2565400"/>
            <a:ext cx="3098800" cy="276999"/>
          </a:xfrm>
          <a:prstGeom prst="rect">
            <a:avLst/>
          </a:prstGeom>
          <a:noFill/>
        </p:spPr>
        <p:txBody>
          <a:bodyPr vert="horz" wrap="square" lIns="0" tIns="0" rIns="0" bIns="0" rtlCol="0">
            <a:noAutofit/>
          </a:bodyPr>
          <a:lstStyle/>
          <a:p>
            <a:pPr>
              <a:spcAft>
                <a:spcPts val="700"/>
              </a:spcAft>
            </a:pPr>
            <a:r>
              <a:rPr lang="en-US" sz="2000" b="1">
                <a:solidFill>
                  <a:srgbClr val="35D4E8"/>
                </a:solidFill>
                <a:latin typeface="Aptos" panose="020B0004020202020204" pitchFamily="34" charset="0"/>
              </a:rPr>
              <a:t>3 / RETURN</a:t>
            </a:r>
          </a:p>
        </p:txBody>
      </p:sp>
      <p:sp>
        <p:nvSpPr>
          <p:cNvPr id="19" name="TextBox 18">
            <a:extLst>
              <a:ext uri="{FF2B5EF4-FFF2-40B4-BE49-F238E27FC236}">
                <a16:creationId xmlns:a16="http://schemas.microsoft.com/office/drawing/2014/main" id="{0F914148-6387-7C82-28C2-8A0116DE681B}"/>
              </a:ext>
            </a:extLst>
          </p:cNvPr>
          <p:cNvSpPr txBox="1"/>
          <p:nvPr/>
        </p:nvSpPr>
        <p:spPr>
          <a:xfrm>
            <a:off x="8356600" y="3340100"/>
            <a:ext cx="3098800" cy="276999"/>
          </a:xfrm>
          <a:prstGeom prst="rect">
            <a:avLst/>
          </a:prstGeom>
          <a:noFill/>
        </p:spPr>
        <p:txBody>
          <a:bodyPr vert="horz" wrap="square" lIns="0" tIns="0" rIns="0" bIns="0" rtlCol="0">
            <a:noAutofit/>
          </a:bodyPr>
          <a:lstStyle/>
          <a:p>
            <a:pPr>
              <a:spcAft>
                <a:spcPts val="700"/>
              </a:spcAft>
            </a:pPr>
            <a:r>
              <a:rPr lang="en-US" sz="1700">
                <a:solidFill>
                  <a:srgbClr val="F2F6FC"/>
                </a:solidFill>
                <a:latin typeface="Aptos" panose="020B0004020202020204" pitchFamily="34" charset="0"/>
              </a:rPr>
              <a:t>VM 2 replies to VM 1's
10.1.x.x private address.
Spoke 2's UDR selects
the same appliance.</a:t>
            </a:r>
          </a:p>
        </p:txBody>
      </p:sp>
      <p:sp>
        <p:nvSpPr>
          <p:cNvPr id="20" name="TextBox 19">
            <a:extLst>
              <a:ext uri="{FF2B5EF4-FFF2-40B4-BE49-F238E27FC236}">
                <a16:creationId xmlns:a16="http://schemas.microsoft.com/office/drawing/2014/main" id="{5C20ABE3-41BD-C3CE-AACE-9D6A7F1939BD}"/>
              </a:ext>
            </a:extLst>
          </p:cNvPr>
          <p:cNvSpPr txBox="1"/>
          <p:nvPr/>
        </p:nvSpPr>
        <p:spPr>
          <a:xfrm>
            <a:off x="508000" y="5727700"/>
            <a:ext cx="11176000" cy="276999"/>
          </a:xfrm>
          <a:prstGeom prst="rect">
            <a:avLst/>
          </a:prstGeom>
          <a:noFill/>
        </p:spPr>
        <p:txBody>
          <a:bodyPr vert="horz" wrap="square" lIns="0" tIns="0" rIns="0" bIns="0" rtlCol="0">
            <a:noAutofit/>
          </a:bodyPr>
          <a:lstStyle/>
          <a:p>
            <a:pPr>
              <a:spcAft>
                <a:spcPts val="700"/>
              </a:spcAft>
            </a:pPr>
            <a:r>
              <a:rPr lang="en-US" sz="1500" b="1">
                <a:solidFill>
                  <a:srgbClr val="35D4E8"/>
                </a:solidFill>
                <a:latin typeface="Aptos" panose="020B0004020202020204" pitchFamily="34" charset="0"/>
              </a:rPr>
              <a:t>Longest prefix wins; user-defined routes win over system routes at equal prefix.</a:t>
            </a:r>
          </a:p>
        </p:txBody>
      </p:sp>
    </p:spTree>
    <p:extLst>
      <p:ext uri="{BB962C8B-B14F-4D97-AF65-F5344CB8AC3E}">
        <p14:creationId xmlns:p14="http://schemas.microsoft.com/office/powerpoint/2010/main" val="17393918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C183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A7BA64E-4CD1-9505-5A37-2C766D0AD840}"/>
              </a:ext>
            </a:extLst>
          </p:cNvPr>
          <p:cNvSpPr/>
          <p:nvPr/>
        </p:nvSpPr>
        <p:spPr>
          <a:xfrm>
            <a:off x="0" y="0"/>
            <a:ext cx="12192000" cy="63500"/>
          </a:xfrm>
          <a:prstGeom prst="rect">
            <a:avLst/>
          </a:prstGeom>
          <a:solidFill>
            <a:srgbClr val="35D4E8"/>
          </a:solidFill>
          <a:ln>
            <a:solidFill>
              <a:srgbClr val="35D4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31C0657-D41E-79D8-FCB8-CF44E86DED64}"/>
              </a:ext>
            </a:extLst>
          </p:cNvPr>
          <p:cNvSpPr txBox="1"/>
          <p:nvPr/>
        </p:nvSpPr>
        <p:spPr>
          <a:xfrm>
            <a:off x="508000" y="292100"/>
            <a:ext cx="10795000" cy="276999"/>
          </a:xfrm>
          <a:prstGeom prst="rect">
            <a:avLst/>
          </a:prstGeom>
          <a:noFill/>
        </p:spPr>
        <p:txBody>
          <a:bodyPr vert="horz" wrap="square" lIns="0" tIns="0" rIns="0" bIns="0" rtlCol="0">
            <a:noAutofit/>
          </a:bodyPr>
          <a:lstStyle/>
          <a:p>
            <a:pPr>
              <a:spcAft>
                <a:spcPts val="700"/>
              </a:spcAft>
            </a:pPr>
            <a:r>
              <a:rPr lang="en-US" sz="1000" b="1">
                <a:solidFill>
                  <a:srgbClr val="35D4E8"/>
                </a:solidFill>
                <a:latin typeface="Aptos" panose="020B0004020202020204" pitchFamily="34" charset="0"/>
              </a:rPr>
              <a:t>10 / PEERING AND ACCESS</a:t>
            </a:r>
          </a:p>
        </p:txBody>
      </p:sp>
      <p:sp>
        <p:nvSpPr>
          <p:cNvPr id="4" name="TextBox 3">
            <a:extLst>
              <a:ext uri="{FF2B5EF4-FFF2-40B4-BE49-F238E27FC236}">
                <a16:creationId xmlns:a16="http://schemas.microsoft.com/office/drawing/2014/main" id="{7DB3A5E7-7601-D4BA-41FE-20408D08C4A0}"/>
              </a:ext>
            </a:extLst>
          </p:cNvPr>
          <p:cNvSpPr txBox="1"/>
          <p:nvPr/>
        </p:nvSpPr>
        <p:spPr>
          <a:xfrm>
            <a:off x="508000" y="723900"/>
            <a:ext cx="11176000" cy="276999"/>
          </a:xfrm>
          <a:prstGeom prst="rect">
            <a:avLst/>
          </a:prstGeom>
          <a:noFill/>
        </p:spPr>
        <p:txBody>
          <a:bodyPr vert="horz" wrap="square" lIns="0" tIns="0" rIns="0" bIns="0" rtlCol="0">
            <a:noAutofit/>
          </a:bodyPr>
          <a:lstStyle/>
          <a:p>
            <a:pPr>
              <a:spcAft>
                <a:spcPts val="700"/>
              </a:spcAft>
            </a:pPr>
            <a:r>
              <a:rPr lang="en-US" sz="3000" b="1">
                <a:solidFill>
                  <a:srgbClr val="F2F6FC"/>
                </a:solidFill>
                <a:latin typeface="Aptos" panose="020B0004020202020204" pitchFamily="34" charset="0"/>
              </a:rPr>
              <a:t>Two separate paths: data and administration</a:t>
            </a:r>
          </a:p>
        </p:txBody>
      </p:sp>
      <p:sp>
        <p:nvSpPr>
          <p:cNvPr id="5" name="Rectangle 4">
            <a:extLst>
              <a:ext uri="{FF2B5EF4-FFF2-40B4-BE49-F238E27FC236}">
                <a16:creationId xmlns:a16="http://schemas.microsoft.com/office/drawing/2014/main" id="{A0CAFE91-55E0-A804-AEB2-E12078621865}"/>
              </a:ext>
            </a:extLst>
          </p:cNvPr>
          <p:cNvSpPr/>
          <p:nvPr/>
        </p:nvSpPr>
        <p:spPr>
          <a:xfrm>
            <a:off x="508000" y="6413500"/>
            <a:ext cx="11176000" cy="12700"/>
          </a:xfrm>
          <a:prstGeom prst="rect">
            <a:avLst/>
          </a:prstGeom>
          <a:solidFill>
            <a:srgbClr val="31415B"/>
          </a:solidFill>
          <a:ln>
            <a:solidFill>
              <a:srgbClr val="3141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470F74D-B900-7BC4-BE5F-41E8F2B5B480}"/>
              </a:ext>
            </a:extLst>
          </p:cNvPr>
          <p:cNvSpPr txBox="1"/>
          <p:nvPr/>
        </p:nvSpPr>
        <p:spPr>
          <a:xfrm>
            <a:off x="508000" y="6553200"/>
            <a:ext cx="8890000" cy="276999"/>
          </a:xfrm>
          <a:prstGeom prst="rect">
            <a:avLst/>
          </a:prstGeom>
          <a:noFill/>
        </p:spPr>
        <p:txBody>
          <a:bodyPr vert="horz" wrap="square" lIns="0" tIns="0" rIns="0" bIns="0" rtlCol="0">
            <a:noAutofit/>
          </a:bodyPr>
          <a:lstStyle/>
          <a:p>
            <a:pPr>
              <a:spcAft>
                <a:spcPts val="700"/>
              </a:spcAft>
            </a:pPr>
            <a:r>
              <a:rPr lang="en-US" sz="900">
                <a:solidFill>
                  <a:srgbClr val="B6C5D9"/>
                </a:solidFill>
                <a:latin typeface="Aptos" panose="020B0004020202020204" pitchFamily="34" charset="0"/>
              </a:rPr>
              <a:t>AZURE NETWORK COURSE  /  LAB 240</a:t>
            </a:r>
          </a:p>
        </p:txBody>
      </p:sp>
      <p:sp>
        <p:nvSpPr>
          <p:cNvPr id="7" name="TextBox 6">
            <a:extLst>
              <a:ext uri="{FF2B5EF4-FFF2-40B4-BE49-F238E27FC236}">
                <a16:creationId xmlns:a16="http://schemas.microsoft.com/office/drawing/2014/main" id="{B1F2AF0E-5ECC-438E-4246-9E341190B1B2}"/>
              </a:ext>
            </a:extLst>
          </p:cNvPr>
          <p:cNvSpPr txBox="1"/>
          <p:nvPr/>
        </p:nvSpPr>
        <p:spPr>
          <a:xfrm>
            <a:off x="11214100" y="6527800"/>
            <a:ext cx="469900" cy="276999"/>
          </a:xfrm>
          <a:prstGeom prst="rect">
            <a:avLst/>
          </a:prstGeom>
          <a:noFill/>
        </p:spPr>
        <p:txBody>
          <a:bodyPr vert="horz" wrap="square" lIns="0" tIns="0" rIns="0" bIns="0" rtlCol="0">
            <a:noAutofit/>
          </a:bodyPr>
          <a:lstStyle/>
          <a:p>
            <a:pPr>
              <a:spcAft>
                <a:spcPts val="700"/>
              </a:spcAft>
            </a:pPr>
            <a:r>
              <a:rPr lang="en-US" sz="1100" b="1">
                <a:solidFill>
                  <a:srgbClr val="35D4E8"/>
                </a:solidFill>
                <a:latin typeface="Aptos" panose="020B0004020202020204" pitchFamily="34" charset="0"/>
              </a:rPr>
              <a:t>11</a:t>
            </a:r>
          </a:p>
        </p:txBody>
      </p:sp>
      <p:sp>
        <p:nvSpPr>
          <p:cNvPr id="8" name="Rectangle 7">
            <a:extLst>
              <a:ext uri="{FF2B5EF4-FFF2-40B4-BE49-F238E27FC236}">
                <a16:creationId xmlns:a16="http://schemas.microsoft.com/office/drawing/2014/main" id="{BDCAB7BD-1810-0BD3-2074-B8FF9204FE42}"/>
              </a:ext>
            </a:extLst>
          </p:cNvPr>
          <p:cNvSpPr/>
          <p:nvPr/>
        </p:nvSpPr>
        <p:spPr>
          <a:xfrm>
            <a:off x="508000" y="2349500"/>
            <a:ext cx="5461000" cy="32385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A9B2369-F571-595C-8FFA-94F7C13C66C3}"/>
              </a:ext>
            </a:extLst>
          </p:cNvPr>
          <p:cNvSpPr/>
          <p:nvPr/>
        </p:nvSpPr>
        <p:spPr>
          <a:xfrm>
            <a:off x="508000" y="2349500"/>
            <a:ext cx="50800" cy="3238500"/>
          </a:xfrm>
          <a:prstGeom prst="rect">
            <a:avLst/>
          </a:prstGeom>
          <a:solidFill>
            <a:srgbClr val="35D4E8"/>
          </a:solidFill>
          <a:ln>
            <a:solidFill>
              <a:srgbClr val="35D4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F76098F-64EA-C4F4-2DBD-3AF8D956C7D9}"/>
              </a:ext>
            </a:extLst>
          </p:cNvPr>
          <p:cNvSpPr txBox="1"/>
          <p:nvPr/>
        </p:nvSpPr>
        <p:spPr>
          <a:xfrm>
            <a:off x="736600" y="2565400"/>
            <a:ext cx="5003800" cy="276999"/>
          </a:xfrm>
          <a:prstGeom prst="rect">
            <a:avLst/>
          </a:prstGeom>
          <a:noFill/>
        </p:spPr>
        <p:txBody>
          <a:bodyPr vert="horz" wrap="square" lIns="0" tIns="0" rIns="0" bIns="0" rtlCol="0">
            <a:noAutofit/>
          </a:bodyPr>
          <a:lstStyle/>
          <a:p>
            <a:pPr>
              <a:spcAft>
                <a:spcPts val="700"/>
              </a:spcAft>
            </a:pPr>
            <a:r>
              <a:rPr lang="en-US" sz="2000" b="1">
                <a:solidFill>
                  <a:srgbClr val="35D4E8"/>
                </a:solidFill>
                <a:latin typeface="Aptos" panose="020B0004020202020204" pitchFamily="34" charset="0"/>
              </a:rPr>
              <a:t>DATA PATH</a:t>
            </a:r>
          </a:p>
        </p:txBody>
      </p:sp>
      <p:sp>
        <p:nvSpPr>
          <p:cNvPr id="11" name="TextBox 10">
            <a:extLst>
              <a:ext uri="{FF2B5EF4-FFF2-40B4-BE49-F238E27FC236}">
                <a16:creationId xmlns:a16="http://schemas.microsoft.com/office/drawing/2014/main" id="{F1F4EA1B-BA8D-2635-7227-5CBCFADA32CA}"/>
              </a:ext>
            </a:extLst>
          </p:cNvPr>
          <p:cNvSpPr txBox="1"/>
          <p:nvPr/>
        </p:nvSpPr>
        <p:spPr>
          <a:xfrm>
            <a:off x="736600" y="3340100"/>
            <a:ext cx="5003800" cy="276999"/>
          </a:xfrm>
          <a:prstGeom prst="rect">
            <a:avLst/>
          </a:prstGeom>
          <a:noFill/>
        </p:spPr>
        <p:txBody>
          <a:bodyPr vert="horz" wrap="square" lIns="0" tIns="0" rIns="0" bIns="0" rtlCol="0">
            <a:noAutofit/>
          </a:bodyPr>
          <a:lstStyle/>
          <a:p>
            <a:pPr>
              <a:spcAft>
                <a:spcPts val="700"/>
              </a:spcAft>
            </a:pPr>
            <a:r>
              <a:rPr lang="en-US" sz="1700">
                <a:solidFill>
                  <a:srgbClr val="F2F6FC"/>
                </a:solidFill>
                <a:latin typeface="Aptos" panose="020B0004020202020204" pitchFamily="34" charset="0"/>
              </a:rPr>
              <a:t>Four directional peerings
VNet access: enabled
Forwarded traffic: enabled
Gateway transit: disabled
UDRs enable spoke transit</a:t>
            </a:r>
          </a:p>
        </p:txBody>
      </p:sp>
      <p:sp>
        <p:nvSpPr>
          <p:cNvPr id="12" name="Rectangle 11">
            <a:extLst>
              <a:ext uri="{FF2B5EF4-FFF2-40B4-BE49-F238E27FC236}">
                <a16:creationId xmlns:a16="http://schemas.microsoft.com/office/drawing/2014/main" id="{195395F0-7FE4-8888-A61E-09C5907B83E5}"/>
              </a:ext>
            </a:extLst>
          </p:cNvPr>
          <p:cNvSpPr/>
          <p:nvPr/>
        </p:nvSpPr>
        <p:spPr>
          <a:xfrm>
            <a:off x="6223000" y="2349500"/>
            <a:ext cx="5461000" cy="32385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58F64DB-5D25-DA64-B08E-344D6D65B96E}"/>
              </a:ext>
            </a:extLst>
          </p:cNvPr>
          <p:cNvSpPr/>
          <p:nvPr/>
        </p:nvSpPr>
        <p:spPr>
          <a:xfrm>
            <a:off x="6223000" y="2349500"/>
            <a:ext cx="50800" cy="3238500"/>
          </a:xfrm>
          <a:prstGeom prst="rect">
            <a:avLst/>
          </a:prstGeom>
          <a:solidFill>
            <a:srgbClr val="328DFF"/>
          </a:solidFill>
          <a:ln>
            <a:solidFill>
              <a:srgbClr val="328D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EEC3ED9-7A14-462F-8708-0DCF25C646CF}"/>
              </a:ext>
            </a:extLst>
          </p:cNvPr>
          <p:cNvSpPr txBox="1"/>
          <p:nvPr/>
        </p:nvSpPr>
        <p:spPr>
          <a:xfrm>
            <a:off x="6451600" y="2565400"/>
            <a:ext cx="5003800" cy="276999"/>
          </a:xfrm>
          <a:prstGeom prst="rect">
            <a:avLst/>
          </a:prstGeom>
          <a:noFill/>
        </p:spPr>
        <p:txBody>
          <a:bodyPr vert="horz" wrap="square" lIns="0" tIns="0" rIns="0" bIns="0" rtlCol="0">
            <a:noAutofit/>
          </a:bodyPr>
          <a:lstStyle/>
          <a:p>
            <a:pPr>
              <a:spcAft>
                <a:spcPts val="700"/>
              </a:spcAft>
            </a:pPr>
            <a:r>
              <a:rPr lang="en-US" sz="2000" b="1">
                <a:solidFill>
                  <a:srgbClr val="328DFF"/>
                </a:solidFill>
                <a:latin typeface="Aptos" panose="020B0004020202020204" pitchFamily="34" charset="0"/>
              </a:rPr>
              <a:t>ADMIN PATH</a:t>
            </a:r>
          </a:p>
        </p:txBody>
      </p:sp>
      <p:sp>
        <p:nvSpPr>
          <p:cNvPr id="15" name="TextBox 14">
            <a:extLst>
              <a:ext uri="{FF2B5EF4-FFF2-40B4-BE49-F238E27FC236}">
                <a16:creationId xmlns:a16="http://schemas.microsoft.com/office/drawing/2014/main" id="{769DA1DB-97E6-0705-3DAE-D8583D73E869}"/>
              </a:ext>
            </a:extLst>
          </p:cNvPr>
          <p:cNvSpPr txBox="1"/>
          <p:nvPr/>
        </p:nvSpPr>
        <p:spPr>
          <a:xfrm>
            <a:off x="6451600" y="3340100"/>
            <a:ext cx="5003800" cy="276999"/>
          </a:xfrm>
          <a:prstGeom prst="rect">
            <a:avLst/>
          </a:prstGeom>
          <a:noFill/>
        </p:spPr>
        <p:txBody>
          <a:bodyPr vert="horz" wrap="square" lIns="0" tIns="0" rIns="0" bIns="0" rtlCol="0">
            <a:noAutofit/>
          </a:bodyPr>
          <a:lstStyle/>
          <a:p>
            <a:pPr>
              <a:spcAft>
                <a:spcPts val="700"/>
              </a:spcAft>
            </a:pPr>
            <a:r>
              <a:rPr lang="en-US" sz="1700">
                <a:solidFill>
                  <a:srgbClr val="F2F6FC"/>
                </a:solidFill>
                <a:latin typeface="Aptos" panose="020B0004020202020204" pitchFamily="34" charset="0"/>
              </a:rPr>
              <a:t>Azure Bastion Basic in hub
Connect from each VM's portal page
Choose Bastion, then SSH
VM NICs have no public IP
Workload IP forwarding: disabled</a:t>
            </a:r>
          </a:p>
        </p:txBody>
      </p:sp>
      <p:sp>
        <p:nvSpPr>
          <p:cNvPr id="16" name="TextBox 15">
            <a:extLst>
              <a:ext uri="{FF2B5EF4-FFF2-40B4-BE49-F238E27FC236}">
                <a16:creationId xmlns:a16="http://schemas.microsoft.com/office/drawing/2014/main" id="{B648A8DD-9CD7-3434-64D0-1B97CBED59B0}"/>
              </a:ext>
            </a:extLst>
          </p:cNvPr>
          <p:cNvSpPr txBox="1"/>
          <p:nvPr/>
        </p:nvSpPr>
        <p:spPr>
          <a:xfrm>
            <a:off x="508000" y="5765800"/>
            <a:ext cx="11176000" cy="276999"/>
          </a:xfrm>
          <a:prstGeom prst="rect">
            <a:avLst/>
          </a:prstGeom>
          <a:noFill/>
        </p:spPr>
        <p:txBody>
          <a:bodyPr vert="horz" wrap="square" lIns="0" tIns="0" rIns="0" bIns="0" rtlCol="0">
            <a:noAutofit/>
          </a:bodyPr>
          <a:lstStyle/>
          <a:p>
            <a:pPr>
              <a:spcAft>
                <a:spcPts val="700"/>
              </a:spcAft>
            </a:pPr>
            <a:r>
              <a:rPr lang="en-US" sz="1500" b="1">
                <a:solidFill>
                  <a:srgbClr val="35D4E8"/>
                </a:solidFill>
                <a:latin typeface="Aptos" panose="020B0004020202020204" pitchFamily="34" charset="0"/>
              </a:rPr>
              <a:t>A workload VM is an endpoint, not a forwarding appliance.</a:t>
            </a:r>
          </a:p>
        </p:txBody>
      </p:sp>
    </p:spTree>
    <p:extLst>
      <p:ext uri="{BB962C8B-B14F-4D97-AF65-F5344CB8AC3E}">
        <p14:creationId xmlns:p14="http://schemas.microsoft.com/office/powerpoint/2010/main" val="10254297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C183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FA0BED-3DCB-457B-4F69-25851D1B7257}"/>
              </a:ext>
            </a:extLst>
          </p:cNvPr>
          <p:cNvSpPr/>
          <p:nvPr/>
        </p:nvSpPr>
        <p:spPr>
          <a:xfrm>
            <a:off x="0" y="0"/>
            <a:ext cx="12192000" cy="63500"/>
          </a:xfrm>
          <a:prstGeom prst="rect">
            <a:avLst/>
          </a:prstGeom>
          <a:solidFill>
            <a:srgbClr val="35D4E8"/>
          </a:solidFill>
          <a:ln>
            <a:solidFill>
              <a:srgbClr val="35D4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C6074D6-4E0E-EA04-39C9-388F49F839EE}"/>
              </a:ext>
            </a:extLst>
          </p:cNvPr>
          <p:cNvSpPr txBox="1"/>
          <p:nvPr/>
        </p:nvSpPr>
        <p:spPr>
          <a:xfrm>
            <a:off x="508000" y="292100"/>
            <a:ext cx="10795000" cy="276999"/>
          </a:xfrm>
          <a:prstGeom prst="rect">
            <a:avLst/>
          </a:prstGeom>
          <a:noFill/>
        </p:spPr>
        <p:txBody>
          <a:bodyPr vert="horz" wrap="square" lIns="0" tIns="0" rIns="0" bIns="0" rtlCol="0">
            <a:noAutofit/>
          </a:bodyPr>
          <a:lstStyle/>
          <a:p>
            <a:pPr>
              <a:spcAft>
                <a:spcPts val="700"/>
              </a:spcAft>
            </a:pPr>
            <a:r>
              <a:rPr lang="en-US" sz="1000" b="1">
                <a:solidFill>
                  <a:srgbClr val="35D4E8"/>
                </a:solidFill>
                <a:latin typeface="Aptos" panose="020B0004020202020204" pitchFamily="34" charset="0"/>
              </a:rPr>
              <a:t>11 / BEFORE DEPLOYMENT</a:t>
            </a:r>
          </a:p>
        </p:txBody>
      </p:sp>
      <p:sp>
        <p:nvSpPr>
          <p:cNvPr id="4" name="TextBox 3">
            <a:extLst>
              <a:ext uri="{FF2B5EF4-FFF2-40B4-BE49-F238E27FC236}">
                <a16:creationId xmlns:a16="http://schemas.microsoft.com/office/drawing/2014/main" id="{C08AC588-B6A3-95F2-0768-0FE18DEA405A}"/>
              </a:ext>
            </a:extLst>
          </p:cNvPr>
          <p:cNvSpPr txBox="1"/>
          <p:nvPr/>
        </p:nvSpPr>
        <p:spPr>
          <a:xfrm>
            <a:off x="508000" y="723900"/>
            <a:ext cx="11176000" cy="276999"/>
          </a:xfrm>
          <a:prstGeom prst="rect">
            <a:avLst/>
          </a:prstGeom>
          <a:noFill/>
        </p:spPr>
        <p:txBody>
          <a:bodyPr vert="horz" wrap="square" lIns="0" tIns="0" rIns="0" bIns="0" rtlCol="0">
            <a:noAutofit/>
          </a:bodyPr>
          <a:lstStyle/>
          <a:p>
            <a:pPr>
              <a:spcAft>
                <a:spcPts val="700"/>
              </a:spcAft>
            </a:pPr>
            <a:r>
              <a:rPr lang="en-US" sz="3000" b="1">
                <a:solidFill>
                  <a:srgbClr val="F2F6FC"/>
                </a:solidFill>
                <a:latin typeface="Aptos" panose="020B0004020202020204" pitchFamily="34" charset="0"/>
              </a:rPr>
              <a:t>Preflight checks that prevent a broken demo</a:t>
            </a:r>
          </a:p>
        </p:txBody>
      </p:sp>
      <p:sp>
        <p:nvSpPr>
          <p:cNvPr id="5" name="TextBox 4">
            <a:extLst>
              <a:ext uri="{FF2B5EF4-FFF2-40B4-BE49-F238E27FC236}">
                <a16:creationId xmlns:a16="http://schemas.microsoft.com/office/drawing/2014/main" id="{F21E9CBB-C2B6-40E0-D8D7-D67B448AADB0}"/>
              </a:ext>
            </a:extLst>
          </p:cNvPr>
          <p:cNvSpPr txBox="1"/>
          <p:nvPr/>
        </p:nvSpPr>
        <p:spPr>
          <a:xfrm>
            <a:off x="508000" y="1562100"/>
            <a:ext cx="11176000" cy="276999"/>
          </a:xfrm>
          <a:prstGeom prst="rect">
            <a:avLst/>
          </a:prstGeom>
          <a:noFill/>
        </p:spPr>
        <p:txBody>
          <a:bodyPr vert="horz" wrap="square" lIns="0" tIns="0" rIns="0" bIns="0" rtlCol="0">
            <a:noAutofit/>
          </a:bodyPr>
          <a:lstStyle/>
          <a:p>
            <a:pPr>
              <a:spcAft>
                <a:spcPts val="700"/>
              </a:spcAft>
            </a:pPr>
            <a:r>
              <a:rPr lang="en-US" sz="1400">
                <a:solidFill>
                  <a:srgbClr val="B6C5D9"/>
                </a:solidFill>
                <a:latin typeface="Aptos" panose="020B0004020202020204" pitchFamily="34" charset="0"/>
              </a:rPr>
              <a:t>The deck documents the source as-is; resolve configuration prerequisites before applying it.</a:t>
            </a:r>
          </a:p>
        </p:txBody>
      </p:sp>
      <p:sp>
        <p:nvSpPr>
          <p:cNvPr id="6" name="Rectangle 5">
            <a:extLst>
              <a:ext uri="{FF2B5EF4-FFF2-40B4-BE49-F238E27FC236}">
                <a16:creationId xmlns:a16="http://schemas.microsoft.com/office/drawing/2014/main" id="{F140ACF2-EE06-D7FC-DD0A-D958995778FE}"/>
              </a:ext>
            </a:extLst>
          </p:cNvPr>
          <p:cNvSpPr/>
          <p:nvPr/>
        </p:nvSpPr>
        <p:spPr>
          <a:xfrm>
            <a:off x="508000" y="6413500"/>
            <a:ext cx="11176000" cy="12700"/>
          </a:xfrm>
          <a:prstGeom prst="rect">
            <a:avLst/>
          </a:prstGeom>
          <a:solidFill>
            <a:srgbClr val="31415B"/>
          </a:solidFill>
          <a:ln>
            <a:solidFill>
              <a:srgbClr val="3141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2CD6B8D-F666-DA59-A554-A64A985145FD}"/>
              </a:ext>
            </a:extLst>
          </p:cNvPr>
          <p:cNvSpPr txBox="1"/>
          <p:nvPr/>
        </p:nvSpPr>
        <p:spPr>
          <a:xfrm>
            <a:off x="508000" y="6553200"/>
            <a:ext cx="8890000" cy="276999"/>
          </a:xfrm>
          <a:prstGeom prst="rect">
            <a:avLst/>
          </a:prstGeom>
          <a:noFill/>
        </p:spPr>
        <p:txBody>
          <a:bodyPr vert="horz" wrap="square" lIns="0" tIns="0" rIns="0" bIns="0" rtlCol="0">
            <a:noAutofit/>
          </a:bodyPr>
          <a:lstStyle/>
          <a:p>
            <a:pPr>
              <a:spcAft>
                <a:spcPts val="700"/>
              </a:spcAft>
            </a:pPr>
            <a:r>
              <a:rPr lang="en-US" sz="900">
                <a:solidFill>
                  <a:srgbClr val="B6C5D9"/>
                </a:solidFill>
                <a:latin typeface="Aptos" panose="020B0004020202020204" pitchFamily="34" charset="0"/>
              </a:rPr>
              <a:t>AZURE NETWORK COURSE  /  LAB 240</a:t>
            </a:r>
          </a:p>
        </p:txBody>
      </p:sp>
      <p:sp>
        <p:nvSpPr>
          <p:cNvPr id="8" name="TextBox 7">
            <a:extLst>
              <a:ext uri="{FF2B5EF4-FFF2-40B4-BE49-F238E27FC236}">
                <a16:creationId xmlns:a16="http://schemas.microsoft.com/office/drawing/2014/main" id="{FAC8AB33-C972-52AF-659F-B071448A2DDA}"/>
              </a:ext>
            </a:extLst>
          </p:cNvPr>
          <p:cNvSpPr txBox="1"/>
          <p:nvPr/>
        </p:nvSpPr>
        <p:spPr>
          <a:xfrm>
            <a:off x="11214100" y="6527800"/>
            <a:ext cx="469900" cy="276999"/>
          </a:xfrm>
          <a:prstGeom prst="rect">
            <a:avLst/>
          </a:prstGeom>
          <a:noFill/>
        </p:spPr>
        <p:txBody>
          <a:bodyPr vert="horz" wrap="square" lIns="0" tIns="0" rIns="0" bIns="0" rtlCol="0">
            <a:noAutofit/>
          </a:bodyPr>
          <a:lstStyle/>
          <a:p>
            <a:pPr>
              <a:spcAft>
                <a:spcPts val="700"/>
              </a:spcAft>
            </a:pPr>
            <a:r>
              <a:rPr lang="en-US" sz="1100" b="1">
                <a:solidFill>
                  <a:srgbClr val="35D4E8"/>
                </a:solidFill>
                <a:latin typeface="Aptos" panose="020B0004020202020204" pitchFamily="34" charset="0"/>
              </a:rPr>
              <a:t>12</a:t>
            </a:r>
          </a:p>
        </p:txBody>
      </p:sp>
      <p:sp>
        <p:nvSpPr>
          <p:cNvPr id="9" name="Rectangle 8">
            <a:extLst>
              <a:ext uri="{FF2B5EF4-FFF2-40B4-BE49-F238E27FC236}">
                <a16:creationId xmlns:a16="http://schemas.microsoft.com/office/drawing/2014/main" id="{41765782-BD97-E6E4-1DDD-AA8918AEDE32}"/>
              </a:ext>
            </a:extLst>
          </p:cNvPr>
          <p:cNvSpPr/>
          <p:nvPr/>
        </p:nvSpPr>
        <p:spPr>
          <a:xfrm>
            <a:off x="508000" y="2286000"/>
            <a:ext cx="3556000" cy="34036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7325BEE-A12F-3759-0B41-A9B78F22E4B1}"/>
              </a:ext>
            </a:extLst>
          </p:cNvPr>
          <p:cNvSpPr/>
          <p:nvPr/>
        </p:nvSpPr>
        <p:spPr>
          <a:xfrm>
            <a:off x="508000" y="2286000"/>
            <a:ext cx="50800" cy="3403600"/>
          </a:xfrm>
          <a:prstGeom prst="rect">
            <a:avLst/>
          </a:prstGeom>
          <a:solidFill>
            <a:srgbClr val="35D4E8"/>
          </a:solidFill>
          <a:ln>
            <a:solidFill>
              <a:srgbClr val="35D4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5EED507-7204-E25A-69E0-D9C394FC7EDA}"/>
              </a:ext>
            </a:extLst>
          </p:cNvPr>
          <p:cNvSpPr txBox="1"/>
          <p:nvPr/>
        </p:nvSpPr>
        <p:spPr>
          <a:xfrm>
            <a:off x="736600" y="2501900"/>
            <a:ext cx="3098800" cy="276999"/>
          </a:xfrm>
          <a:prstGeom prst="rect">
            <a:avLst/>
          </a:prstGeom>
          <a:noFill/>
        </p:spPr>
        <p:txBody>
          <a:bodyPr vert="horz" wrap="square" lIns="0" tIns="0" rIns="0" bIns="0" rtlCol="0">
            <a:noAutofit/>
          </a:bodyPr>
          <a:lstStyle/>
          <a:p>
            <a:pPr>
              <a:spcAft>
                <a:spcPts val="700"/>
              </a:spcAft>
            </a:pPr>
            <a:r>
              <a:rPr lang="en-US" sz="2000" b="1">
                <a:solidFill>
                  <a:srgbClr val="35D4E8"/>
                </a:solidFill>
                <a:latin typeface="Aptos" panose="020B0004020202020204" pitchFamily="34" charset="0"/>
              </a:rPr>
              <a:t>TOOLS + CAPACITY</a:t>
            </a:r>
          </a:p>
        </p:txBody>
      </p:sp>
      <p:sp>
        <p:nvSpPr>
          <p:cNvPr id="12" name="TextBox 11">
            <a:extLst>
              <a:ext uri="{FF2B5EF4-FFF2-40B4-BE49-F238E27FC236}">
                <a16:creationId xmlns:a16="http://schemas.microsoft.com/office/drawing/2014/main" id="{7B50FF62-93D9-7633-1B28-DB49C217A016}"/>
              </a:ext>
            </a:extLst>
          </p:cNvPr>
          <p:cNvSpPr txBox="1"/>
          <p:nvPr/>
        </p:nvSpPr>
        <p:spPr>
          <a:xfrm>
            <a:off x="736600" y="3276600"/>
            <a:ext cx="3098800" cy="276999"/>
          </a:xfrm>
          <a:prstGeom prst="rect">
            <a:avLst/>
          </a:prstGeom>
          <a:noFill/>
        </p:spPr>
        <p:txBody>
          <a:bodyPr vert="horz" wrap="square" lIns="0" tIns="0" rIns="0" bIns="0" rtlCol="0">
            <a:noAutofit/>
          </a:bodyPr>
          <a:lstStyle/>
          <a:p>
            <a:pPr>
              <a:spcAft>
                <a:spcPts val="700"/>
              </a:spcAft>
            </a:pPr>
            <a:r>
              <a:rPr lang="en-US" sz="1700">
                <a:solidFill>
                  <a:srgbClr val="F2F6FC"/>
                </a:solidFill>
                <a:latin typeface="Aptos" panose="020B0004020202020204" pitchFamily="34" charset="0"/>
              </a:rPr>
              <a:t>Terraform &gt;= 1.11
AzureRM &gt;= 4.37.0
AzAPI &gt;= 2.12.0
Confirm subscription permissions
Confirm Sweden Central capacity</a:t>
            </a:r>
          </a:p>
        </p:txBody>
      </p:sp>
      <p:sp>
        <p:nvSpPr>
          <p:cNvPr id="13" name="Rectangle 12">
            <a:extLst>
              <a:ext uri="{FF2B5EF4-FFF2-40B4-BE49-F238E27FC236}">
                <a16:creationId xmlns:a16="http://schemas.microsoft.com/office/drawing/2014/main" id="{B008219E-6B80-9B95-8570-4D8B75198D13}"/>
              </a:ext>
            </a:extLst>
          </p:cNvPr>
          <p:cNvSpPr/>
          <p:nvPr/>
        </p:nvSpPr>
        <p:spPr>
          <a:xfrm>
            <a:off x="4318000" y="2286000"/>
            <a:ext cx="3556000" cy="34036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8B08F70-C7D4-6EC2-577A-9CADA07093F7}"/>
              </a:ext>
            </a:extLst>
          </p:cNvPr>
          <p:cNvSpPr/>
          <p:nvPr/>
        </p:nvSpPr>
        <p:spPr>
          <a:xfrm>
            <a:off x="4318000" y="2286000"/>
            <a:ext cx="50800" cy="3403600"/>
          </a:xfrm>
          <a:prstGeom prst="rect">
            <a:avLst/>
          </a:prstGeom>
          <a:solidFill>
            <a:srgbClr val="FFCA70"/>
          </a:solidFill>
          <a:ln>
            <a:solidFill>
              <a:srgbClr val="FFCA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3C54746-F010-89AC-6BE3-6E2D5CC0D63F}"/>
              </a:ext>
            </a:extLst>
          </p:cNvPr>
          <p:cNvSpPr txBox="1"/>
          <p:nvPr/>
        </p:nvSpPr>
        <p:spPr>
          <a:xfrm>
            <a:off x="4546600" y="2501900"/>
            <a:ext cx="3098800" cy="276999"/>
          </a:xfrm>
          <a:prstGeom prst="rect">
            <a:avLst/>
          </a:prstGeom>
          <a:noFill/>
        </p:spPr>
        <p:txBody>
          <a:bodyPr vert="horz" wrap="square" lIns="0" tIns="0" rIns="0" bIns="0" rtlCol="0">
            <a:noAutofit/>
          </a:bodyPr>
          <a:lstStyle/>
          <a:p>
            <a:pPr>
              <a:spcAft>
                <a:spcPts val="700"/>
              </a:spcAft>
            </a:pPr>
            <a:r>
              <a:rPr lang="en-US" sz="2000" b="1">
                <a:solidFill>
                  <a:srgbClr val="FFCA70"/>
                </a:solidFill>
                <a:latin typeface="Aptos" panose="020B0004020202020204" pitchFamily="34" charset="0"/>
              </a:rPr>
              <a:t>SOURCE CHECKS</a:t>
            </a:r>
          </a:p>
        </p:txBody>
      </p:sp>
      <p:sp>
        <p:nvSpPr>
          <p:cNvPr id="16" name="TextBox 15">
            <a:extLst>
              <a:ext uri="{FF2B5EF4-FFF2-40B4-BE49-F238E27FC236}">
                <a16:creationId xmlns:a16="http://schemas.microsoft.com/office/drawing/2014/main" id="{DCB0242F-6626-F540-BCE0-BBC800673A71}"/>
              </a:ext>
            </a:extLst>
          </p:cNvPr>
          <p:cNvSpPr txBox="1"/>
          <p:nvPr/>
        </p:nvSpPr>
        <p:spPr>
          <a:xfrm>
            <a:off x="4546600" y="3276600"/>
            <a:ext cx="3098800" cy="276999"/>
          </a:xfrm>
          <a:prstGeom prst="rect">
            <a:avLst/>
          </a:prstGeom>
          <a:noFill/>
        </p:spPr>
        <p:txBody>
          <a:bodyPr vert="horz" wrap="square" lIns="0" tIns="0" rIns="0" bIns="0" rtlCol="0">
            <a:noAutofit/>
          </a:bodyPr>
          <a:lstStyle/>
          <a:p>
            <a:pPr>
              <a:spcAft>
                <a:spcPts val="700"/>
              </a:spcAft>
            </a:pPr>
            <a:r>
              <a:rPr lang="en-US" sz="1700">
                <a:solidFill>
                  <a:srgbClr val="F2F6FC"/>
                </a:solidFill>
                <a:latin typeface="Aptos" panose="020B0004020202020204" pitchFamily="34" charset="0"/>
              </a:rPr>
              <a:t>Bastion subnet: /27 in source;
use /26 or larger for new hosts.
Check D2ads_v7, Spot, NVMe
and ephemeral disk support.
Replace embedded credentials.</a:t>
            </a:r>
          </a:p>
        </p:txBody>
      </p:sp>
      <p:sp>
        <p:nvSpPr>
          <p:cNvPr id="17" name="Rectangle 16">
            <a:extLst>
              <a:ext uri="{FF2B5EF4-FFF2-40B4-BE49-F238E27FC236}">
                <a16:creationId xmlns:a16="http://schemas.microsoft.com/office/drawing/2014/main" id="{A80711FD-3724-49AF-262E-FD114AD056D9}"/>
              </a:ext>
            </a:extLst>
          </p:cNvPr>
          <p:cNvSpPr/>
          <p:nvPr/>
        </p:nvSpPr>
        <p:spPr>
          <a:xfrm>
            <a:off x="8128000" y="2286000"/>
            <a:ext cx="3556000" cy="34036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8979128-3E62-6C90-0968-42FC24DE3602}"/>
              </a:ext>
            </a:extLst>
          </p:cNvPr>
          <p:cNvSpPr/>
          <p:nvPr/>
        </p:nvSpPr>
        <p:spPr>
          <a:xfrm>
            <a:off x="8128000" y="2286000"/>
            <a:ext cx="50800" cy="3403600"/>
          </a:xfrm>
          <a:prstGeom prst="rect">
            <a:avLst/>
          </a:prstGeom>
          <a:solidFill>
            <a:srgbClr val="35D4E8"/>
          </a:solidFill>
          <a:ln>
            <a:solidFill>
              <a:srgbClr val="35D4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BFF56A03-8F07-033B-29C6-F6B71679E645}"/>
              </a:ext>
            </a:extLst>
          </p:cNvPr>
          <p:cNvSpPr txBox="1"/>
          <p:nvPr/>
        </p:nvSpPr>
        <p:spPr>
          <a:xfrm>
            <a:off x="8356600" y="2501900"/>
            <a:ext cx="3098800" cy="276999"/>
          </a:xfrm>
          <a:prstGeom prst="rect">
            <a:avLst/>
          </a:prstGeom>
          <a:noFill/>
        </p:spPr>
        <p:txBody>
          <a:bodyPr vert="horz" wrap="square" lIns="0" tIns="0" rIns="0" bIns="0" rtlCol="0">
            <a:noAutofit/>
          </a:bodyPr>
          <a:lstStyle/>
          <a:p>
            <a:pPr>
              <a:spcAft>
                <a:spcPts val="700"/>
              </a:spcAft>
            </a:pPr>
            <a:r>
              <a:rPr lang="en-US" sz="2000" b="1">
                <a:solidFill>
                  <a:srgbClr val="35D4E8"/>
                </a:solidFill>
                <a:latin typeface="Aptos" panose="020B0004020202020204" pitchFamily="34" charset="0"/>
              </a:rPr>
              <a:t>BOOTSTRAP + STATE</a:t>
            </a:r>
          </a:p>
        </p:txBody>
      </p:sp>
      <p:sp>
        <p:nvSpPr>
          <p:cNvPr id="20" name="TextBox 19">
            <a:extLst>
              <a:ext uri="{FF2B5EF4-FFF2-40B4-BE49-F238E27FC236}">
                <a16:creationId xmlns:a16="http://schemas.microsoft.com/office/drawing/2014/main" id="{15A9E02F-3E25-6D13-4E03-F326178C335D}"/>
              </a:ext>
            </a:extLst>
          </p:cNvPr>
          <p:cNvSpPr txBox="1"/>
          <p:nvPr/>
        </p:nvSpPr>
        <p:spPr>
          <a:xfrm>
            <a:off x="8356600" y="3276600"/>
            <a:ext cx="3098800" cy="276999"/>
          </a:xfrm>
          <a:prstGeom prst="rect">
            <a:avLst/>
          </a:prstGeom>
          <a:noFill/>
        </p:spPr>
        <p:txBody>
          <a:bodyPr vert="horz" wrap="square" lIns="0" tIns="0" rIns="0" bIns="0" rtlCol="0">
            <a:noAutofit/>
          </a:bodyPr>
          <a:lstStyle/>
          <a:p>
            <a:pPr>
              <a:spcAft>
                <a:spcPts val="700"/>
              </a:spcAft>
            </a:pPr>
            <a:r>
              <a:rPr lang="en-US" sz="1700">
                <a:solidFill>
                  <a:srgbClr val="F2F6FC"/>
                </a:solidFill>
                <a:latin typeface="Aptos" panose="020B0004020202020204" pitchFamily="34" charset="0"/>
              </a:rPr>
              <a:t>Traceroute script runs apt.
No explicit egress is deployed:
provide supported outbound
access or preinstall tools.
Protect Terraform state/plan.</a:t>
            </a:r>
          </a:p>
        </p:txBody>
      </p:sp>
    </p:spTree>
    <p:extLst>
      <p:ext uri="{BB962C8B-B14F-4D97-AF65-F5344CB8AC3E}">
        <p14:creationId xmlns:p14="http://schemas.microsoft.com/office/powerpoint/2010/main" val="4810764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C183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425465D-2F6A-A17E-5505-F7A006ED29B7}"/>
              </a:ext>
            </a:extLst>
          </p:cNvPr>
          <p:cNvSpPr/>
          <p:nvPr/>
        </p:nvSpPr>
        <p:spPr>
          <a:xfrm>
            <a:off x="0" y="0"/>
            <a:ext cx="12192000" cy="63500"/>
          </a:xfrm>
          <a:prstGeom prst="rect">
            <a:avLst/>
          </a:prstGeom>
          <a:solidFill>
            <a:srgbClr val="35D4E8"/>
          </a:solidFill>
          <a:ln>
            <a:solidFill>
              <a:srgbClr val="35D4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E17548E-8EA6-0D9F-4C8D-6B8FFCA890CC}"/>
              </a:ext>
            </a:extLst>
          </p:cNvPr>
          <p:cNvSpPr txBox="1"/>
          <p:nvPr/>
        </p:nvSpPr>
        <p:spPr>
          <a:xfrm>
            <a:off x="508000" y="292100"/>
            <a:ext cx="10795000" cy="276999"/>
          </a:xfrm>
          <a:prstGeom prst="rect">
            <a:avLst/>
          </a:prstGeom>
          <a:noFill/>
        </p:spPr>
        <p:txBody>
          <a:bodyPr vert="horz" wrap="square" lIns="0" tIns="0" rIns="0" bIns="0" rtlCol="0">
            <a:noAutofit/>
          </a:bodyPr>
          <a:lstStyle/>
          <a:p>
            <a:pPr>
              <a:spcAft>
                <a:spcPts val="700"/>
              </a:spcAft>
            </a:pPr>
            <a:r>
              <a:rPr lang="en-US" sz="1000" b="1">
                <a:solidFill>
                  <a:srgbClr val="35D4E8"/>
                </a:solidFill>
                <a:latin typeface="Aptos" panose="020B0004020202020204" pitchFamily="34" charset="0"/>
              </a:rPr>
              <a:t>12 / DEPLOY</a:t>
            </a:r>
          </a:p>
        </p:txBody>
      </p:sp>
      <p:sp>
        <p:nvSpPr>
          <p:cNvPr id="4" name="TextBox 3">
            <a:extLst>
              <a:ext uri="{FF2B5EF4-FFF2-40B4-BE49-F238E27FC236}">
                <a16:creationId xmlns:a16="http://schemas.microsoft.com/office/drawing/2014/main" id="{1BD355CA-9E0A-A685-5251-C2D7550620C4}"/>
              </a:ext>
            </a:extLst>
          </p:cNvPr>
          <p:cNvSpPr txBox="1"/>
          <p:nvPr/>
        </p:nvSpPr>
        <p:spPr>
          <a:xfrm>
            <a:off x="508000" y="723900"/>
            <a:ext cx="11176000" cy="276999"/>
          </a:xfrm>
          <a:prstGeom prst="rect">
            <a:avLst/>
          </a:prstGeom>
          <a:noFill/>
        </p:spPr>
        <p:txBody>
          <a:bodyPr vert="horz" wrap="square" lIns="0" tIns="0" rIns="0" bIns="0" rtlCol="0">
            <a:noAutofit/>
          </a:bodyPr>
          <a:lstStyle/>
          <a:p>
            <a:pPr>
              <a:spcAft>
                <a:spcPts val="700"/>
              </a:spcAft>
            </a:pPr>
            <a:r>
              <a:rPr lang="en-US" sz="3000" b="1">
                <a:solidFill>
                  <a:srgbClr val="F2F6FC"/>
                </a:solidFill>
                <a:latin typeface="Aptos" panose="020B0004020202020204" pitchFamily="34" charset="0"/>
              </a:rPr>
              <a:t>Plan, review, apply - then capture outputs</a:t>
            </a:r>
          </a:p>
        </p:txBody>
      </p:sp>
      <p:sp>
        <p:nvSpPr>
          <p:cNvPr id="5" name="TextBox 4">
            <a:extLst>
              <a:ext uri="{FF2B5EF4-FFF2-40B4-BE49-F238E27FC236}">
                <a16:creationId xmlns:a16="http://schemas.microsoft.com/office/drawing/2014/main" id="{D658B7FE-1DE8-2EAF-09FD-D59E48B65879}"/>
              </a:ext>
            </a:extLst>
          </p:cNvPr>
          <p:cNvSpPr txBox="1"/>
          <p:nvPr/>
        </p:nvSpPr>
        <p:spPr>
          <a:xfrm>
            <a:off x="508000" y="1562100"/>
            <a:ext cx="11176000" cy="276999"/>
          </a:xfrm>
          <a:prstGeom prst="rect">
            <a:avLst/>
          </a:prstGeom>
          <a:noFill/>
        </p:spPr>
        <p:txBody>
          <a:bodyPr vert="horz" wrap="square" lIns="0" tIns="0" rIns="0" bIns="0" rtlCol="0">
            <a:noAutofit/>
          </a:bodyPr>
          <a:lstStyle/>
          <a:p>
            <a:pPr>
              <a:spcAft>
                <a:spcPts val="700"/>
              </a:spcAft>
            </a:pPr>
            <a:r>
              <a:rPr lang="en-US" sz="1400">
                <a:solidFill>
                  <a:srgbClr val="B6C5D9"/>
                </a:solidFill>
                <a:latin typeface="Aptos" panose="020B0004020202020204" pitchFamily="34" charset="0"/>
              </a:rPr>
              <a:t>PowerShell commands from the repository root. Run only in an approved lab subscription.</a:t>
            </a:r>
          </a:p>
        </p:txBody>
      </p:sp>
      <p:sp>
        <p:nvSpPr>
          <p:cNvPr id="6" name="Rectangle 5">
            <a:extLst>
              <a:ext uri="{FF2B5EF4-FFF2-40B4-BE49-F238E27FC236}">
                <a16:creationId xmlns:a16="http://schemas.microsoft.com/office/drawing/2014/main" id="{BD945E20-77F8-3238-7149-9AA81A50946D}"/>
              </a:ext>
            </a:extLst>
          </p:cNvPr>
          <p:cNvSpPr/>
          <p:nvPr/>
        </p:nvSpPr>
        <p:spPr>
          <a:xfrm>
            <a:off x="508000" y="6413500"/>
            <a:ext cx="11176000" cy="12700"/>
          </a:xfrm>
          <a:prstGeom prst="rect">
            <a:avLst/>
          </a:prstGeom>
          <a:solidFill>
            <a:srgbClr val="31415B"/>
          </a:solidFill>
          <a:ln>
            <a:solidFill>
              <a:srgbClr val="3141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CF0A5E4-F30D-54E4-9DFC-94C8E9F34917}"/>
              </a:ext>
            </a:extLst>
          </p:cNvPr>
          <p:cNvSpPr txBox="1"/>
          <p:nvPr/>
        </p:nvSpPr>
        <p:spPr>
          <a:xfrm>
            <a:off x="508000" y="6553200"/>
            <a:ext cx="8890000" cy="276999"/>
          </a:xfrm>
          <a:prstGeom prst="rect">
            <a:avLst/>
          </a:prstGeom>
          <a:noFill/>
        </p:spPr>
        <p:txBody>
          <a:bodyPr vert="horz" wrap="square" lIns="0" tIns="0" rIns="0" bIns="0" rtlCol="0">
            <a:noAutofit/>
          </a:bodyPr>
          <a:lstStyle/>
          <a:p>
            <a:pPr>
              <a:spcAft>
                <a:spcPts val="700"/>
              </a:spcAft>
            </a:pPr>
            <a:r>
              <a:rPr lang="en-US" sz="900">
                <a:solidFill>
                  <a:srgbClr val="B6C5D9"/>
                </a:solidFill>
                <a:latin typeface="Aptos" panose="020B0004020202020204" pitchFamily="34" charset="0"/>
              </a:rPr>
              <a:t>AZURE NETWORK COURSE  /  LAB 240</a:t>
            </a:r>
          </a:p>
        </p:txBody>
      </p:sp>
      <p:sp>
        <p:nvSpPr>
          <p:cNvPr id="8" name="TextBox 7">
            <a:extLst>
              <a:ext uri="{FF2B5EF4-FFF2-40B4-BE49-F238E27FC236}">
                <a16:creationId xmlns:a16="http://schemas.microsoft.com/office/drawing/2014/main" id="{7880C4D6-32A0-4734-3E48-F6A8D1B83F56}"/>
              </a:ext>
            </a:extLst>
          </p:cNvPr>
          <p:cNvSpPr txBox="1"/>
          <p:nvPr/>
        </p:nvSpPr>
        <p:spPr>
          <a:xfrm>
            <a:off x="11214100" y="6527800"/>
            <a:ext cx="469900" cy="276999"/>
          </a:xfrm>
          <a:prstGeom prst="rect">
            <a:avLst/>
          </a:prstGeom>
          <a:noFill/>
        </p:spPr>
        <p:txBody>
          <a:bodyPr vert="horz" wrap="square" lIns="0" tIns="0" rIns="0" bIns="0" rtlCol="0">
            <a:noAutofit/>
          </a:bodyPr>
          <a:lstStyle/>
          <a:p>
            <a:pPr>
              <a:spcAft>
                <a:spcPts val="700"/>
              </a:spcAft>
            </a:pPr>
            <a:r>
              <a:rPr lang="en-US" sz="1100" b="1">
                <a:solidFill>
                  <a:srgbClr val="35D4E8"/>
                </a:solidFill>
                <a:latin typeface="Aptos" panose="020B0004020202020204" pitchFamily="34" charset="0"/>
              </a:rPr>
              <a:t>13</a:t>
            </a:r>
          </a:p>
        </p:txBody>
      </p:sp>
      <p:sp>
        <p:nvSpPr>
          <p:cNvPr id="9" name="Rectangle 8">
            <a:extLst>
              <a:ext uri="{FF2B5EF4-FFF2-40B4-BE49-F238E27FC236}">
                <a16:creationId xmlns:a16="http://schemas.microsoft.com/office/drawing/2014/main" id="{63EF6D3A-81E8-458A-34AD-45C430B27C87}"/>
              </a:ext>
            </a:extLst>
          </p:cNvPr>
          <p:cNvSpPr/>
          <p:nvPr/>
        </p:nvSpPr>
        <p:spPr>
          <a:xfrm>
            <a:off x="508000" y="2273300"/>
            <a:ext cx="11176000" cy="3200400"/>
          </a:xfrm>
          <a:prstGeom prst="rect">
            <a:avLst/>
          </a:prstGeom>
          <a:solidFill>
            <a:srgbClr val="081324"/>
          </a:solidFill>
          <a:ln>
            <a:solidFill>
              <a:srgbClr val="0813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1052765-072D-3FD6-BF13-3B40241DF590}"/>
              </a:ext>
            </a:extLst>
          </p:cNvPr>
          <p:cNvSpPr txBox="1"/>
          <p:nvPr/>
        </p:nvSpPr>
        <p:spPr>
          <a:xfrm>
            <a:off x="736600" y="2463800"/>
            <a:ext cx="10718800" cy="276999"/>
          </a:xfrm>
          <a:prstGeom prst="rect">
            <a:avLst/>
          </a:prstGeom>
          <a:noFill/>
        </p:spPr>
        <p:txBody>
          <a:bodyPr vert="horz" wrap="square" lIns="0" tIns="0" rIns="0" bIns="0" rtlCol="0">
            <a:noAutofit/>
          </a:bodyPr>
          <a:lstStyle/>
          <a:p>
            <a:pPr>
              <a:spcAft>
                <a:spcPts val="700"/>
              </a:spcAft>
            </a:pPr>
            <a:r>
              <a:rPr lang="en-US">
                <a:solidFill>
                  <a:srgbClr val="F2F6FC"/>
                </a:solidFill>
                <a:latin typeface="Consolas" panose="020B0609020204030204" pitchFamily="49" charset="0"/>
              </a:rPr>
              <a:t>Set-Location .\240_vnet_routing_appliance</a:t>
            </a:r>
          </a:p>
          <a:p>
            <a:pPr>
              <a:spcAft>
                <a:spcPts val="700"/>
              </a:spcAft>
            </a:pPr>
            <a:r>
              <a:rPr lang="en-US">
                <a:solidFill>
                  <a:srgbClr val="F2F6FC"/>
                </a:solidFill>
                <a:latin typeface="Consolas" panose="020B0609020204030204" pitchFamily="49" charset="0"/>
              </a:rPr>
              <a:t>az login</a:t>
            </a:r>
          </a:p>
          <a:p>
            <a:pPr>
              <a:spcAft>
                <a:spcPts val="700"/>
              </a:spcAft>
            </a:pPr>
            <a:r>
              <a:rPr lang="en-US">
                <a:solidFill>
                  <a:srgbClr val="F2F6FC"/>
                </a:solidFill>
                <a:latin typeface="Consolas" panose="020B0609020204030204" pitchFamily="49" charset="0"/>
              </a:rPr>
              <a:t>az account set --subscription "&lt;lab-subscription-id&gt;"</a:t>
            </a:r>
          </a:p>
          <a:p>
            <a:pPr>
              <a:spcAft>
                <a:spcPts val="700"/>
              </a:spcAft>
            </a:pPr>
            <a:r>
              <a:rPr lang="en-US">
                <a:solidFill>
                  <a:srgbClr val="F2F6FC"/>
                </a:solidFill>
                <a:latin typeface="Consolas" panose="020B0609020204030204" pitchFamily="49" charset="0"/>
              </a:rPr>
              <a:t>terraform init</a:t>
            </a:r>
          </a:p>
          <a:p>
            <a:pPr>
              <a:spcAft>
                <a:spcPts val="700"/>
              </a:spcAft>
            </a:pPr>
            <a:r>
              <a:rPr lang="en-US">
                <a:solidFill>
                  <a:srgbClr val="F2F6FC"/>
                </a:solidFill>
                <a:latin typeface="Consolas" panose="020B0609020204030204" pitchFamily="49" charset="0"/>
              </a:rPr>
              <a:t>terraform validate</a:t>
            </a:r>
          </a:p>
          <a:p>
            <a:pPr>
              <a:spcAft>
                <a:spcPts val="700"/>
              </a:spcAft>
            </a:pPr>
            <a:r>
              <a:rPr lang="en-US">
                <a:solidFill>
                  <a:srgbClr val="F2F6FC"/>
                </a:solidFill>
                <a:latin typeface="Consolas" panose="020B0609020204030204" pitchFamily="49" charset="0"/>
              </a:rPr>
              <a:t>terraform plan -out=lab240.tfplan</a:t>
            </a:r>
          </a:p>
          <a:p>
            <a:pPr>
              <a:spcAft>
                <a:spcPts val="700"/>
              </a:spcAft>
            </a:pPr>
            <a:r>
              <a:rPr lang="en-US">
                <a:solidFill>
                  <a:srgbClr val="F2F6FC"/>
                </a:solidFill>
                <a:latin typeface="Consolas" panose="020B0609020204030204" pitchFamily="49" charset="0"/>
              </a:rPr>
              <a:t>terraform apply lab240.tfplan</a:t>
            </a:r>
          </a:p>
          <a:p>
            <a:pPr>
              <a:spcAft>
                <a:spcPts val="700"/>
              </a:spcAft>
            </a:pPr>
            <a:r>
              <a:rPr lang="en-US">
                <a:solidFill>
                  <a:srgbClr val="F2F6FC"/>
                </a:solidFill>
                <a:latin typeface="Consolas" panose="020B0609020204030204" pitchFamily="49" charset="0"/>
              </a:rPr>
              <a:t>terraform output</a:t>
            </a:r>
          </a:p>
        </p:txBody>
      </p:sp>
      <p:sp>
        <p:nvSpPr>
          <p:cNvPr id="11" name="TextBox 10">
            <a:extLst>
              <a:ext uri="{FF2B5EF4-FFF2-40B4-BE49-F238E27FC236}">
                <a16:creationId xmlns:a16="http://schemas.microsoft.com/office/drawing/2014/main" id="{A2C2C40F-92CB-9265-E89D-5A2096FED24E}"/>
              </a:ext>
            </a:extLst>
          </p:cNvPr>
          <p:cNvSpPr txBox="1"/>
          <p:nvPr/>
        </p:nvSpPr>
        <p:spPr>
          <a:xfrm>
            <a:off x="508000" y="5727700"/>
            <a:ext cx="11176000" cy="276999"/>
          </a:xfrm>
          <a:prstGeom prst="rect">
            <a:avLst/>
          </a:prstGeom>
          <a:noFill/>
        </p:spPr>
        <p:txBody>
          <a:bodyPr vert="horz" wrap="square" lIns="0" tIns="0" rIns="0" bIns="0" rtlCol="0">
            <a:noAutofit/>
          </a:bodyPr>
          <a:lstStyle/>
          <a:p>
            <a:pPr>
              <a:spcAft>
                <a:spcPts val="700"/>
              </a:spcAft>
            </a:pPr>
            <a:r>
              <a:rPr lang="en-US" sz="1500" b="1">
                <a:solidFill>
                  <a:srgbClr val="35D4E8"/>
                </a:solidFill>
                <a:latin typeface="Aptos" panose="020B0004020202020204" pitchFamily="34" charset="0"/>
              </a:rPr>
              <a:t>Record routing_appliance_ip, vm_spoke1_ip, and vm_spoke2_ip.</a:t>
            </a:r>
          </a:p>
        </p:txBody>
      </p:sp>
    </p:spTree>
    <p:extLst>
      <p:ext uri="{BB962C8B-B14F-4D97-AF65-F5344CB8AC3E}">
        <p14:creationId xmlns:p14="http://schemas.microsoft.com/office/powerpoint/2010/main" val="39434576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C183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8DEDCD4-3EE8-704F-70DC-D7C0F922368D}"/>
              </a:ext>
            </a:extLst>
          </p:cNvPr>
          <p:cNvSpPr/>
          <p:nvPr/>
        </p:nvSpPr>
        <p:spPr>
          <a:xfrm>
            <a:off x="0" y="0"/>
            <a:ext cx="12192000" cy="63500"/>
          </a:xfrm>
          <a:prstGeom prst="rect">
            <a:avLst/>
          </a:prstGeom>
          <a:solidFill>
            <a:srgbClr val="35D4E8"/>
          </a:solidFill>
          <a:ln>
            <a:solidFill>
              <a:srgbClr val="35D4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B86B529-8B16-E88A-58AB-C2BA43E6EF75}"/>
              </a:ext>
            </a:extLst>
          </p:cNvPr>
          <p:cNvSpPr txBox="1"/>
          <p:nvPr/>
        </p:nvSpPr>
        <p:spPr>
          <a:xfrm>
            <a:off x="508000" y="292100"/>
            <a:ext cx="10795000" cy="276999"/>
          </a:xfrm>
          <a:prstGeom prst="rect">
            <a:avLst/>
          </a:prstGeom>
          <a:noFill/>
        </p:spPr>
        <p:txBody>
          <a:bodyPr vert="horz" wrap="square" lIns="0" tIns="0" rIns="0" bIns="0" rtlCol="0">
            <a:noAutofit/>
          </a:bodyPr>
          <a:lstStyle/>
          <a:p>
            <a:pPr>
              <a:spcAft>
                <a:spcPts val="700"/>
              </a:spcAft>
            </a:pPr>
            <a:r>
              <a:rPr lang="en-US" sz="1000" b="1">
                <a:solidFill>
                  <a:srgbClr val="35D4E8"/>
                </a:solidFill>
                <a:latin typeface="Aptos" panose="020B0004020202020204" pitchFamily="34" charset="0"/>
              </a:rPr>
              <a:t>13 / VALIDATE CONNECTIVITY</a:t>
            </a:r>
          </a:p>
        </p:txBody>
      </p:sp>
      <p:sp>
        <p:nvSpPr>
          <p:cNvPr id="4" name="TextBox 3">
            <a:extLst>
              <a:ext uri="{FF2B5EF4-FFF2-40B4-BE49-F238E27FC236}">
                <a16:creationId xmlns:a16="http://schemas.microsoft.com/office/drawing/2014/main" id="{5CF2FCC5-88AD-2E92-C846-6473BEF42AA3}"/>
              </a:ext>
            </a:extLst>
          </p:cNvPr>
          <p:cNvSpPr txBox="1"/>
          <p:nvPr/>
        </p:nvSpPr>
        <p:spPr>
          <a:xfrm>
            <a:off x="508000" y="723900"/>
            <a:ext cx="11176000" cy="276999"/>
          </a:xfrm>
          <a:prstGeom prst="rect">
            <a:avLst/>
          </a:prstGeom>
          <a:noFill/>
        </p:spPr>
        <p:txBody>
          <a:bodyPr vert="horz" wrap="square" lIns="0" tIns="0" rIns="0" bIns="0" rtlCol="0">
            <a:noAutofit/>
          </a:bodyPr>
          <a:lstStyle/>
          <a:p>
            <a:pPr>
              <a:spcAft>
                <a:spcPts val="700"/>
              </a:spcAft>
            </a:pPr>
            <a:r>
              <a:rPr lang="en-US" sz="3000" b="1">
                <a:solidFill>
                  <a:srgbClr val="F2F6FC"/>
                </a:solidFill>
                <a:latin typeface="Aptos" panose="020B0004020202020204" pitchFamily="34" charset="0"/>
              </a:rPr>
              <a:t>Test both directions from the private VMs</a:t>
            </a:r>
          </a:p>
        </p:txBody>
      </p:sp>
      <p:sp>
        <p:nvSpPr>
          <p:cNvPr id="5" name="TextBox 4">
            <a:extLst>
              <a:ext uri="{FF2B5EF4-FFF2-40B4-BE49-F238E27FC236}">
                <a16:creationId xmlns:a16="http://schemas.microsoft.com/office/drawing/2014/main" id="{A40A264E-4F06-1392-626A-AC12C1D4B006}"/>
              </a:ext>
            </a:extLst>
          </p:cNvPr>
          <p:cNvSpPr txBox="1"/>
          <p:nvPr/>
        </p:nvSpPr>
        <p:spPr>
          <a:xfrm>
            <a:off x="508000" y="1562100"/>
            <a:ext cx="11176000" cy="276999"/>
          </a:xfrm>
          <a:prstGeom prst="rect">
            <a:avLst/>
          </a:prstGeom>
          <a:noFill/>
        </p:spPr>
        <p:txBody>
          <a:bodyPr vert="horz" wrap="square" lIns="0" tIns="0" rIns="0" bIns="0" rtlCol="0">
            <a:noAutofit/>
          </a:bodyPr>
          <a:lstStyle/>
          <a:p>
            <a:pPr>
              <a:spcAft>
                <a:spcPts val="700"/>
              </a:spcAft>
            </a:pPr>
            <a:r>
              <a:rPr lang="en-US" sz="1400">
                <a:solidFill>
                  <a:srgbClr val="B6C5D9"/>
                </a:solidFill>
                <a:latin typeface="Aptos" panose="020B0004020202020204" pitchFamily="34" charset="0"/>
              </a:rPr>
              <a:t>Open a Bastion SSH session to each VM. Substitute the actual Terraform output addresses.</a:t>
            </a:r>
          </a:p>
        </p:txBody>
      </p:sp>
      <p:sp>
        <p:nvSpPr>
          <p:cNvPr id="6" name="Rectangle 5">
            <a:extLst>
              <a:ext uri="{FF2B5EF4-FFF2-40B4-BE49-F238E27FC236}">
                <a16:creationId xmlns:a16="http://schemas.microsoft.com/office/drawing/2014/main" id="{4101820B-769F-DDC8-978F-22C4D39F5CDC}"/>
              </a:ext>
            </a:extLst>
          </p:cNvPr>
          <p:cNvSpPr/>
          <p:nvPr/>
        </p:nvSpPr>
        <p:spPr>
          <a:xfrm>
            <a:off x="508000" y="6413500"/>
            <a:ext cx="11176000" cy="12700"/>
          </a:xfrm>
          <a:prstGeom prst="rect">
            <a:avLst/>
          </a:prstGeom>
          <a:solidFill>
            <a:srgbClr val="31415B"/>
          </a:solidFill>
          <a:ln>
            <a:solidFill>
              <a:srgbClr val="3141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65C18CD-B7F0-A118-ACC6-43E5F9778D47}"/>
              </a:ext>
            </a:extLst>
          </p:cNvPr>
          <p:cNvSpPr txBox="1"/>
          <p:nvPr/>
        </p:nvSpPr>
        <p:spPr>
          <a:xfrm>
            <a:off x="508000" y="6553200"/>
            <a:ext cx="8890000" cy="276999"/>
          </a:xfrm>
          <a:prstGeom prst="rect">
            <a:avLst/>
          </a:prstGeom>
          <a:noFill/>
        </p:spPr>
        <p:txBody>
          <a:bodyPr vert="horz" wrap="square" lIns="0" tIns="0" rIns="0" bIns="0" rtlCol="0">
            <a:noAutofit/>
          </a:bodyPr>
          <a:lstStyle/>
          <a:p>
            <a:pPr>
              <a:spcAft>
                <a:spcPts val="700"/>
              </a:spcAft>
            </a:pPr>
            <a:r>
              <a:rPr lang="en-US" sz="900">
                <a:solidFill>
                  <a:srgbClr val="B6C5D9"/>
                </a:solidFill>
                <a:latin typeface="Aptos" panose="020B0004020202020204" pitchFamily="34" charset="0"/>
              </a:rPr>
              <a:t>AZURE NETWORK COURSE  /  LAB 240</a:t>
            </a:r>
          </a:p>
        </p:txBody>
      </p:sp>
      <p:sp>
        <p:nvSpPr>
          <p:cNvPr id="8" name="TextBox 7">
            <a:extLst>
              <a:ext uri="{FF2B5EF4-FFF2-40B4-BE49-F238E27FC236}">
                <a16:creationId xmlns:a16="http://schemas.microsoft.com/office/drawing/2014/main" id="{4F80F63B-6CAE-4B76-C0C1-5EA4EA3A30A1}"/>
              </a:ext>
            </a:extLst>
          </p:cNvPr>
          <p:cNvSpPr txBox="1"/>
          <p:nvPr/>
        </p:nvSpPr>
        <p:spPr>
          <a:xfrm>
            <a:off x="11214100" y="6527800"/>
            <a:ext cx="469900" cy="276999"/>
          </a:xfrm>
          <a:prstGeom prst="rect">
            <a:avLst/>
          </a:prstGeom>
          <a:noFill/>
        </p:spPr>
        <p:txBody>
          <a:bodyPr vert="horz" wrap="square" lIns="0" tIns="0" rIns="0" bIns="0" rtlCol="0">
            <a:noAutofit/>
          </a:bodyPr>
          <a:lstStyle/>
          <a:p>
            <a:pPr>
              <a:spcAft>
                <a:spcPts val="700"/>
              </a:spcAft>
            </a:pPr>
            <a:r>
              <a:rPr lang="en-US" sz="1100" b="1">
                <a:solidFill>
                  <a:srgbClr val="35D4E8"/>
                </a:solidFill>
                <a:latin typeface="Aptos" panose="020B0004020202020204" pitchFamily="34" charset="0"/>
              </a:rPr>
              <a:t>14</a:t>
            </a:r>
          </a:p>
        </p:txBody>
      </p:sp>
      <p:sp>
        <p:nvSpPr>
          <p:cNvPr id="9" name="Rectangle 8">
            <a:extLst>
              <a:ext uri="{FF2B5EF4-FFF2-40B4-BE49-F238E27FC236}">
                <a16:creationId xmlns:a16="http://schemas.microsoft.com/office/drawing/2014/main" id="{C9E72943-56EF-7F64-0A79-94081606A2E1}"/>
              </a:ext>
            </a:extLst>
          </p:cNvPr>
          <p:cNvSpPr/>
          <p:nvPr/>
        </p:nvSpPr>
        <p:spPr>
          <a:xfrm>
            <a:off x="508000" y="2324100"/>
            <a:ext cx="5461000" cy="31242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D010569-6AAA-9D4B-C90D-A7E7602CD39E}"/>
              </a:ext>
            </a:extLst>
          </p:cNvPr>
          <p:cNvSpPr/>
          <p:nvPr/>
        </p:nvSpPr>
        <p:spPr>
          <a:xfrm>
            <a:off x="508000" y="2324100"/>
            <a:ext cx="50800" cy="3124200"/>
          </a:xfrm>
          <a:prstGeom prst="rect">
            <a:avLst/>
          </a:prstGeom>
          <a:solidFill>
            <a:srgbClr val="35D4E8"/>
          </a:solidFill>
          <a:ln>
            <a:solidFill>
              <a:srgbClr val="35D4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7F60E0A-D6D3-AA7A-E271-FE6546A71C94}"/>
              </a:ext>
            </a:extLst>
          </p:cNvPr>
          <p:cNvSpPr txBox="1"/>
          <p:nvPr/>
        </p:nvSpPr>
        <p:spPr>
          <a:xfrm>
            <a:off x="736600" y="2540000"/>
            <a:ext cx="5003800" cy="276999"/>
          </a:xfrm>
          <a:prstGeom prst="rect">
            <a:avLst/>
          </a:prstGeom>
          <a:noFill/>
        </p:spPr>
        <p:txBody>
          <a:bodyPr vert="horz" wrap="square" lIns="0" tIns="0" rIns="0" bIns="0" rtlCol="0">
            <a:noAutofit/>
          </a:bodyPr>
          <a:lstStyle/>
          <a:p>
            <a:pPr>
              <a:spcAft>
                <a:spcPts val="700"/>
              </a:spcAft>
            </a:pPr>
            <a:r>
              <a:rPr lang="en-US" sz="2000" b="1">
                <a:solidFill>
                  <a:srgbClr val="35D4E8"/>
                </a:solidFill>
                <a:latin typeface="Aptos" panose="020B0004020202020204" pitchFamily="34" charset="0"/>
              </a:rPr>
              <a:t>FROM SPOKE 1 VM</a:t>
            </a:r>
          </a:p>
        </p:txBody>
      </p:sp>
      <p:sp>
        <p:nvSpPr>
          <p:cNvPr id="12" name="TextBox 11">
            <a:extLst>
              <a:ext uri="{FF2B5EF4-FFF2-40B4-BE49-F238E27FC236}">
                <a16:creationId xmlns:a16="http://schemas.microsoft.com/office/drawing/2014/main" id="{FFA82CBA-5C91-63E3-5231-3C3A38CA3D72}"/>
              </a:ext>
            </a:extLst>
          </p:cNvPr>
          <p:cNvSpPr txBox="1"/>
          <p:nvPr/>
        </p:nvSpPr>
        <p:spPr>
          <a:xfrm>
            <a:off x="736600" y="3314700"/>
            <a:ext cx="5003800" cy="276999"/>
          </a:xfrm>
          <a:prstGeom prst="rect">
            <a:avLst/>
          </a:prstGeom>
          <a:noFill/>
        </p:spPr>
        <p:txBody>
          <a:bodyPr vert="horz" wrap="square" lIns="0" tIns="0" rIns="0" bIns="0" rtlCol="0">
            <a:noAutofit/>
          </a:bodyPr>
          <a:lstStyle/>
          <a:p>
            <a:pPr>
              <a:spcAft>
                <a:spcPts val="700"/>
              </a:spcAft>
            </a:pPr>
            <a:r>
              <a:rPr lang="en-US" sz="1700">
                <a:solidFill>
                  <a:srgbClr val="F2F6FC"/>
                </a:solidFill>
                <a:latin typeface="Aptos" panose="020B0004020202020204" pitchFamily="34" charset="0"/>
              </a:rPr>
              <a:t>ping -c 4 &lt;vm_spoke2_ip&gt;
traceroute -n &lt;vm_spoke2_ip&gt;
Use the remote private IP,
not the VM resource name.</a:t>
            </a:r>
          </a:p>
        </p:txBody>
      </p:sp>
      <p:sp>
        <p:nvSpPr>
          <p:cNvPr id="13" name="Rectangle 12">
            <a:extLst>
              <a:ext uri="{FF2B5EF4-FFF2-40B4-BE49-F238E27FC236}">
                <a16:creationId xmlns:a16="http://schemas.microsoft.com/office/drawing/2014/main" id="{7BF05E1F-6FA5-FF19-EE78-C22E1B525EFB}"/>
              </a:ext>
            </a:extLst>
          </p:cNvPr>
          <p:cNvSpPr/>
          <p:nvPr/>
        </p:nvSpPr>
        <p:spPr>
          <a:xfrm>
            <a:off x="6223000" y="2324100"/>
            <a:ext cx="5461000" cy="31242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5B77D20-4F8C-CA94-8986-6B7E45280887}"/>
              </a:ext>
            </a:extLst>
          </p:cNvPr>
          <p:cNvSpPr/>
          <p:nvPr/>
        </p:nvSpPr>
        <p:spPr>
          <a:xfrm>
            <a:off x="6223000" y="2324100"/>
            <a:ext cx="50800" cy="3124200"/>
          </a:xfrm>
          <a:prstGeom prst="rect">
            <a:avLst/>
          </a:prstGeom>
          <a:solidFill>
            <a:srgbClr val="328DFF"/>
          </a:solidFill>
          <a:ln>
            <a:solidFill>
              <a:srgbClr val="328D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1DF64FA0-D763-8C65-48FD-34B34B7D1C13}"/>
              </a:ext>
            </a:extLst>
          </p:cNvPr>
          <p:cNvSpPr txBox="1"/>
          <p:nvPr/>
        </p:nvSpPr>
        <p:spPr>
          <a:xfrm>
            <a:off x="6451600" y="2540000"/>
            <a:ext cx="5003800" cy="276999"/>
          </a:xfrm>
          <a:prstGeom prst="rect">
            <a:avLst/>
          </a:prstGeom>
          <a:noFill/>
        </p:spPr>
        <p:txBody>
          <a:bodyPr vert="horz" wrap="square" lIns="0" tIns="0" rIns="0" bIns="0" rtlCol="0">
            <a:noAutofit/>
          </a:bodyPr>
          <a:lstStyle/>
          <a:p>
            <a:pPr>
              <a:spcAft>
                <a:spcPts val="700"/>
              </a:spcAft>
            </a:pPr>
            <a:r>
              <a:rPr lang="en-US" sz="2000" b="1">
                <a:solidFill>
                  <a:srgbClr val="328DFF"/>
                </a:solidFill>
                <a:latin typeface="Aptos" panose="020B0004020202020204" pitchFamily="34" charset="0"/>
              </a:rPr>
              <a:t>FROM SPOKE 2 VM</a:t>
            </a:r>
          </a:p>
        </p:txBody>
      </p:sp>
      <p:sp>
        <p:nvSpPr>
          <p:cNvPr id="16" name="TextBox 15">
            <a:extLst>
              <a:ext uri="{FF2B5EF4-FFF2-40B4-BE49-F238E27FC236}">
                <a16:creationId xmlns:a16="http://schemas.microsoft.com/office/drawing/2014/main" id="{30704D6E-0B46-1093-C29D-EAAFDF5FE8B8}"/>
              </a:ext>
            </a:extLst>
          </p:cNvPr>
          <p:cNvSpPr txBox="1"/>
          <p:nvPr/>
        </p:nvSpPr>
        <p:spPr>
          <a:xfrm>
            <a:off x="6451600" y="3314700"/>
            <a:ext cx="5003800" cy="276999"/>
          </a:xfrm>
          <a:prstGeom prst="rect">
            <a:avLst/>
          </a:prstGeom>
          <a:noFill/>
        </p:spPr>
        <p:txBody>
          <a:bodyPr vert="horz" wrap="square" lIns="0" tIns="0" rIns="0" bIns="0" rtlCol="0">
            <a:noAutofit/>
          </a:bodyPr>
          <a:lstStyle/>
          <a:p>
            <a:pPr>
              <a:spcAft>
                <a:spcPts val="700"/>
              </a:spcAft>
            </a:pPr>
            <a:r>
              <a:rPr lang="en-US" sz="1700">
                <a:solidFill>
                  <a:srgbClr val="F2F6FC"/>
                </a:solidFill>
                <a:latin typeface="Aptos" panose="020B0004020202020204" pitchFamily="34" charset="0"/>
              </a:rPr>
              <a:t>ping -c 4 &lt;vm_spoke1_ip&gt;
traceroute -n &lt;vm_spoke1_ip&gt;
Repeat with a permitted TCP
service if ICMP is restricted.</a:t>
            </a:r>
          </a:p>
        </p:txBody>
      </p:sp>
      <p:sp>
        <p:nvSpPr>
          <p:cNvPr id="17" name="TextBox 16">
            <a:extLst>
              <a:ext uri="{FF2B5EF4-FFF2-40B4-BE49-F238E27FC236}">
                <a16:creationId xmlns:a16="http://schemas.microsoft.com/office/drawing/2014/main" id="{A9188401-CA89-9401-39EE-429B1C50AC62}"/>
              </a:ext>
            </a:extLst>
          </p:cNvPr>
          <p:cNvSpPr txBox="1"/>
          <p:nvPr/>
        </p:nvSpPr>
        <p:spPr>
          <a:xfrm>
            <a:off x="508000" y="5651500"/>
            <a:ext cx="11176000" cy="276999"/>
          </a:xfrm>
          <a:prstGeom prst="rect">
            <a:avLst/>
          </a:prstGeom>
          <a:noFill/>
        </p:spPr>
        <p:txBody>
          <a:bodyPr vert="horz" wrap="square" lIns="0" tIns="0" rIns="0" bIns="0" rtlCol="0">
            <a:noAutofit/>
          </a:bodyPr>
          <a:lstStyle/>
          <a:p>
            <a:pPr>
              <a:spcAft>
                <a:spcPts val="700"/>
              </a:spcAft>
            </a:pPr>
            <a:r>
              <a:rPr lang="en-US" sz="1500" b="1">
                <a:solidFill>
                  <a:srgbClr val="35D4E8"/>
                </a:solidFill>
                <a:latin typeface="Aptos" panose="020B0004020202020204" pitchFamily="34" charset="0"/>
              </a:rPr>
              <a:t>Expected: bidirectional reachability. Traceroute hops may be hidden or incomplete.</a:t>
            </a:r>
          </a:p>
        </p:txBody>
      </p:sp>
    </p:spTree>
    <p:extLst>
      <p:ext uri="{BB962C8B-B14F-4D97-AF65-F5344CB8AC3E}">
        <p14:creationId xmlns:p14="http://schemas.microsoft.com/office/powerpoint/2010/main" val="29214213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C183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CBF9ECC-5F4D-D96B-4985-6F6B475AD549}"/>
              </a:ext>
            </a:extLst>
          </p:cNvPr>
          <p:cNvSpPr/>
          <p:nvPr/>
        </p:nvSpPr>
        <p:spPr>
          <a:xfrm>
            <a:off x="0" y="0"/>
            <a:ext cx="12192000" cy="63500"/>
          </a:xfrm>
          <a:prstGeom prst="rect">
            <a:avLst/>
          </a:prstGeom>
          <a:solidFill>
            <a:srgbClr val="35D4E8"/>
          </a:solidFill>
          <a:ln>
            <a:solidFill>
              <a:srgbClr val="35D4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4B51656-558A-708C-5046-D49B719C467C}"/>
              </a:ext>
            </a:extLst>
          </p:cNvPr>
          <p:cNvSpPr txBox="1"/>
          <p:nvPr/>
        </p:nvSpPr>
        <p:spPr>
          <a:xfrm>
            <a:off x="508000" y="292100"/>
            <a:ext cx="10795000" cy="276999"/>
          </a:xfrm>
          <a:prstGeom prst="rect">
            <a:avLst/>
          </a:prstGeom>
          <a:noFill/>
        </p:spPr>
        <p:txBody>
          <a:bodyPr vert="horz" wrap="square" lIns="0" tIns="0" rIns="0" bIns="0" rtlCol="0">
            <a:noAutofit/>
          </a:bodyPr>
          <a:lstStyle/>
          <a:p>
            <a:pPr>
              <a:spcAft>
                <a:spcPts val="700"/>
              </a:spcAft>
            </a:pPr>
            <a:r>
              <a:rPr lang="en-US" sz="1000" b="1">
                <a:solidFill>
                  <a:srgbClr val="35D4E8"/>
                </a:solidFill>
                <a:latin typeface="Aptos" panose="020B0004020202020204" pitchFamily="34" charset="0"/>
              </a:rPr>
              <a:t>14 / PROVE THE SELECTED ROUTE</a:t>
            </a:r>
          </a:p>
        </p:txBody>
      </p:sp>
      <p:sp>
        <p:nvSpPr>
          <p:cNvPr id="4" name="TextBox 3">
            <a:extLst>
              <a:ext uri="{FF2B5EF4-FFF2-40B4-BE49-F238E27FC236}">
                <a16:creationId xmlns:a16="http://schemas.microsoft.com/office/drawing/2014/main" id="{18CD83DB-8B82-62E7-D0F8-98CEB77D6AA8}"/>
              </a:ext>
            </a:extLst>
          </p:cNvPr>
          <p:cNvSpPr txBox="1"/>
          <p:nvPr/>
        </p:nvSpPr>
        <p:spPr>
          <a:xfrm>
            <a:off x="508000" y="723900"/>
            <a:ext cx="11176000" cy="276999"/>
          </a:xfrm>
          <a:prstGeom prst="rect">
            <a:avLst/>
          </a:prstGeom>
          <a:noFill/>
        </p:spPr>
        <p:txBody>
          <a:bodyPr vert="horz" wrap="square" lIns="0" tIns="0" rIns="0" bIns="0" rtlCol="0">
            <a:noAutofit/>
          </a:bodyPr>
          <a:lstStyle/>
          <a:p>
            <a:pPr>
              <a:spcAft>
                <a:spcPts val="700"/>
              </a:spcAft>
            </a:pPr>
            <a:r>
              <a:rPr lang="en-US" sz="3000" b="1">
                <a:solidFill>
                  <a:srgbClr val="F2F6FC"/>
                </a:solidFill>
                <a:latin typeface="Aptos" panose="020B0004020202020204" pitchFamily="34" charset="0"/>
              </a:rPr>
              <a:t>Inspect effective routes on both NICs</a:t>
            </a:r>
          </a:p>
        </p:txBody>
      </p:sp>
      <p:sp>
        <p:nvSpPr>
          <p:cNvPr id="5" name="TextBox 4">
            <a:extLst>
              <a:ext uri="{FF2B5EF4-FFF2-40B4-BE49-F238E27FC236}">
                <a16:creationId xmlns:a16="http://schemas.microsoft.com/office/drawing/2014/main" id="{B188D0B7-95A7-86E4-5F10-96DB59D3798B}"/>
              </a:ext>
            </a:extLst>
          </p:cNvPr>
          <p:cNvSpPr txBox="1"/>
          <p:nvPr/>
        </p:nvSpPr>
        <p:spPr>
          <a:xfrm>
            <a:off x="508000" y="1562100"/>
            <a:ext cx="11176000" cy="276999"/>
          </a:xfrm>
          <a:prstGeom prst="rect">
            <a:avLst/>
          </a:prstGeom>
          <a:noFill/>
        </p:spPr>
        <p:txBody>
          <a:bodyPr vert="horz" wrap="square" lIns="0" tIns="0" rIns="0" bIns="0" rtlCol="0">
            <a:noAutofit/>
          </a:bodyPr>
          <a:lstStyle/>
          <a:p>
            <a:pPr>
              <a:spcAft>
                <a:spcPts val="700"/>
              </a:spcAft>
            </a:pPr>
            <a:r>
              <a:rPr lang="en-US" sz="1400">
                <a:solidFill>
                  <a:srgbClr val="B6C5D9"/>
                </a:solidFill>
                <a:latin typeface="Aptos" panose="020B0004020202020204" pitchFamily="34" charset="0"/>
              </a:rPr>
              <a:t>Run from your authenticated workstation; compare the next hop with routing_appliance_ip.</a:t>
            </a:r>
          </a:p>
        </p:txBody>
      </p:sp>
      <p:sp>
        <p:nvSpPr>
          <p:cNvPr id="6" name="Rectangle 5">
            <a:extLst>
              <a:ext uri="{FF2B5EF4-FFF2-40B4-BE49-F238E27FC236}">
                <a16:creationId xmlns:a16="http://schemas.microsoft.com/office/drawing/2014/main" id="{87D16E1E-46FF-43D2-0E8C-CBFEB2091782}"/>
              </a:ext>
            </a:extLst>
          </p:cNvPr>
          <p:cNvSpPr/>
          <p:nvPr/>
        </p:nvSpPr>
        <p:spPr>
          <a:xfrm>
            <a:off x="508000" y="6413500"/>
            <a:ext cx="11176000" cy="12700"/>
          </a:xfrm>
          <a:prstGeom prst="rect">
            <a:avLst/>
          </a:prstGeom>
          <a:solidFill>
            <a:srgbClr val="31415B"/>
          </a:solidFill>
          <a:ln>
            <a:solidFill>
              <a:srgbClr val="3141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477067E-CD6C-F88A-54B0-1C5570CA0A41}"/>
              </a:ext>
            </a:extLst>
          </p:cNvPr>
          <p:cNvSpPr txBox="1"/>
          <p:nvPr/>
        </p:nvSpPr>
        <p:spPr>
          <a:xfrm>
            <a:off x="508000" y="6553200"/>
            <a:ext cx="8890000" cy="276999"/>
          </a:xfrm>
          <a:prstGeom prst="rect">
            <a:avLst/>
          </a:prstGeom>
          <a:noFill/>
        </p:spPr>
        <p:txBody>
          <a:bodyPr vert="horz" wrap="square" lIns="0" tIns="0" rIns="0" bIns="0" rtlCol="0">
            <a:noAutofit/>
          </a:bodyPr>
          <a:lstStyle/>
          <a:p>
            <a:pPr>
              <a:spcAft>
                <a:spcPts val="700"/>
              </a:spcAft>
            </a:pPr>
            <a:r>
              <a:rPr lang="en-US" sz="900">
                <a:solidFill>
                  <a:srgbClr val="B6C5D9"/>
                </a:solidFill>
                <a:latin typeface="Aptos" panose="020B0004020202020204" pitchFamily="34" charset="0"/>
              </a:rPr>
              <a:t>AZURE NETWORK COURSE  /  LAB 240</a:t>
            </a:r>
          </a:p>
        </p:txBody>
      </p:sp>
      <p:sp>
        <p:nvSpPr>
          <p:cNvPr id="8" name="TextBox 7">
            <a:extLst>
              <a:ext uri="{FF2B5EF4-FFF2-40B4-BE49-F238E27FC236}">
                <a16:creationId xmlns:a16="http://schemas.microsoft.com/office/drawing/2014/main" id="{E3B8F37B-C18F-A8DE-3282-6C3B5C7FC911}"/>
              </a:ext>
            </a:extLst>
          </p:cNvPr>
          <p:cNvSpPr txBox="1"/>
          <p:nvPr/>
        </p:nvSpPr>
        <p:spPr>
          <a:xfrm>
            <a:off x="11214100" y="6527800"/>
            <a:ext cx="469900" cy="276999"/>
          </a:xfrm>
          <a:prstGeom prst="rect">
            <a:avLst/>
          </a:prstGeom>
          <a:noFill/>
        </p:spPr>
        <p:txBody>
          <a:bodyPr vert="horz" wrap="square" lIns="0" tIns="0" rIns="0" bIns="0" rtlCol="0">
            <a:noAutofit/>
          </a:bodyPr>
          <a:lstStyle/>
          <a:p>
            <a:pPr>
              <a:spcAft>
                <a:spcPts val="700"/>
              </a:spcAft>
            </a:pPr>
            <a:r>
              <a:rPr lang="en-US" sz="1100" b="1">
                <a:solidFill>
                  <a:srgbClr val="35D4E8"/>
                </a:solidFill>
                <a:latin typeface="Aptos" panose="020B0004020202020204" pitchFamily="34" charset="0"/>
              </a:rPr>
              <a:t>15</a:t>
            </a:r>
          </a:p>
        </p:txBody>
      </p:sp>
      <p:sp>
        <p:nvSpPr>
          <p:cNvPr id="9" name="Rectangle 8">
            <a:extLst>
              <a:ext uri="{FF2B5EF4-FFF2-40B4-BE49-F238E27FC236}">
                <a16:creationId xmlns:a16="http://schemas.microsoft.com/office/drawing/2014/main" id="{B852ABB8-8D67-DA57-49C8-716A0163C468}"/>
              </a:ext>
            </a:extLst>
          </p:cNvPr>
          <p:cNvSpPr/>
          <p:nvPr/>
        </p:nvSpPr>
        <p:spPr>
          <a:xfrm>
            <a:off x="508000" y="2273300"/>
            <a:ext cx="11176000" cy="2857500"/>
          </a:xfrm>
          <a:prstGeom prst="rect">
            <a:avLst/>
          </a:prstGeom>
          <a:solidFill>
            <a:srgbClr val="081324"/>
          </a:solidFill>
          <a:ln>
            <a:solidFill>
              <a:srgbClr val="0813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36BC46C-1162-0B21-068B-4C41350E20D5}"/>
              </a:ext>
            </a:extLst>
          </p:cNvPr>
          <p:cNvSpPr txBox="1"/>
          <p:nvPr/>
        </p:nvSpPr>
        <p:spPr>
          <a:xfrm>
            <a:off x="736600" y="2463800"/>
            <a:ext cx="10718800" cy="276999"/>
          </a:xfrm>
          <a:prstGeom prst="rect">
            <a:avLst/>
          </a:prstGeom>
          <a:noFill/>
        </p:spPr>
        <p:txBody>
          <a:bodyPr vert="horz" wrap="square" lIns="0" tIns="0" rIns="0" bIns="0" rtlCol="0">
            <a:noAutofit/>
          </a:bodyPr>
          <a:lstStyle/>
          <a:p>
            <a:pPr>
              <a:spcAft>
                <a:spcPts val="700"/>
              </a:spcAft>
            </a:pPr>
            <a:r>
              <a:rPr lang="en-US">
                <a:solidFill>
                  <a:srgbClr val="F2F6FC"/>
                </a:solidFill>
                <a:latin typeface="Consolas" panose="020B0609020204030204" pitchFamily="49" charset="0"/>
              </a:rPr>
              <a:t>az network nic show-effective-route-table `</a:t>
            </a:r>
          </a:p>
          <a:p>
            <a:pPr>
              <a:spcAft>
                <a:spcPts val="700"/>
              </a:spcAft>
            </a:pPr>
            <a:r>
              <a:rPr lang="en-US">
                <a:solidFill>
                  <a:srgbClr val="F2F6FC"/>
                </a:solidFill>
                <a:latin typeface="Consolas" panose="020B0609020204030204" pitchFamily="49" charset="0"/>
              </a:rPr>
              <a:t>  --resource-group rg-spoke1-240 `</a:t>
            </a:r>
          </a:p>
          <a:p>
            <a:pPr>
              <a:spcAft>
                <a:spcPts val="700"/>
              </a:spcAft>
            </a:pPr>
            <a:r>
              <a:rPr lang="en-US">
                <a:solidFill>
                  <a:srgbClr val="F2F6FC"/>
                </a:solidFill>
                <a:latin typeface="Consolas" panose="020B0609020204030204" pitchFamily="49" charset="0"/>
              </a:rPr>
              <a:t>  --name nic-vm-spoke1 --output table</a:t>
            </a:r>
          </a:p>
          <a:p>
            <a:pPr>
              <a:spcAft>
                <a:spcPts val="700"/>
              </a:spcAft>
            </a:pPr>
            <a:endParaRPr lang="en-US">
              <a:solidFill>
                <a:srgbClr val="F2F6FC"/>
              </a:solidFill>
              <a:latin typeface="Consolas" panose="020B0609020204030204" pitchFamily="49" charset="0"/>
            </a:endParaRPr>
          </a:p>
          <a:p>
            <a:pPr>
              <a:spcAft>
                <a:spcPts val="700"/>
              </a:spcAft>
            </a:pPr>
            <a:r>
              <a:rPr lang="en-US">
                <a:solidFill>
                  <a:srgbClr val="F2F6FC"/>
                </a:solidFill>
                <a:latin typeface="Consolas" panose="020B0609020204030204" pitchFamily="49" charset="0"/>
              </a:rPr>
              <a:t>az network nic show-effective-route-table `</a:t>
            </a:r>
          </a:p>
          <a:p>
            <a:pPr>
              <a:spcAft>
                <a:spcPts val="700"/>
              </a:spcAft>
            </a:pPr>
            <a:r>
              <a:rPr lang="en-US">
                <a:solidFill>
                  <a:srgbClr val="F2F6FC"/>
                </a:solidFill>
                <a:latin typeface="Consolas" panose="020B0609020204030204" pitchFamily="49" charset="0"/>
              </a:rPr>
              <a:t>  --resource-group rg-spoke2-240 `</a:t>
            </a:r>
          </a:p>
          <a:p>
            <a:pPr>
              <a:spcAft>
                <a:spcPts val="700"/>
              </a:spcAft>
            </a:pPr>
            <a:r>
              <a:rPr lang="en-US">
                <a:solidFill>
                  <a:srgbClr val="F2F6FC"/>
                </a:solidFill>
                <a:latin typeface="Consolas" panose="020B0609020204030204" pitchFamily="49" charset="0"/>
              </a:rPr>
              <a:t>  --name nic-vm-spoke2 --output table</a:t>
            </a:r>
          </a:p>
        </p:txBody>
      </p:sp>
      <p:sp>
        <p:nvSpPr>
          <p:cNvPr id="11" name="TextBox 10">
            <a:extLst>
              <a:ext uri="{FF2B5EF4-FFF2-40B4-BE49-F238E27FC236}">
                <a16:creationId xmlns:a16="http://schemas.microsoft.com/office/drawing/2014/main" id="{2A61A214-84C9-3AD5-DD8E-5FF8F39A7BCE}"/>
              </a:ext>
            </a:extLst>
          </p:cNvPr>
          <p:cNvSpPr txBox="1"/>
          <p:nvPr/>
        </p:nvSpPr>
        <p:spPr>
          <a:xfrm>
            <a:off x="508000" y="5359400"/>
            <a:ext cx="11176000" cy="276999"/>
          </a:xfrm>
          <a:prstGeom prst="rect">
            <a:avLst/>
          </a:prstGeom>
          <a:noFill/>
        </p:spPr>
        <p:txBody>
          <a:bodyPr vert="horz" wrap="square" lIns="0" tIns="0" rIns="0" bIns="0" rtlCol="0">
            <a:noAutofit/>
          </a:bodyPr>
          <a:lstStyle/>
          <a:p>
            <a:pPr>
              <a:spcAft>
                <a:spcPts val="700"/>
              </a:spcAft>
            </a:pPr>
            <a:r>
              <a:rPr lang="en-US" sz="1500" b="1">
                <a:solidFill>
                  <a:srgbClr val="35D4E8"/>
                </a:solidFill>
                <a:latin typeface="Aptos" panose="020B0004020202020204" pitchFamily="34" charset="0"/>
              </a:rPr>
              <a:t>Look for active 10.0.0.0/8 -&gt; VirtualAppliance -&gt; exported appliance IP.
Confirm no more-specific route overrides it for the remote VM.</a:t>
            </a:r>
          </a:p>
        </p:txBody>
      </p:sp>
    </p:spTree>
    <p:extLst>
      <p:ext uri="{BB962C8B-B14F-4D97-AF65-F5344CB8AC3E}">
        <p14:creationId xmlns:p14="http://schemas.microsoft.com/office/powerpoint/2010/main" val="1025936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C183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38991AE-5355-FC9A-6706-540C7357BA73}"/>
              </a:ext>
            </a:extLst>
          </p:cNvPr>
          <p:cNvSpPr/>
          <p:nvPr/>
        </p:nvSpPr>
        <p:spPr>
          <a:xfrm>
            <a:off x="0" y="0"/>
            <a:ext cx="12192000" cy="63500"/>
          </a:xfrm>
          <a:prstGeom prst="rect">
            <a:avLst/>
          </a:prstGeom>
          <a:solidFill>
            <a:srgbClr val="35D4E8"/>
          </a:solidFill>
          <a:ln>
            <a:solidFill>
              <a:srgbClr val="35D4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BDBFC9C-06DD-FFAA-37BC-5994E76A9E17}"/>
              </a:ext>
            </a:extLst>
          </p:cNvPr>
          <p:cNvSpPr txBox="1"/>
          <p:nvPr/>
        </p:nvSpPr>
        <p:spPr>
          <a:xfrm>
            <a:off x="508000" y="292100"/>
            <a:ext cx="10795000" cy="276999"/>
          </a:xfrm>
          <a:prstGeom prst="rect">
            <a:avLst/>
          </a:prstGeom>
          <a:noFill/>
        </p:spPr>
        <p:txBody>
          <a:bodyPr vert="horz" wrap="square" lIns="0" tIns="0" rIns="0" bIns="0" rtlCol="0">
            <a:noAutofit/>
          </a:bodyPr>
          <a:lstStyle/>
          <a:p>
            <a:pPr>
              <a:spcAft>
                <a:spcPts val="700"/>
              </a:spcAft>
            </a:pPr>
            <a:r>
              <a:rPr lang="en-US" sz="1000" b="1">
                <a:solidFill>
                  <a:srgbClr val="35D4E8"/>
                </a:solidFill>
                <a:latin typeface="Aptos" panose="020B0004020202020204" pitchFamily="34" charset="0"/>
              </a:rPr>
              <a:t>15 / TROUBLESHOOTING</a:t>
            </a:r>
          </a:p>
        </p:txBody>
      </p:sp>
      <p:sp>
        <p:nvSpPr>
          <p:cNvPr id="4" name="TextBox 3">
            <a:extLst>
              <a:ext uri="{FF2B5EF4-FFF2-40B4-BE49-F238E27FC236}">
                <a16:creationId xmlns:a16="http://schemas.microsoft.com/office/drawing/2014/main" id="{3BA419A0-BA0A-61A6-D7DA-C8F94E7A8A14}"/>
              </a:ext>
            </a:extLst>
          </p:cNvPr>
          <p:cNvSpPr txBox="1"/>
          <p:nvPr/>
        </p:nvSpPr>
        <p:spPr>
          <a:xfrm>
            <a:off x="508000" y="723900"/>
            <a:ext cx="11176000" cy="276999"/>
          </a:xfrm>
          <a:prstGeom prst="rect">
            <a:avLst/>
          </a:prstGeom>
          <a:noFill/>
        </p:spPr>
        <p:txBody>
          <a:bodyPr vert="horz" wrap="square" lIns="0" tIns="0" rIns="0" bIns="0" rtlCol="0">
            <a:noAutofit/>
          </a:bodyPr>
          <a:lstStyle/>
          <a:p>
            <a:pPr>
              <a:spcAft>
                <a:spcPts val="700"/>
              </a:spcAft>
            </a:pPr>
            <a:r>
              <a:rPr lang="en-US" sz="3000" b="1">
                <a:solidFill>
                  <a:srgbClr val="F2F6FC"/>
                </a:solidFill>
                <a:latin typeface="Aptos" panose="020B0004020202020204" pitchFamily="34" charset="0"/>
              </a:rPr>
              <a:t>Diagnose the path, not just the symptom</a:t>
            </a:r>
          </a:p>
        </p:txBody>
      </p:sp>
      <p:sp>
        <p:nvSpPr>
          <p:cNvPr id="5" name="Rectangle 4">
            <a:extLst>
              <a:ext uri="{FF2B5EF4-FFF2-40B4-BE49-F238E27FC236}">
                <a16:creationId xmlns:a16="http://schemas.microsoft.com/office/drawing/2014/main" id="{13F7106C-C538-E737-F1EA-C558330AA188}"/>
              </a:ext>
            </a:extLst>
          </p:cNvPr>
          <p:cNvSpPr/>
          <p:nvPr/>
        </p:nvSpPr>
        <p:spPr>
          <a:xfrm>
            <a:off x="508000" y="6413500"/>
            <a:ext cx="11176000" cy="12700"/>
          </a:xfrm>
          <a:prstGeom prst="rect">
            <a:avLst/>
          </a:prstGeom>
          <a:solidFill>
            <a:srgbClr val="31415B"/>
          </a:solidFill>
          <a:ln>
            <a:solidFill>
              <a:srgbClr val="3141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361E993-049F-FF90-8940-EA24FC70231D}"/>
              </a:ext>
            </a:extLst>
          </p:cNvPr>
          <p:cNvSpPr txBox="1"/>
          <p:nvPr/>
        </p:nvSpPr>
        <p:spPr>
          <a:xfrm>
            <a:off x="508000" y="6553200"/>
            <a:ext cx="8890000" cy="276999"/>
          </a:xfrm>
          <a:prstGeom prst="rect">
            <a:avLst/>
          </a:prstGeom>
          <a:noFill/>
        </p:spPr>
        <p:txBody>
          <a:bodyPr vert="horz" wrap="square" lIns="0" tIns="0" rIns="0" bIns="0" rtlCol="0">
            <a:noAutofit/>
          </a:bodyPr>
          <a:lstStyle/>
          <a:p>
            <a:pPr>
              <a:spcAft>
                <a:spcPts val="700"/>
              </a:spcAft>
            </a:pPr>
            <a:r>
              <a:rPr lang="en-US" sz="900">
                <a:solidFill>
                  <a:srgbClr val="B6C5D9"/>
                </a:solidFill>
                <a:latin typeface="Aptos" panose="020B0004020202020204" pitchFamily="34" charset="0"/>
              </a:rPr>
              <a:t>AZURE NETWORK COURSE  /  LAB 240</a:t>
            </a:r>
          </a:p>
        </p:txBody>
      </p:sp>
      <p:sp>
        <p:nvSpPr>
          <p:cNvPr id="7" name="TextBox 6">
            <a:extLst>
              <a:ext uri="{FF2B5EF4-FFF2-40B4-BE49-F238E27FC236}">
                <a16:creationId xmlns:a16="http://schemas.microsoft.com/office/drawing/2014/main" id="{BCCE3CB4-A452-D82A-6ACB-098AEFD34337}"/>
              </a:ext>
            </a:extLst>
          </p:cNvPr>
          <p:cNvSpPr txBox="1"/>
          <p:nvPr/>
        </p:nvSpPr>
        <p:spPr>
          <a:xfrm>
            <a:off x="11214100" y="6527800"/>
            <a:ext cx="469900" cy="276999"/>
          </a:xfrm>
          <a:prstGeom prst="rect">
            <a:avLst/>
          </a:prstGeom>
          <a:noFill/>
        </p:spPr>
        <p:txBody>
          <a:bodyPr vert="horz" wrap="square" lIns="0" tIns="0" rIns="0" bIns="0" rtlCol="0">
            <a:noAutofit/>
          </a:bodyPr>
          <a:lstStyle/>
          <a:p>
            <a:pPr>
              <a:spcAft>
                <a:spcPts val="700"/>
              </a:spcAft>
            </a:pPr>
            <a:r>
              <a:rPr lang="en-US" sz="1100" b="1">
                <a:solidFill>
                  <a:srgbClr val="35D4E8"/>
                </a:solidFill>
                <a:latin typeface="Aptos" panose="020B0004020202020204" pitchFamily="34" charset="0"/>
              </a:rPr>
              <a:t>16</a:t>
            </a:r>
          </a:p>
        </p:txBody>
      </p:sp>
      <p:sp>
        <p:nvSpPr>
          <p:cNvPr id="8" name="Rectangle 7">
            <a:extLst>
              <a:ext uri="{FF2B5EF4-FFF2-40B4-BE49-F238E27FC236}">
                <a16:creationId xmlns:a16="http://schemas.microsoft.com/office/drawing/2014/main" id="{B8135585-CE5B-1AC7-F746-08DF064B4EBC}"/>
              </a:ext>
            </a:extLst>
          </p:cNvPr>
          <p:cNvSpPr/>
          <p:nvPr/>
        </p:nvSpPr>
        <p:spPr>
          <a:xfrm>
            <a:off x="508000" y="2235200"/>
            <a:ext cx="3365500" cy="596900"/>
          </a:xfrm>
          <a:prstGeom prst="rect">
            <a:avLst/>
          </a:prstGeom>
          <a:solidFill>
            <a:srgbClr val="234569"/>
          </a:solidFill>
          <a:ln>
            <a:solidFill>
              <a:srgbClr val="23456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1234AEE-C911-F23F-F074-E1E60A407646}"/>
              </a:ext>
            </a:extLst>
          </p:cNvPr>
          <p:cNvSpPr txBox="1"/>
          <p:nvPr/>
        </p:nvSpPr>
        <p:spPr>
          <a:xfrm>
            <a:off x="635000" y="2349500"/>
            <a:ext cx="3111500" cy="276999"/>
          </a:xfrm>
          <a:prstGeom prst="rect">
            <a:avLst/>
          </a:prstGeom>
          <a:noFill/>
        </p:spPr>
        <p:txBody>
          <a:bodyPr vert="horz" wrap="square" lIns="0" tIns="0" rIns="0" bIns="0" rtlCol="0">
            <a:noAutofit/>
          </a:bodyPr>
          <a:lstStyle/>
          <a:p>
            <a:pPr>
              <a:spcAft>
                <a:spcPts val="700"/>
              </a:spcAft>
            </a:pPr>
            <a:r>
              <a:rPr lang="en-US" sz="1500" b="1">
                <a:solidFill>
                  <a:srgbClr val="F2F6FC"/>
                </a:solidFill>
                <a:latin typeface="Aptos" panose="020B0004020202020204" pitchFamily="34" charset="0"/>
              </a:rPr>
              <a:t>Symptom</a:t>
            </a:r>
          </a:p>
        </p:txBody>
      </p:sp>
      <p:sp>
        <p:nvSpPr>
          <p:cNvPr id="10" name="Rectangle 9">
            <a:extLst>
              <a:ext uri="{FF2B5EF4-FFF2-40B4-BE49-F238E27FC236}">
                <a16:creationId xmlns:a16="http://schemas.microsoft.com/office/drawing/2014/main" id="{4EAF8C6D-0D4B-CA59-DF75-11F33633B7CB}"/>
              </a:ext>
            </a:extLst>
          </p:cNvPr>
          <p:cNvSpPr/>
          <p:nvPr/>
        </p:nvSpPr>
        <p:spPr>
          <a:xfrm>
            <a:off x="3873500" y="2235200"/>
            <a:ext cx="4635500" cy="596900"/>
          </a:xfrm>
          <a:prstGeom prst="rect">
            <a:avLst/>
          </a:prstGeom>
          <a:solidFill>
            <a:srgbClr val="234569"/>
          </a:solidFill>
          <a:ln>
            <a:solidFill>
              <a:srgbClr val="23456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7ADF104-C992-8BC4-1C4D-05054A5053DC}"/>
              </a:ext>
            </a:extLst>
          </p:cNvPr>
          <p:cNvSpPr txBox="1"/>
          <p:nvPr/>
        </p:nvSpPr>
        <p:spPr>
          <a:xfrm>
            <a:off x="4000500" y="2349500"/>
            <a:ext cx="4381500" cy="276999"/>
          </a:xfrm>
          <a:prstGeom prst="rect">
            <a:avLst/>
          </a:prstGeom>
          <a:noFill/>
        </p:spPr>
        <p:txBody>
          <a:bodyPr vert="horz" wrap="square" lIns="0" tIns="0" rIns="0" bIns="0" rtlCol="0">
            <a:noAutofit/>
          </a:bodyPr>
          <a:lstStyle/>
          <a:p>
            <a:pPr>
              <a:spcAft>
                <a:spcPts val="700"/>
              </a:spcAft>
            </a:pPr>
            <a:r>
              <a:rPr lang="en-US" sz="1500" b="1">
                <a:solidFill>
                  <a:srgbClr val="F2F6FC"/>
                </a:solidFill>
                <a:latin typeface="Aptos" panose="020B0004020202020204" pitchFamily="34" charset="0"/>
              </a:rPr>
              <a:t>Check first</a:t>
            </a:r>
          </a:p>
        </p:txBody>
      </p:sp>
      <p:sp>
        <p:nvSpPr>
          <p:cNvPr id="12" name="Rectangle 11">
            <a:extLst>
              <a:ext uri="{FF2B5EF4-FFF2-40B4-BE49-F238E27FC236}">
                <a16:creationId xmlns:a16="http://schemas.microsoft.com/office/drawing/2014/main" id="{4B881786-2C7B-B41D-EFCD-CD24F23C59AF}"/>
              </a:ext>
            </a:extLst>
          </p:cNvPr>
          <p:cNvSpPr/>
          <p:nvPr/>
        </p:nvSpPr>
        <p:spPr>
          <a:xfrm>
            <a:off x="8509000" y="2235200"/>
            <a:ext cx="3175000" cy="596900"/>
          </a:xfrm>
          <a:prstGeom prst="rect">
            <a:avLst/>
          </a:prstGeom>
          <a:solidFill>
            <a:srgbClr val="234569"/>
          </a:solidFill>
          <a:ln>
            <a:solidFill>
              <a:srgbClr val="23456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B3E31D8F-4FE9-F4F2-A4EA-DBB32A7D4929}"/>
              </a:ext>
            </a:extLst>
          </p:cNvPr>
          <p:cNvSpPr txBox="1"/>
          <p:nvPr/>
        </p:nvSpPr>
        <p:spPr>
          <a:xfrm>
            <a:off x="8636000" y="2349500"/>
            <a:ext cx="2921000" cy="276999"/>
          </a:xfrm>
          <a:prstGeom prst="rect">
            <a:avLst/>
          </a:prstGeom>
          <a:noFill/>
        </p:spPr>
        <p:txBody>
          <a:bodyPr vert="horz" wrap="square" lIns="0" tIns="0" rIns="0" bIns="0" rtlCol="0">
            <a:noAutofit/>
          </a:bodyPr>
          <a:lstStyle/>
          <a:p>
            <a:pPr>
              <a:spcAft>
                <a:spcPts val="700"/>
              </a:spcAft>
            </a:pPr>
            <a:r>
              <a:rPr lang="en-US" sz="1500" b="1">
                <a:solidFill>
                  <a:srgbClr val="F2F6FC"/>
                </a:solidFill>
                <a:latin typeface="Aptos" panose="020B0004020202020204" pitchFamily="34" charset="0"/>
              </a:rPr>
              <a:t>Next evidence</a:t>
            </a:r>
          </a:p>
        </p:txBody>
      </p:sp>
      <p:sp>
        <p:nvSpPr>
          <p:cNvPr id="14" name="Rectangle 13">
            <a:extLst>
              <a:ext uri="{FF2B5EF4-FFF2-40B4-BE49-F238E27FC236}">
                <a16:creationId xmlns:a16="http://schemas.microsoft.com/office/drawing/2014/main" id="{97378DAB-BF60-01CE-5390-A351E64A5B15}"/>
              </a:ext>
            </a:extLst>
          </p:cNvPr>
          <p:cNvSpPr/>
          <p:nvPr/>
        </p:nvSpPr>
        <p:spPr>
          <a:xfrm>
            <a:off x="508000" y="2857500"/>
            <a:ext cx="3365500" cy="5969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1FE9B6C-06DD-8D45-957B-2077F217BF69}"/>
              </a:ext>
            </a:extLst>
          </p:cNvPr>
          <p:cNvSpPr txBox="1"/>
          <p:nvPr/>
        </p:nvSpPr>
        <p:spPr>
          <a:xfrm>
            <a:off x="635000" y="2971800"/>
            <a:ext cx="3111500" cy="276999"/>
          </a:xfrm>
          <a:prstGeom prst="rect">
            <a:avLst/>
          </a:prstGeom>
          <a:noFill/>
        </p:spPr>
        <p:txBody>
          <a:bodyPr vert="horz" wrap="square" lIns="0" tIns="0" rIns="0" bIns="0" rtlCol="0">
            <a:noAutofit/>
          </a:bodyPr>
          <a:lstStyle/>
          <a:p>
            <a:pPr>
              <a:spcAft>
                <a:spcPts val="700"/>
              </a:spcAft>
            </a:pPr>
            <a:r>
              <a:rPr lang="en-US" sz="1500">
                <a:solidFill>
                  <a:srgbClr val="F2F6FC"/>
                </a:solidFill>
                <a:latin typeface="Aptos" panose="020B0004020202020204" pitchFamily="34" charset="0"/>
              </a:rPr>
              <a:t>Apply rejects appliance</a:t>
            </a:r>
          </a:p>
        </p:txBody>
      </p:sp>
      <p:sp>
        <p:nvSpPr>
          <p:cNvPr id="16" name="Rectangle 15">
            <a:extLst>
              <a:ext uri="{FF2B5EF4-FFF2-40B4-BE49-F238E27FC236}">
                <a16:creationId xmlns:a16="http://schemas.microsoft.com/office/drawing/2014/main" id="{37F25360-0784-7777-946E-B9CE8EC5B7E7}"/>
              </a:ext>
            </a:extLst>
          </p:cNvPr>
          <p:cNvSpPr/>
          <p:nvPr/>
        </p:nvSpPr>
        <p:spPr>
          <a:xfrm>
            <a:off x="3873500" y="2857500"/>
            <a:ext cx="4635500" cy="5969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28348642-F18E-302E-869E-52CDCF778B3F}"/>
              </a:ext>
            </a:extLst>
          </p:cNvPr>
          <p:cNvSpPr txBox="1"/>
          <p:nvPr/>
        </p:nvSpPr>
        <p:spPr>
          <a:xfrm>
            <a:off x="4000500" y="2971800"/>
            <a:ext cx="4381500" cy="276999"/>
          </a:xfrm>
          <a:prstGeom prst="rect">
            <a:avLst/>
          </a:prstGeom>
          <a:noFill/>
        </p:spPr>
        <p:txBody>
          <a:bodyPr vert="horz" wrap="square" lIns="0" tIns="0" rIns="0" bIns="0" rtlCol="0">
            <a:noAutofit/>
          </a:bodyPr>
          <a:lstStyle/>
          <a:p>
            <a:pPr>
              <a:spcAft>
                <a:spcPts val="700"/>
              </a:spcAft>
            </a:pPr>
            <a:r>
              <a:rPr lang="en-US" sz="1500">
                <a:solidFill>
                  <a:srgbClr val="F2F6FC"/>
                </a:solidFill>
                <a:latin typeface="Aptos" panose="020B0004020202020204" pitchFamily="34" charset="0"/>
              </a:rPr>
              <a:t>API version, region, capacity, permissions</a:t>
            </a:r>
          </a:p>
        </p:txBody>
      </p:sp>
      <p:sp>
        <p:nvSpPr>
          <p:cNvPr id="18" name="Rectangle 17">
            <a:extLst>
              <a:ext uri="{FF2B5EF4-FFF2-40B4-BE49-F238E27FC236}">
                <a16:creationId xmlns:a16="http://schemas.microsoft.com/office/drawing/2014/main" id="{FB0A890A-B8F9-B1D4-62B0-F7455D48A1A6}"/>
              </a:ext>
            </a:extLst>
          </p:cNvPr>
          <p:cNvSpPr/>
          <p:nvPr/>
        </p:nvSpPr>
        <p:spPr>
          <a:xfrm>
            <a:off x="8509000" y="2857500"/>
            <a:ext cx="3175000" cy="5969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18B422EE-66AC-07D4-5189-1A1675B36D1A}"/>
              </a:ext>
            </a:extLst>
          </p:cNvPr>
          <p:cNvSpPr txBox="1"/>
          <p:nvPr/>
        </p:nvSpPr>
        <p:spPr>
          <a:xfrm>
            <a:off x="8636000" y="2971800"/>
            <a:ext cx="2921000" cy="276999"/>
          </a:xfrm>
          <a:prstGeom prst="rect">
            <a:avLst/>
          </a:prstGeom>
          <a:noFill/>
        </p:spPr>
        <p:txBody>
          <a:bodyPr vert="horz" wrap="square" lIns="0" tIns="0" rIns="0" bIns="0" rtlCol="0">
            <a:noAutofit/>
          </a:bodyPr>
          <a:lstStyle/>
          <a:p>
            <a:pPr>
              <a:spcAft>
                <a:spcPts val="700"/>
              </a:spcAft>
            </a:pPr>
            <a:r>
              <a:rPr lang="en-US" sz="1500">
                <a:solidFill>
                  <a:srgbClr val="F2F6FC"/>
                </a:solidFill>
                <a:latin typeface="Aptos" panose="020B0004020202020204" pitchFamily="34" charset="0"/>
              </a:rPr>
              <a:t>Azure deployment error details</a:t>
            </a:r>
          </a:p>
        </p:txBody>
      </p:sp>
      <p:sp>
        <p:nvSpPr>
          <p:cNvPr id="20" name="Rectangle 19">
            <a:extLst>
              <a:ext uri="{FF2B5EF4-FFF2-40B4-BE49-F238E27FC236}">
                <a16:creationId xmlns:a16="http://schemas.microsoft.com/office/drawing/2014/main" id="{54B01F7C-3764-ADE2-D537-A62F7BC5BABB}"/>
              </a:ext>
            </a:extLst>
          </p:cNvPr>
          <p:cNvSpPr/>
          <p:nvPr/>
        </p:nvSpPr>
        <p:spPr>
          <a:xfrm>
            <a:off x="508000" y="3479800"/>
            <a:ext cx="3365500" cy="596900"/>
          </a:xfrm>
          <a:prstGeom prst="rect">
            <a:avLst/>
          </a:prstGeom>
          <a:solidFill>
            <a:srgbClr val="192E4A"/>
          </a:solidFill>
          <a:ln>
            <a:solidFill>
              <a:srgbClr val="192E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8E6B577-4D0A-04CF-F472-F9EB7BA26B9C}"/>
              </a:ext>
            </a:extLst>
          </p:cNvPr>
          <p:cNvSpPr txBox="1"/>
          <p:nvPr/>
        </p:nvSpPr>
        <p:spPr>
          <a:xfrm>
            <a:off x="635000" y="3594100"/>
            <a:ext cx="3111500" cy="276999"/>
          </a:xfrm>
          <a:prstGeom prst="rect">
            <a:avLst/>
          </a:prstGeom>
          <a:noFill/>
        </p:spPr>
        <p:txBody>
          <a:bodyPr vert="horz" wrap="square" lIns="0" tIns="0" rIns="0" bIns="0" rtlCol="0">
            <a:noAutofit/>
          </a:bodyPr>
          <a:lstStyle/>
          <a:p>
            <a:pPr>
              <a:spcAft>
                <a:spcPts val="700"/>
              </a:spcAft>
            </a:pPr>
            <a:r>
              <a:rPr lang="en-US" sz="1500">
                <a:solidFill>
                  <a:srgbClr val="F2F6FC"/>
                </a:solidFill>
                <a:latin typeface="Aptos" panose="020B0004020202020204" pitchFamily="34" charset="0"/>
              </a:rPr>
              <a:t>Bastion cannot deploy / connect</a:t>
            </a:r>
          </a:p>
        </p:txBody>
      </p:sp>
      <p:sp>
        <p:nvSpPr>
          <p:cNvPr id="22" name="Rectangle 21">
            <a:extLst>
              <a:ext uri="{FF2B5EF4-FFF2-40B4-BE49-F238E27FC236}">
                <a16:creationId xmlns:a16="http://schemas.microsoft.com/office/drawing/2014/main" id="{002079A4-895F-6E79-985E-8CCF880F0DA5}"/>
              </a:ext>
            </a:extLst>
          </p:cNvPr>
          <p:cNvSpPr/>
          <p:nvPr/>
        </p:nvSpPr>
        <p:spPr>
          <a:xfrm>
            <a:off x="3873500" y="3479800"/>
            <a:ext cx="4635500" cy="596900"/>
          </a:xfrm>
          <a:prstGeom prst="rect">
            <a:avLst/>
          </a:prstGeom>
          <a:solidFill>
            <a:srgbClr val="192E4A"/>
          </a:solidFill>
          <a:ln>
            <a:solidFill>
              <a:srgbClr val="192E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BC6B83AD-5A2B-8589-E022-B01FFC10736A}"/>
              </a:ext>
            </a:extLst>
          </p:cNvPr>
          <p:cNvSpPr txBox="1"/>
          <p:nvPr/>
        </p:nvSpPr>
        <p:spPr>
          <a:xfrm>
            <a:off x="4000500" y="3594100"/>
            <a:ext cx="4381500" cy="276999"/>
          </a:xfrm>
          <a:prstGeom prst="rect">
            <a:avLst/>
          </a:prstGeom>
          <a:noFill/>
        </p:spPr>
        <p:txBody>
          <a:bodyPr vert="horz" wrap="square" lIns="0" tIns="0" rIns="0" bIns="0" rtlCol="0">
            <a:noAutofit/>
          </a:bodyPr>
          <a:lstStyle/>
          <a:p>
            <a:pPr>
              <a:spcAft>
                <a:spcPts val="700"/>
              </a:spcAft>
            </a:pPr>
            <a:r>
              <a:rPr lang="en-US" sz="1500">
                <a:solidFill>
                  <a:srgbClr val="F2F6FC"/>
                </a:solidFill>
                <a:latin typeface="Aptos" panose="020B0004020202020204" pitchFamily="34" charset="0"/>
              </a:rPr>
              <a:t>Subnet sizing; peering; VM readiness</a:t>
            </a:r>
          </a:p>
        </p:txBody>
      </p:sp>
      <p:sp>
        <p:nvSpPr>
          <p:cNvPr id="24" name="Rectangle 23">
            <a:extLst>
              <a:ext uri="{FF2B5EF4-FFF2-40B4-BE49-F238E27FC236}">
                <a16:creationId xmlns:a16="http://schemas.microsoft.com/office/drawing/2014/main" id="{33698B84-25D1-31ED-3E06-22DE47F63C73}"/>
              </a:ext>
            </a:extLst>
          </p:cNvPr>
          <p:cNvSpPr/>
          <p:nvPr/>
        </p:nvSpPr>
        <p:spPr>
          <a:xfrm>
            <a:off x="8509000" y="3479800"/>
            <a:ext cx="3175000" cy="596900"/>
          </a:xfrm>
          <a:prstGeom prst="rect">
            <a:avLst/>
          </a:prstGeom>
          <a:solidFill>
            <a:srgbClr val="192E4A"/>
          </a:solidFill>
          <a:ln>
            <a:solidFill>
              <a:srgbClr val="192E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B1820398-5D0B-F75F-30F1-5AABEBA5B2F4}"/>
              </a:ext>
            </a:extLst>
          </p:cNvPr>
          <p:cNvSpPr txBox="1"/>
          <p:nvPr/>
        </p:nvSpPr>
        <p:spPr>
          <a:xfrm>
            <a:off x="8636000" y="3594100"/>
            <a:ext cx="2921000" cy="276999"/>
          </a:xfrm>
          <a:prstGeom prst="rect">
            <a:avLst/>
          </a:prstGeom>
          <a:noFill/>
        </p:spPr>
        <p:txBody>
          <a:bodyPr vert="horz" wrap="square" lIns="0" tIns="0" rIns="0" bIns="0" rtlCol="0">
            <a:noAutofit/>
          </a:bodyPr>
          <a:lstStyle/>
          <a:p>
            <a:pPr>
              <a:spcAft>
                <a:spcPts val="700"/>
              </a:spcAft>
            </a:pPr>
            <a:r>
              <a:rPr lang="en-US" sz="1500">
                <a:solidFill>
                  <a:srgbClr val="F2F6FC"/>
                </a:solidFill>
                <a:latin typeface="Aptos" panose="020B0004020202020204" pitchFamily="34" charset="0"/>
              </a:rPr>
              <a:t>Bastion / VM provisioning state</a:t>
            </a:r>
          </a:p>
        </p:txBody>
      </p:sp>
      <p:sp>
        <p:nvSpPr>
          <p:cNvPr id="26" name="Rectangle 25">
            <a:extLst>
              <a:ext uri="{FF2B5EF4-FFF2-40B4-BE49-F238E27FC236}">
                <a16:creationId xmlns:a16="http://schemas.microsoft.com/office/drawing/2014/main" id="{B789C9A9-C2E4-8AF5-B125-2C090625A325}"/>
              </a:ext>
            </a:extLst>
          </p:cNvPr>
          <p:cNvSpPr/>
          <p:nvPr/>
        </p:nvSpPr>
        <p:spPr>
          <a:xfrm>
            <a:off x="508000" y="4102100"/>
            <a:ext cx="3365500" cy="5969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B08CC380-00D9-F7CE-90AF-3C63C0A6FCA7}"/>
              </a:ext>
            </a:extLst>
          </p:cNvPr>
          <p:cNvSpPr txBox="1"/>
          <p:nvPr/>
        </p:nvSpPr>
        <p:spPr>
          <a:xfrm>
            <a:off x="635000" y="4216400"/>
            <a:ext cx="3111500" cy="276999"/>
          </a:xfrm>
          <a:prstGeom prst="rect">
            <a:avLst/>
          </a:prstGeom>
          <a:noFill/>
        </p:spPr>
        <p:txBody>
          <a:bodyPr vert="horz" wrap="square" lIns="0" tIns="0" rIns="0" bIns="0" rtlCol="0">
            <a:noAutofit/>
          </a:bodyPr>
          <a:lstStyle/>
          <a:p>
            <a:pPr>
              <a:spcAft>
                <a:spcPts val="700"/>
              </a:spcAft>
            </a:pPr>
            <a:r>
              <a:rPr lang="en-US" sz="1500">
                <a:solidFill>
                  <a:srgbClr val="F2F6FC"/>
                </a:solidFill>
                <a:latin typeface="Aptos" panose="020B0004020202020204" pitchFamily="34" charset="0"/>
              </a:rPr>
              <a:t>Only one direction works</a:t>
            </a:r>
          </a:p>
        </p:txBody>
      </p:sp>
      <p:sp>
        <p:nvSpPr>
          <p:cNvPr id="28" name="Rectangle 27">
            <a:extLst>
              <a:ext uri="{FF2B5EF4-FFF2-40B4-BE49-F238E27FC236}">
                <a16:creationId xmlns:a16="http://schemas.microsoft.com/office/drawing/2014/main" id="{4F38367E-1375-630D-1F75-4936A0E54F8A}"/>
              </a:ext>
            </a:extLst>
          </p:cNvPr>
          <p:cNvSpPr/>
          <p:nvPr/>
        </p:nvSpPr>
        <p:spPr>
          <a:xfrm>
            <a:off x="3873500" y="4102100"/>
            <a:ext cx="4635500" cy="5969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6D225E88-FF05-A599-E800-8E0E5374983D}"/>
              </a:ext>
            </a:extLst>
          </p:cNvPr>
          <p:cNvSpPr txBox="1"/>
          <p:nvPr/>
        </p:nvSpPr>
        <p:spPr>
          <a:xfrm>
            <a:off x="4000500" y="4216400"/>
            <a:ext cx="4381500" cy="276999"/>
          </a:xfrm>
          <a:prstGeom prst="rect">
            <a:avLst/>
          </a:prstGeom>
          <a:noFill/>
        </p:spPr>
        <p:txBody>
          <a:bodyPr vert="horz" wrap="square" lIns="0" tIns="0" rIns="0" bIns="0" rtlCol="0">
            <a:noAutofit/>
          </a:bodyPr>
          <a:lstStyle/>
          <a:p>
            <a:pPr>
              <a:spcAft>
                <a:spcPts val="700"/>
              </a:spcAft>
            </a:pPr>
            <a:r>
              <a:rPr lang="en-US" sz="1500">
                <a:solidFill>
                  <a:srgbClr val="F2F6FC"/>
                </a:solidFill>
                <a:latin typeface="Aptos" panose="020B0004020202020204" pitchFamily="34" charset="0"/>
              </a:rPr>
              <a:t>Both UDRs and subnet associations</a:t>
            </a:r>
          </a:p>
        </p:txBody>
      </p:sp>
      <p:sp>
        <p:nvSpPr>
          <p:cNvPr id="30" name="Rectangle 29">
            <a:extLst>
              <a:ext uri="{FF2B5EF4-FFF2-40B4-BE49-F238E27FC236}">
                <a16:creationId xmlns:a16="http://schemas.microsoft.com/office/drawing/2014/main" id="{F9D223A1-1B11-2A0D-2BA6-3D7CBACADB12}"/>
              </a:ext>
            </a:extLst>
          </p:cNvPr>
          <p:cNvSpPr/>
          <p:nvPr/>
        </p:nvSpPr>
        <p:spPr>
          <a:xfrm>
            <a:off x="8509000" y="4102100"/>
            <a:ext cx="3175000" cy="5969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A3D68D2F-557E-7DC6-A72D-AAE1D6672E91}"/>
              </a:ext>
            </a:extLst>
          </p:cNvPr>
          <p:cNvSpPr txBox="1"/>
          <p:nvPr/>
        </p:nvSpPr>
        <p:spPr>
          <a:xfrm>
            <a:off x="8636000" y="4216400"/>
            <a:ext cx="2921000" cy="276999"/>
          </a:xfrm>
          <a:prstGeom prst="rect">
            <a:avLst/>
          </a:prstGeom>
          <a:noFill/>
        </p:spPr>
        <p:txBody>
          <a:bodyPr vert="horz" wrap="square" lIns="0" tIns="0" rIns="0" bIns="0" rtlCol="0">
            <a:noAutofit/>
          </a:bodyPr>
          <a:lstStyle/>
          <a:p>
            <a:pPr>
              <a:spcAft>
                <a:spcPts val="700"/>
              </a:spcAft>
            </a:pPr>
            <a:r>
              <a:rPr lang="en-US" sz="1500">
                <a:solidFill>
                  <a:srgbClr val="F2F6FC"/>
                </a:solidFill>
                <a:latin typeface="Aptos" panose="020B0004020202020204" pitchFamily="34" charset="0"/>
              </a:rPr>
              <a:t>Effective routes on both NICs</a:t>
            </a:r>
          </a:p>
        </p:txBody>
      </p:sp>
      <p:sp>
        <p:nvSpPr>
          <p:cNvPr id="32" name="Rectangle 31">
            <a:extLst>
              <a:ext uri="{FF2B5EF4-FFF2-40B4-BE49-F238E27FC236}">
                <a16:creationId xmlns:a16="http://schemas.microsoft.com/office/drawing/2014/main" id="{CAA83CB1-9FF9-6A3C-948B-A88F2108996D}"/>
              </a:ext>
            </a:extLst>
          </p:cNvPr>
          <p:cNvSpPr/>
          <p:nvPr/>
        </p:nvSpPr>
        <p:spPr>
          <a:xfrm>
            <a:off x="508000" y="4724400"/>
            <a:ext cx="3365500" cy="596900"/>
          </a:xfrm>
          <a:prstGeom prst="rect">
            <a:avLst/>
          </a:prstGeom>
          <a:solidFill>
            <a:srgbClr val="192E4A"/>
          </a:solidFill>
          <a:ln>
            <a:solidFill>
              <a:srgbClr val="192E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4A437EFD-7A13-D413-DEF2-C402E74673C2}"/>
              </a:ext>
            </a:extLst>
          </p:cNvPr>
          <p:cNvSpPr txBox="1"/>
          <p:nvPr/>
        </p:nvSpPr>
        <p:spPr>
          <a:xfrm>
            <a:off x="635000" y="4838700"/>
            <a:ext cx="3111500" cy="276999"/>
          </a:xfrm>
          <a:prstGeom prst="rect">
            <a:avLst/>
          </a:prstGeom>
          <a:noFill/>
        </p:spPr>
        <p:txBody>
          <a:bodyPr vert="horz" wrap="square" lIns="0" tIns="0" rIns="0" bIns="0" rtlCol="0">
            <a:noAutofit/>
          </a:bodyPr>
          <a:lstStyle/>
          <a:p>
            <a:pPr>
              <a:spcAft>
                <a:spcPts val="700"/>
              </a:spcAft>
            </a:pPr>
            <a:r>
              <a:rPr lang="en-US" sz="1500">
                <a:solidFill>
                  <a:srgbClr val="F2F6FC"/>
                </a:solidFill>
                <a:latin typeface="Aptos" panose="020B0004020202020204" pitchFamily="34" charset="0"/>
              </a:rPr>
              <a:t>Neither direction works</a:t>
            </a:r>
          </a:p>
        </p:txBody>
      </p:sp>
      <p:sp>
        <p:nvSpPr>
          <p:cNvPr id="34" name="Rectangle 33">
            <a:extLst>
              <a:ext uri="{FF2B5EF4-FFF2-40B4-BE49-F238E27FC236}">
                <a16:creationId xmlns:a16="http://schemas.microsoft.com/office/drawing/2014/main" id="{5B4094F9-A926-F4A6-11A7-8075C39165B9}"/>
              </a:ext>
            </a:extLst>
          </p:cNvPr>
          <p:cNvSpPr/>
          <p:nvPr/>
        </p:nvSpPr>
        <p:spPr>
          <a:xfrm>
            <a:off x="3873500" y="4724400"/>
            <a:ext cx="4635500" cy="596900"/>
          </a:xfrm>
          <a:prstGeom prst="rect">
            <a:avLst/>
          </a:prstGeom>
          <a:solidFill>
            <a:srgbClr val="192E4A"/>
          </a:solidFill>
          <a:ln>
            <a:solidFill>
              <a:srgbClr val="192E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766F3633-00AB-77FF-6EA7-69A696E84267}"/>
              </a:ext>
            </a:extLst>
          </p:cNvPr>
          <p:cNvSpPr txBox="1"/>
          <p:nvPr/>
        </p:nvSpPr>
        <p:spPr>
          <a:xfrm>
            <a:off x="4000500" y="4838700"/>
            <a:ext cx="4381500" cy="276999"/>
          </a:xfrm>
          <a:prstGeom prst="rect">
            <a:avLst/>
          </a:prstGeom>
          <a:noFill/>
        </p:spPr>
        <p:txBody>
          <a:bodyPr vert="horz" wrap="square" lIns="0" tIns="0" rIns="0" bIns="0" rtlCol="0">
            <a:noAutofit/>
          </a:bodyPr>
          <a:lstStyle/>
          <a:p>
            <a:pPr>
              <a:spcAft>
                <a:spcPts val="700"/>
              </a:spcAft>
            </a:pPr>
            <a:r>
              <a:rPr lang="en-US" sz="1500">
                <a:solidFill>
                  <a:srgbClr val="F2F6FC"/>
                </a:solidFill>
                <a:latin typeface="Aptos" panose="020B0004020202020204" pitchFamily="34" charset="0"/>
              </a:rPr>
              <a:t>Peering Connected; forwarding allowed</a:t>
            </a:r>
          </a:p>
        </p:txBody>
      </p:sp>
      <p:sp>
        <p:nvSpPr>
          <p:cNvPr id="36" name="Rectangle 35">
            <a:extLst>
              <a:ext uri="{FF2B5EF4-FFF2-40B4-BE49-F238E27FC236}">
                <a16:creationId xmlns:a16="http://schemas.microsoft.com/office/drawing/2014/main" id="{8F8F4BBE-9A04-48EA-2B07-A975B3F245C7}"/>
              </a:ext>
            </a:extLst>
          </p:cNvPr>
          <p:cNvSpPr/>
          <p:nvPr/>
        </p:nvSpPr>
        <p:spPr>
          <a:xfrm>
            <a:off x="8509000" y="4724400"/>
            <a:ext cx="3175000" cy="596900"/>
          </a:xfrm>
          <a:prstGeom prst="rect">
            <a:avLst/>
          </a:prstGeom>
          <a:solidFill>
            <a:srgbClr val="192E4A"/>
          </a:solidFill>
          <a:ln>
            <a:solidFill>
              <a:srgbClr val="192E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65DB8673-0991-875B-3DD2-67A4770CDEC9}"/>
              </a:ext>
            </a:extLst>
          </p:cNvPr>
          <p:cNvSpPr txBox="1"/>
          <p:nvPr/>
        </p:nvSpPr>
        <p:spPr>
          <a:xfrm>
            <a:off x="8636000" y="4838700"/>
            <a:ext cx="2921000" cy="276999"/>
          </a:xfrm>
          <a:prstGeom prst="rect">
            <a:avLst/>
          </a:prstGeom>
          <a:noFill/>
        </p:spPr>
        <p:txBody>
          <a:bodyPr vert="horz" wrap="square" lIns="0" tIns="0" rIns="0" bIns="0" rtlCol="0">
            <a:noAutofit/>
          </a:bodyPr>
          <a:lstStyle/>
          <a:p>
            <a:pPr>
              <a:spcAft>
                <a:spcPts val="700"/>
              </a:spcAft>
            </a:pPr>
            <a:r>
              <a:rPr lang="en-US" sz="1500">
                <a:solidFill>
                  <a:srgbClr val="F2F6FC"/>
                </a:solidFill>
                <a:latin typeface="Aptos" panose="020B0004020202020204" pitchFamily="34" charset="0"/>
              </a:rPr>
              <a:t>NSGs, guest policy, destination IP</a:t>
            </a:r>
          </a:p>
        </p:txBody>
      </p:sp>
      <p:sp>
        <p:nvSpPr>
          <p:cNvPr id="38" name="Rectangle 37">
            <a:extLst>
              <a:ext uri="{FF2B5EF4-FFF2-40B4-BE49-F238E27FC236}">
                <a16:creationId xmlns:a16="http://schemas.microsoft.com/office/drawing/2014/main" id="{BF1A4C1E-937C-53A6-C719-0ABF8DEBF615}"/>
              </a:ext>
            </a:extLst>
          </p:cNvPr>
          <p:cNvSpPr/>
          <p:nvPr/>
        </p:nvSpPr>
        <p:spPr>
          <a:xfrm>
            <a:off x="508000" y="5346700"/>
            <a:ext cx="3365500" cy="5969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D17BFCDA-2714-8077-1350-CE6481BC7784}"/>
              </a:ext>
            </a:extLst>
          </p:cNvPr>
          <p:cNvSpPr txBox="1"/>
          <p:nvPr/>
        </p:nvSpPr>
        <p:spPr>
          <a:xfrm>
            <a:off x="635000" y="5461000"/>
            <a:ext cx="3111500" cy="276999"/>
          </a:xfrm>
          <a:prstGeom prst="rect">
            <a:avLst/>
          </a:prstGeom>
          <a:noFill/>
        </p:spPr>
        <p:txBody>
          <a:bodyPr vert="horz" wrap="square" lIns="0" tIns="0" rIns="0" bIns="0" rtlCol="0">
            <a:noAutofit/>
          </a:bodyPr>
          <a:lstStyle/>
          <a:p>
            <a:pPr>
              <a:spcAft>
                <a:spcPts val="700"/>
              </a:spcAft>
            </a:pPr>
            <a:r>
              <a:rPr lang="en-US" sz="1500">
                <a:solidFill>
                  <a:srgbClr val="F2F6FC"/>
                </a:solidFill>
                <a:latin typeface="Aptos" panose="020B0004020202020204" pitchFamily="34" charset="0"/>
              </a:rPr>
              <a:t>Traceroute missing / incomplete</a:t>
            </a:r>
          </a:p>
        </p:txBody>
      </p:sp>
      <p:sp>
        <p:nvSpPr>
          <p:cNvPr id="40" name="Rectangle 39">
            <a:extLst>
              <a:ext uri="{FF2B5EF4-FFF2-40B4-BE49-F238E27FC236}">
                <a16:creationId xmlns:a16="http://schemas.microsoft.com/office/drawing/2014/main" id="{F4D23CB9-4B1C-AA9D-B9B4-3B047751203E}"/>
              </a:ext>
            </a:extLst>
          </p:cNvPr>
          <p:cNvSpPr/>
          <p:nvPr/>
        </p:nvSpPr>
        <p:spPr>
          <a:xfrm>
            <a:off x="3873500" y="5346700"/>
            <a:ext cx="4635500" cy="5969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C3220444-42D5-4C88-F067-9A5296C9178B}"/>
              </a:ext>
            </a:extLst>
          </p:cNvPr>
          <p:cNvSpPr txBox="1"/>
          <p:nvPr/>
        </p:nvSpPr>
        <p:spPr>
          <a:xfrm>
            <a:off x="4000500" y="5461000"/>
            <a:ext cx="4381500" cy="276999"/>
          </a:xfrm>
          <a:prstGeom prst="rect">
            <a:avLst/>
          </a:prstGeom>
          <a:noFill/>
        </p:spPr>
        <p:txBody>
          <a:bodyPr vert="horz" wrap="square" lIns="0" tIns="0" rIns="0" bIns="0" rtlCol="0">
            <a:noAutofit/>
          </a:bodyPr>
          <a:lstStyle/>
          <a:p>
            <a:pPr>
              <a:spcAft>
                <a:spcPts val="700"/>
              </a:spcAft>
            </a:pPr>
            <a:r>
              <a:rPr lang="en-US" sz="1500">
                <a:solidFill>
                  <a:srgbClr val="F2F6FC"/>
                </a:solidFill>
                <a:latin typeface="Aptos" panose="020B0004020202020204" pitchFamily="34" charset="0"/>
              </a:rPr>
              <a:t>Bootstrap egress; TTL response behavior</a:t>
            </a:r>
          </a:p>
        </p:txBody>
      </p:sp>
      <p:sp>
        <p:nvSpPr>
          <p:cNvPr id="42" name="Rectangle 41">
            <a:extLst>
              <a:ext uri="{FF2B5EF4-FFF2-40B4-BE49-F238E27FC236}">
                <a16:creationId xmlns:a16="http://schemas.microsoft.com/office/drawing/2014/main" id="{9C999CCE-30FF-B1E2-5A71-6E55ED540293}"/>
              </a:ext>
            </a:extLst>
          </p:cNvPr>
          <p:cNvSpPr/>
          <p:nvPr/>
        </p:nvSpPr>
        <p:spPr>
          <a:xfrm>
            <a:off x="8509000" y="5346700"/>
            <a:ext cx="3175000" cy="5969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CCA2E29E-1015-A9EA-75D3-10345FCD67F4}"/>
              </a:ext>
            </a:extLst>
          </p:cNvPr>
          <p:cNvSpPr txBox="1"/>
          <p:nvPr/>
        </p:nvSpPr>
        <p:spPr>
          <a:xfrm>
            <a:off x="8636000" y="5461000"/>
            <a:ext cx="2921000" cy="276999"/>
          </a:xfrm>
          <a:prstGeom prst="rect">
            <a:avLst/>
          </a:prstGeom>
          <a:noFill/>
        </p:spPr>
        <p:txBody>
          <a:bodyPr vert="horz" wrap="square" lIns="0" tIns="0" rIns="0" bIns="0" rtlCol="0">
            <a:noAutofit/>
          </a:bodyPr>
          <a:lstStyle/>
          <a:p>
            <a:pPr>
              <a:spcAft>
                <a:spcPts val="700"/>
              </a:spcAft>
            </a:pPr>
            <a:r>
              <a:rPr lang="en-US" sz="1500">
                <a:solidFill>
                  <a:srgbClr val="F2F6FC"/>
                </a:solidFill>
                <a:latin typeface="Aptos" panose="020B0004020202020204" pitchFamily="34" charset="0"/>
              </a:rPr>
              <a:t>cloud-init logs; routes + TCP test</a:t>
            </a:r>
          </a:p>
        </p:txBody>
      </p:sp>
    </p:spTree>
    <p:extLst>
      <p:ext uri="{BB962C8B-B14F-4D97-AF65-F5344CB8AC3E}">
        <p14:creationId xmlns:p14="http://schemas.microsoft.com/office/powerpoint/2010/main" val="32985748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C183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5880297-375A-246E-AEE7-9F370A8CA069}"/>
              </a:ext>
            </a:extLst>
          </p:cNvPr>
          <p:cNvSpPr/>
          <p:nvPr/>
        </p:nvSpPr>
        <p:spPr>
          <a:xfrm>
            <a:off x="0" y="0"/>
            <a:ext cx="12192000" cy="63500"/>
          </a:xfrm>
          <a:prstGeom prst="rect">
            <a:avLst/>
          </a:prstGeom>
          <a:solidFill>
            <a:srgbClr val="35D4E8"/>
          </a:solidFill>
          <a:ln>
            <a:solidFill>
              <a:srgbClr val="35D4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5AA9722-8014-49B5-8AB6-29132D19814B}"/>
              </a:ext>
            </a:extLst>
          </p:cNvPr>
          <p:cNvSpPr txBox="1"/>
          <p:nvPr/>
        </p:nvSpPr>
        <p:spPr>
          <a:xfrm>
            <a:off x="508000" y="292100"/>
            <a:ext cx="10795000" cy="276999"/>
          </a:xfrm>
          <a:prstGeom prst="rect">
            <a:avLst/>
          </a:prstGeom>
          <a:noFill/>
        </p:spPr>
        <p:txBody>
          <a:bodyPr vert="horz" wrap="square" lIns="0" tIns="0" rIns="0" bIns="0" rtlCol="0">
            <a:noAutofit/>
          </a:bodyPr>
          <a:lstStyle/>
          <a:p>
            <a:pPr>
              <a:spcAft>
                <a:spcPts val="700"/>
              </a:spcAft>
            </a:pPr>
            <a:r>
              <a:rPr lang="en-US" sz="1000" b="1">
                <a:solidFill>
                  <a:srgbClr val="35D4E8"/>
                </a:solidFill>
                <a:latin typeface="Aptos" panose="020B0004020202020204" pitchFamily="34" charset="0"/>
              </a:rPr>
              <a:t>16 / OPERATIONS AND BOUNDARIES</a:t>
            </a:r>
          </a:p>
        </p:txBody>
      </p:sp>
      <p:sp>
        <p:nvSpPr>
          <p:cNvPr id="4" name="TextBox 3">
            <a:extLst>
              <a:ext uri="{FF2B5EF4-FFF2-40B4-BE49-F238E27FC236}">
                <a16:creationId xmlns:a16="http://schemas.microsoft.com/office/drawing/2014/main" id="{1DBA0BAC-A736-2F87-706D-AE54F9800E51}"/>
              </a:ext>
            </a:extLst>
          </p:cNvPr>
          <p:cNvSpPr txBox="1"/>
          <p:nvPr/>
        </p:nvSpPr>
        <p:spPr>
          <a:xfrm>
            <a:off x="508000" y="723900"/>
            <a:ext cx="11176000" cy="276999"/>
          </a:xfrm>
          <a:prstGeom prst="rect">
            <a:avLst/>
          </a:prstGeom>
          <a:noFill/>
        </p:spPr>
        <p:txBody>
          <a:bodyPr vert="horz" wrap="square" lIns="0" tIns="0" rIns="0" bIns="0" rtlCol="0">
            <a:noAutofit/>
          </a:bodyPr>
          <a:lstStyle/>
          <a:p>
            <a:pPr>
              <a:spcAft>
                <a:spcPts val="700"/>
              </a:spcAft>
            </a:pPr>
            <a:r>
              <a:rPr lang="en-US" sz="3000" b="1">
                <a:solidFill>
                  <a:srgbClr val="F2F6FC"/>
                </a:solidFill>
                <a:latin typeface="Aptos" panose="020B0004020202020204" pitchFamily="34" charset="0"/>
              </a:rPr>
              <a:t>Capacity is a configuration, not a benchmark</a:t>
            </a:r>
          </a:p>
        </p:txBody>
      </p:sp>
      <p:sp>
        <p:nvSpPr>
          <p:cNvPr id="5" name="Rectangle 4">
            <a:extLst>
              <a:ext uri="{FF2B5EF4-FFF2-40B4-BE49-F238E27FC236}">
                <a16:creationId xmlns:a16="http://schemas.microsoft.com/office/drawing/2014/main" id="{53FF0B96-D27F-1D3E-BA94-C12A10DF5B9F}"/>
              </a:ext>
            </a:extLst>
          </p:cNvPr>
          <p:cNvSpPr/>
          <p:nvPr/>
        </p:nvSpPr>
        <p:spPr>
          <a:xfrm>
            <a:off x="508000" y="6413500"/>
            <a:ext cx="11176000" cy="12700"/>
          </a:xfrm>
          <a:prstGeom prst="rect">
            <a:avLst/>
          </a:prstGeom>
          <a:solidFill>
            <a:srgbClr val="31415B"/>
          </a:solidFill>
          <a:ln>
            <a:solidFill>
              <a:srgbClr val="3141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62906F2-4C01-4E80-1856-141C7A33339C}"/>
              </a:ext>
            </a:extLst>
          </p:cNvPr>
          <p:cNvSpPr txBox="1"/>
          <p:nvPr/>
        </p:nvSpPr>
        <p:spPr>
          <a:xfrm>
            <a:off x="508000" y="6553200"/>
            <a:ext cx="8890000" cy="276999"/>
          </a:xfrm>
          <a:prstGeom prst="rect">
            <a:avLst/>
          </a:prstGeom>
          <a:noFill/>
        </p:spPr>
        <p:txBody>
          <a:bodyPr vert="horz" wrap="square" lIns="0" tIns="0" rIns="0" bIns="0" rtlCol="0">
            <a:noAutofit/>
          </a:bodyPr>
          <a:lstStyle/>
          <a:p>
            <a:pPr>
              <a:spcAft>
                <a:spcPts val="700"/>
              </a:spcAft>
            </a:pPr>
            <a:r>
              <a:rPr lang="en-US" sz="900">
                <a:solidFill>
                  <a:srgbClr val="B6C5D9"/>
                </a:solidFill>
                <a:latin typeface="Aptos" panose="020B0004020202020204" pitchFamily="34" charset="0"/>
              </a:rPr>
              <a:t>AZURE NETWORK COURSE  /  LAB 240</a:t>
            </a:r>
          </a:p>
        </p:txBody>
      </p:sp>
      <p:sp>
        <p:nvSpPr>
          <p:cNvPr id="7" name="TextBox 6">
            <a:extLst>
              <a:ext uri="{FF2B5EF4-FFF2-40B4-BE49-F238E27FC236}">
                <a16:creationId xmlns:a16="http://schemas.microsoft.com/office/drawing/2014/main" id="{E78B961B-B3C8-FEC1-17A8-84AC6E398B99}"/>
              </a:ext>
            </a:extLst>
          </p:cNvPr>
          <p:cNvSpPr txBox="1"/>
          <p:nvPr/>
        </p:nvSpPr>
        <p:spPr>
          <a:xfrm>
            <a:off x="11214100" y="6527800"/>
            <a:ext cx="469900" cy="276999"/>
          </a:xfrm>
          <a:prstGeom prst="rect">
            <a:avLst/>
          </a:prstGeom>
          <a:noFill/>
        </p:spPr>
        <p:txBody>
          <a:bodyPr vert="horz" wrap="square" lIns="0" tIns="0" rIns="0" bIns="0" rtlCol="0">
            <a:noAutofit/>
          </a:bodyPr>
          <a:lstStyle/>
          <a:p>
            <a:pPr>
              <a:spcAft>
                <a:spcPts val="700"/>
              </a:spcAft>
            </a:pPr>
            <a:r>
              <a:rPr lang="en-US" sz="1100" b="1">
                <a:solidFill>
                  <a:srgbClr val="35D4E8"/>
                </a:solidFill>
                <a:latin typeface="Aptos" panose="020B0004020202020204" pitchFamily="34" charset="0"/>
              </a:rPr>
              <a:t>17</a:t>
            </a:r>
          </a:p>
        </p:txBody>
      </p:sp>
      <p:sp>
        <p:nvSpPr>
          <p:cNvPr id="8" name="Rectangle 7">
            <a:extLst>
              <a:ext uri="{FF2B5EF4-FFF2-40B4-BE49-F238E27FC236}">
                <a16:creationId xmlns:a16="http://schemas.microsoft.com/office/drawing/2014/main" id="{FF505502-9B74-1297-956D-2A67A4BE36F1}"/>
              </a:ext>
            </a:extLst>
          </p:cNvPr>
          <p:cNvSpPr/>
          <p:nvPr/>
        </p:nvSpPr>
        <p:spPr>
          <a:xfrm>
            <a:off x="508000" y="2336800"/>
            <a:ext cx="5461000" cy="32766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C116471-666A-8B16-1427-51902A28A9F9}"/>
              </a:ext>
            </a:extLst>
          </p:cNvPr>
          <p:cNvSpPr/>
          <p:nvPr/>
        </p:nvSpPr>
        <p:spPr>
          <a:xfrm>
            <a:off x="508000" y="2336800"/>
            <a:ext cx="50800" cy="3276600"/>
          </a:xfrm>
          <a:prstGeom prst="rect">
            <a:avLst/>
          </a:prstGeom>
          <a:solidFill>
            <a:srgbClr val="35D4E8"/>
          </a:solidFill>
          <a:ln>
            <a:solidFill>
              <a:srgbClr val="35D4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BC50176-EFC0-0C94-4FFD-D9098E1CE277}"/>
              </a:ext>
            </a:extLst>
          </p:cNvPr>
          <p:cNvSpPr txBox="1"/>
          <p:nvPr/>
        </p:nvSpPr>
        <p:spPr>
          <a:xfrm>
            <a:off x="736600" y="2552700"/>
            <a:ext cx="5003800" cy="276999"/>
          </a:xfrm>
          <a:prstGeom prst="rect">
            <a:avLst/>
          </a:prstGeom>
          <a:noFill/>
        </p:spPr>
        <p:txBody>
          <a:bodyPr vert="horz" wrap="square" lIns="0" tIns="0" rIns="0" bIns="0" rtlCol="0">
            <a:noAutofit/>
          </a:bodyPr>
          <a:lstStyle/>
          <a:p>
            <a:pPr>
              <a:spcAft>
                <a:spcPts val="700"/>
              </a:spcAft>
            </a:pPr>
            <a:r>
              <a:rPr lang="en-US" sz="2000" b="1">
                <a:solidFill>
                  <a:srgbClr val="35D4E8"/>
                </a:solidFill>
                <a:latin typeface="Aptos" panose="020B0004020202020204" pitchFamily="34" charset="0"/>
              </a:rPr>
              <a:t>OBSERVE</a:t>
            </a:r>
          </a:p>
        </p:txBody>
      </p:sp>
      <p:sp>
        <p:nvSpPr>
          <p:cNvPr id="11" name="TextBox 10">
            <a:extLst>
              <a:ext uri="{FF2B5EF4-FFF2-40B4-BE49-F238E27FC236}">
                <a16:creationId xmlns:a16="http://schemas.microsoft.com/office/drawing/2014/main" id="{D90BA180-E016-F7C8-E0F3-FA2C50D14070}"/>
              </a:ext>
            </a:extLst>
          </p:cNvPr>
          <p:cNvSpPr txBox="1"/>
          <p:nvPr/>
        </p:nvSpPr>
        <p:spPr>
          <a:xfrm>
            <a:off x="736600" y="3327400"/>
            <a:ext cx="5003800" cy="276999"/>
          </a:xfrm>
          <a:prstGeom prst="rect">
            <a:avLst/>
          </a:prstGeom>
          <a:noFill/>
        </p:spPr>
        <p:txBody>
          <a:bodyPr vert="horz" wrap="square" lIns="0" tIns="0" rIns="0" bIns="0" rtlCol="0">
            <a:noAutofit/>
          </a:bodyPr>
          <a:lstStyle/>
          <a:p>
            <a:pPr>
              <a:spcAft>
                <a:spcPts val="700"/>
              </a:spcAft>
            </a:pPr>
            <a:r>
              <a:rPr lang="en-US" sz="1700">
                <a:solidFill>
                  <a:srgbClr val="F2F6FC"/>
                </a:solidFill>
                <a:latin typeface="Aptos" panose="020B0004020202020204" pitchFamily="34" charset="0"/>
              </a:rPr>
              <a:t>Azure Monitor platform metrics
Bytes and packets sent/received
Active flows and creation rate
Correlate with test timestamps
Use a longer allowed test flow</a:t>
            </a:r>
          </a:p>
        </p:txBody>
      </p:sp>
      <p:sp>
        <p:nvSpPr>
          <p:cNvPr id="12" name="Rectangle 11">
            <a:extLst>
              <a:ext uri="{FF2B5EF4-FFF2-40B4-BE49-F238E27FC236}">
                <a16:creationId xmlns:a16="http://schemas.microsoft.com/office/drawing/2014/main" id="{08CE1F5D-D971-79C1-EEBB-9544E9D6F6F3}"/>
              </a:ext>
            </a:extLst>
          </p:cNvPr>
          <p:cNvSpPr/>
          <p:nvPr/>
        </p:nvSpPr>
        <p:spPr>
          <a:xfrm>
            <a:off x="6223000" y="2336800"/>
            <a:ext cx="5461000" cy="32766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76DD10F-695F-2363-107B-07540A2C5445}"/>
              </a:ext>
            </a:extLst>
          </p:cNvPr>
          <p:cNvSpPr/>
          <p:nvPr/>
        </p:nvSpPr>
        <p:spPr>
          <a:xfrm>
            <a:off x="6223000" y="2336800"/>
            <a:ext cx="50800" cy="3276600"/>
          </a:xfrm>
          <a:prstGeom prst="rect">
            <a:avLst/>
          </a:prstGeom>
          <a:solidFill>
            <a:srgbClr val="328DFF"/>
          </a:solidFill>
          <a:ln>
            <a:solidFill>
              <a:srgbClr val="328D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3ACE37D2-1F21-2660-1A20-BF86DEB48101}"/>
              </a:ext>
            </a:extLst>
          </p:cNvPr>
          <p:cNvSpPr txBox="1"/>
          <p:nvPr/>
        </p:nvSpPr>
        <p:spPr>
          <a:xfrm>
            <a:off x="6451600" y="2552700"/>
            <a:ext cx="5003800" cy="276999"/>
          </a:xfrm>
          <a:prstGeom prst="rect">
            <a:avLst/>
          </a:prstGeom>
          <a:noFill/>
        </p:spPr>
        <p:txBody>
          <a:bodyPr vert="horz" wrap="square" lIns="0" tIns="0" rIns="0" bIns="0" rtlCol="0">
            <a:noAutofit/>
          </a:bodyPr>
          <a:lstStyle/>
          <a:p>
            <a:pPr>
              <a:spcAft>
                <a:spcPts val="700"/>
              </a:spcAft>
            </a:pPr>
            <a:r>
              <a:rPr lang="en-US" sz="2000" b="1">
                <a:solidFill>
                  <a:srgbClr val="328DFF"/>
                </a:solidFill>
                <a:latin typeface="Aptos" panose="020B0004020202020204" pitchFamily="34" charset="0"/>
              </a:rPr>
              <a:t>KNOW THE LIMITS</a:t>
            </a:r>
          </a:p>
        </p:txBody>
      </p:sp>
      <p:sp>
        <p:nvSpPr>
          <p:cNvPr id="15" name="TextBox 14">
            <a:extLst>
              <a:ext uri="{FF2B5EF4-FFF2-40B4-BE49-F238E27FC236}">
                <a16:creationId xmlns:a16="http://schemas.microsoft.com/office/drawing/2014/main" id="{6A8A6962-092E-AA2C-E5D3-9A78F76B0145}"/>
              </a:ext>
            </a:extLst>
          </p:cNvPr>
          <p:cNvSpPr txBox="1"/>
          <p:nvPr/>
        </p:nvSpPr>
        <p:spPr>
          <a:xfrm>
            <a:off x="6451600" y="3327400"/>
            <a:ext cx="5003800" cy="276999"/>
          </a:xfrm>
          <a:prstGeom prst="rect">
            <a:avLst/>
          </a:prstGeom>
          <a:noFill/>
        </p:spPr>
        <p:txBody>
          <a:bodyPr vert="horz" wrap="square" lIns="0" tIns="0" rIns="0" bIns="0" rtlCol="0">
            <a:noAutofit/>
          </a:bodyPr>
          <a:lstStyle/>
          <a:p>
            <a:pPr>
              <a:spcAft>
                <a:spcPts val="700"/>
              </a:spcAft>
            </a:pPr>
            <a:r>
              <a:rPr lang="en-US" sz="1700">
                <a:solidFill>
                  <a:srgbClr val="F2F6FC"/>
                </a:solidFill>
                <a:latin typeface="Aptos" panose="020B0004020202020204" pitchFamily="34" charset="0"/>
              </a:rPr>
              <a:t>Lab bandwidth: 10 Gbps
No throughput benchmark here
Built-in service high availability
Do not front it with a load balancer
No VNet flow logs support yet</a:t>
            </a:r>
          </a:p>
        </p:txBody>
      </p:sp>
      <p:sp>
        <p:nvSpPr>
          <p:cNvPr id="16" name="TextBox 15">
            <a:extLst>
              <a:ext uri="{FF2B5EF4-FFF2-40B4-BE49-F238E27FC236}">
                <a16:creationId xmlns:a16="http://schemas.microsoft.com/office/drawing/2014/main" id="{131AAD72-EDF9-0621-69FD-860F5034C98F}"/>
              </a:ext>
            </a:extLst>
          </p:cNvPr>
          <p:cNvSpPr txBox="1"/>
          <p:nvPr/>
        </p:nvSpPr>
        <p:spPr>
          <a:xfrm>
            <a:off x="508000" y="5765800"/>
            <a:ext cx="11176000" cy="276999"/>
          </a:xfrm>
          <a:prstGeom prst="rect">
            <a:avLst/>
          </a:prstGeom>
          <a:noFill/>
        </p:spPr>
        <p:txBody>
          <a:bodyPr vert="horz" wrap="square" lIns="0" tIns="0" rIns="0" bIns="0" rtlCol="0">
            <a:noAutofit/>
          </a:bodyPr>
          <a:lstStyle/>
          <a:p>
            <a:pPr>
              <a:spcAft>
                <a:spcPts val="700"/>
              </a:spcAft>
            </a:pPr>
            <a:r>
              <a:rPr lang="en-US" sz="1500" b="1">
                <a:solidFill>
                  <a:srgbClr val="35D4E8"/>
                </a:solidFill>
                <a:latin typeface="Aptos" panose="020B0004020202020204" pitchFamily="34" charset="0"/>
              </a:rPr>
              <a:t>Metrics show activity; combine them with effective routes and connectivity tests.</a:t>
            </a:r>
          </a:p>
        </p:txBody>
      </p:sp>
    </p:spTree>
    <p:extLst>
      <p:ext uri="{BB962C8B-B14F-4D97-AF65-F5344CB8AC3E}">
        <p14:creationId xmlns:p14="http://schemas.microsoft.com/office/powerpoint/2010/main" val="31584680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C183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BA98A16-B7E1-4EA1-6C7D-321533747AA2}"/>
              </a:ext>
            </a:extLst>
          </p:cNvPr>
          <p:cNvSpPr/>
          <p:nvPr/>
        </p:nvSpPr>
        <p:spPr>
          <a:xfrm>
            <a:off x="0" y="0"/>
            <a:ext cx="12192000" cy="63500"/>
          </a:xfrm>
          <a:prstGeom prst="rect">
            <a:avLst/>
          </a:prstGeom>
          <a:solidFill>
            <a:srgbClr val="35D4E8"/>
          </a:solidFill>
          <a:ln>
            <a:solidFill>
              <a:srgbClr val="35D4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77B645A-B363-F380-9476-5D8A7BC486EA}"/>
              </a:ext>
            </a:extLst>
          </p:cNvPr>
          <p:cNvSpPr txBox="1"/>
          <p:nvPr/>
        </p:nvSpPr>
        <p:spPr>
          <a:xfrm>
            <a:off x="508000" y="292100"/>
            <a:ext cx="10795000" cy="276999"/>
          </a:xfrm>
          <a:prstGeom prst="rect">
            <a:avLst/>
          </a:prstGeom>
          <a:noFill/>
        </p:spPr>
        <p:txBody>
          <a:bodyPr vert="horz" wrap="square" lIns="0" tIns="0" rIns="0" bIns="0" rtlCol="0">
            <a:noAutofit/>
          </a:bodyPr>
          <a:lstStyle/>
          <a:p>
            <a:pPr>
              <a:spcAft>
                <a:spcPts val="700"/>
              </a:spcAft>
            </a:pPr>
            <a:r>
              <a:rPr lang="en-US" sz="1000" b="1">
                <a:solidFill>
                  <a:srgbClr val="35D4E8"/>
                </a:solidFill>
                <a:latin typeface="Aptos" panose="020B0004020202020204" pitchFamily="34" charset="0"/>
              </a:rPr>
              <a:t>17 / EXERCISE AND CLEANUP</a:t>
            </a:r>
          </a:p>
        </p:txBody>
      </p:sp>
      <p:sp>
        <p:nvSpPr>
          <p:cNvPr id="4" name="TextBox 3">
            <a:extLst>
              <a:ext uri="{FF2B5EF4-FFF2-40B4-BE49-F238E27FC236}">
                <a16:creationId xmlns:a16="http://schemas.microsoft.com/office/drawing/2014/main" id="{5D7FFEF6-5DBA-43CA-1614-710D7D4C6CE9}"/>
              </a:ext>
            </a:extLst>
          </p:cNvPr>
          <p:cNvSpPr txBox="1"/>
          <p:nvPr/>
        </p:nvSpPr>
        <p:spPr>
          <a:xfrm>
            <a:off x="508000" y="723900"/>
            <a:ext cx="11176000" cy="276999"/>
          </a:xfrm>
          <a:prstGeom prst="rect">
            <a:avLst/>
          </a:prstGeom>
          <a:noFill/>
        </p:spPr>
        <p:txBody>
          <a:bodyPr vert="horz" wrap="square" lIns="0" tIns="0" rIns="0" bIns="0" rtlCol="0">
            <a:noAutofit/>
          </a:bodyPr>
          <a:lstStyle/>
          <a:p>
            <a:pPr>
              <a:spcAft>
                <a:spcPts val="700"/>
              </a:spcAft>
            </a:pPr>
            <a:r>
              <a:rPr lang="en-US" sz="3000" b="1">
                <a:solidFill>
                  <a:srgbClr val="F2F6FC"/>
                </a:solidFill>
                <a:latin typeface="Aptos" panose="020B0004020202020204" pitchFamily="34" charset="0"/>
              </a:rPr>
              <a:t>Demonstrate causality. Leave no running lab.</a:t>
            </a:r>
          </a:p>
        </p:txBody>
      </p:sp>
      <p:sp>
        <p:nvSpPr>
          <p:cNvPr id="5" name="Rectangle 4">
            <a:extLst>
              <a:ext uri="{FF2B5EF4-FFF2-40B4-BE49-F238E27FC236}">
                <a16:creationId xmlns:a16="http://schemas.microsoft.com/office/drawing/2014/main" id="{D2A9A987-634E-B6FB-2CF8-68408B329006}"/>
              </a:ext>
            </a:extLst>
          </p:cNvPr>
          <p:cNvSpPr/>
          <p:nvPr/>
        </p:nvSpPr>
        <p:spPr>
          <a:xfrm>
            <a:off x="508000" y="6413500"/>
            <a:ext cx="11176000" cy="12700"/>
          </a:xfrm>
          <a:prstGeom prst="rect">
            <a:avLst/>
          </a:prstGeom>
          <a:solidFill>
            <a:srgbClr val="31415B"/>
          </a:solidFill>
          <a:ln>
            <a:solidFill>
              <a:srgbClr val="3141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1C73289-EFB4-D6F8-91AD-0E7E076DB52E}"/>
              </a:ext>
            </a:extLst>
          </p:cNvPr>
          <p:cNvSpPr txBox="1"/>
          <p:nvPr/>
        </p:nvSpPr>
        <p:spPr>
          <a:xfrm>
            <a:off x="508000" y="6553200"/>
            <a:ext cx="8890000" cy="276999"/>
          </a:xfrm>
          <a:prstGeom prst="rect">
            <a:avLst/>
          </a:prstGeom>
          <a:noFill/>
        </p:spPr>
        <p:txBody>
          <a:bodyPr vert="horz" wrap="square" lIns="0" tIns="0" rIns="0" bIns="0" rtlCol="0">
            <a:noAutofit/>
          </a:bodyPr>
          <a:lstStyle/>
          <a:p>
            <a:pPr>
              <a:spcAft>
                <a:spcPts val="700"/>
              </a:spcAft>
            </a:pPr>
            <a:r>
              <a:rPr lang="en-US" sz="900">
                <a:solidFill>
                  <a:srgbClr val="B6C5D9"/>
                </a:solidFill>
                <a:latin typeface="Aptos" panose="020B0004020202020204" pitchFamily="34" charset="0"/>
              </a:rPr>
              <a:t>AZURE NETWORK COURSE  /  LAB 240</a:t>
            </a:r>
          </a:p>
        </p:txBody>
      </p:sp>
      <p:sp>
        <p:nvSpPr>
          <p:cNvPr id="7" name="TextBox 6">
            <a:extLst>
              <a:ext uri="{FF2B5EF4-FFF2-40B4-BE49-F238E27FC236}">
                <a16:creationId xmlns:a16="http://schemas.microsoft.com/office/drawing/2014/main" id="{830DD34C-A62F-CF99-EF3B-0F1B3D85B210}"/>
              </a:ext>
            </a:extLst>
          </p:cNvPr>
          <p:cNvSpPr txBox="1"/>
          <p:nvPr/>
        </p:nvSpPr>
        <p:spPr>
          <a:xfrm>
            <a:off x="11214100" y="6527800"/>
            <a:ext cx="469900" cy="276999"/>
          </a:xfrm>
          <a:prstGeom prst="rect">
            <a:avLst/>
          </a:prstGeom>
          <a:noFill/>
        </p:spPr>
        <p:txBody>
          <a:bodyPr vert="horz" wrap="square" lIns="0" tIns="0" rIns="0" bIns="0" rtlCol="0">
            <a:noAutofit/>
          </a:bodyPr>
          <a:lstStyle/>
          <a:p>
            <a:pPr>
              <a:spcAft>
                <a:spcPts val="700"/>
              </a:spcAft>
            </a:pPr>
            <a:r>
              <a:rPr lang="en-US" sz="1100" b="1">
                <a:solidFill>
                  <a:srgbClr val="35D4E8"/>
                </a:solidFill>
                <a:latin typeface="Aptos" panose="020B0004020202020204" pitchFamily="34" charset="0"/>
              </a:rPr>
              <a:t>18</a:t>
            </a:r>
          </a:p>
        </p:txBody>
      </p:sp>
      <p:sp>
        <p:nvSpPr>
          <p:cNvPr id="8" name="Rectangle 7">
            <a:extLst>
              <a:ext uri="{FF2B5EF4-FFF2-40B4-BE49-F238E27FC236}">
                <a16:creationId xmlns:a16="http://schemas.microsoft.com/office/drawing/2014/main" id="{63F98D64-B8B0-92CA-FFC5-E400BEA4C647}"/>
              </a:ext>
            </a:extLst>
          </p:cNvPr>
          <p:cNvSpPr/>
          <p:nvPr/>
        </p:nvSpPr>
        <p:spPr>
          <a:xfrm>
            <a:off x="508000" y="2298700"/>
            <a:ext cx="5461000" cy="32004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E17ADC8-8C8A-B612-A07D-C0ADEED45764}"/>
              </a:ext>
            </a:extLst>
          </p:cNvPr>
          <p:cNvSpPr/>
          <p:nvPr/>
        </p:nvSpPr>
        <p:spPr>
          <a:xfrm>
            <a:off x="508000" y="2298700"/>
            <a:ext cx="50800" cy="3200400"/>
          </a:xfrm>
          <a:prstGeom prst="rect">
            <a:avLst/>
          </a:prstGeom>
          <a:solidFill>
            <a:srgbClr val="35D4E8"/>
          </a:solidFill>
          <a:ln>
            <a:solidFill>
              <a:srgbClr val="35D4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529EA9F-85DF-2680-22D0-E735B6694C17}"/>
              </a:ext>
            </a:extLst>
          </p:cNvPr>
          <p:cNvSpPr txBox="1"/>
          <p:nvPr/>
        </p:nvSpPr>
        <p:spPr>
          <a:xfrm>
            <a:off x="736600" y="2514600"/>
            <a:ext cx="5003800" cy="276999"/>
          </a:xfrm>
          <a:prstGeom prst="rect">
            <a:avLst/>
          </a:prstGeom>
          <a:noFill/>
        </p:spPr>
        <p:txBody>
          <a:bodyPr vert="horz" wrap="square" lIns="0" tIns="0" rIns="0" bIns="0" rtlCol="0">
            <a:noAutofit/>
          </a:bodyPr>
          <a:lstStyle/>
          <a:p>
            <a:pPr>
              <a:spcAft>
                <a:spcPts val="700"/>
              </a:spcAft>
            </a:pPr>
            <a:r>
              <a:rPr lang="en-US" sz="2000" b="1">
                <a:solidFill>
                  <a:srgbClr val="35D4E8"/>
                </a:solidFill>
                <a:latin typeface="Aptos" panose="020B0004020202020204" pitchFamily="34" charset="0"/>
              </a:rPr>
              <a:t>CONTROLLED EXERCISE</a:t>
            </a:r>
          </a:p>
        </p:txBody>
      </p:sp>
      <p:sp>
        <p:nvSpPr>
          <p:cNvPr id="11" name="TextBox 10">
            <a:extLst>
              <a:ext uri="{FF2B5EF4-FFF2-40B4-BE49-F238E27FC236}">
                <a16:creationId xmlns:a16="http://schemas.microsoft.com/office/drawing/2014/main" id="{A5DBFBC9-4111-DA22-D7A7-D0F94919A7D2}"/>
              </a:ext>
            </a:extLst>
          </p:cNvPr>
          <p:cNvSpPr txBox="1"/>
          <p:nvPr/>
        </p:nvSpPr>
        <p:spPr>
          <a:xfrm>
            <a:off x="736600" y="3289300"/>
            <a:ext cx="5003800" cy="276999"/>
          </a:xfrm>
          <a:prstGeom prst="rect">
            <a:avLst/>
          </a:prstGeom>
          <a:noFill/>
        </p:spPr>
        <p:txBody>
          <a:bodyPr vert="horz" wrap="square" lIns="0" tIns="0" rIns="0" bIns="0" rtlCol="0">
            <a:noAutofit/>
          </a:bodyPr>
          <a:lstStyle/>
          <a:p>
            <a:pPr>
              <a:spcAft>
                <a:spcPts val="700"/>
              </a:spcAft>
            </a:pPr>
            <a:r>
              <a:rPr lang="en-US" sz="1700">
                <a:solidFill>
                  <a:srgbClr val="F2F6FC"/>
                </a:solidFill>
                <a:latin typeface="Aptos" panose="020B0004020202020204" pitchFamily="34" charset="0"/>
              </a:rPr>
              <a:t>Capture a working baseline.
In an isolated lab, detach one
workload route-table association.
Predict and test the impact.
Restore it; recheck both paths.</a:t>
            </a:r>
          </a:p>
        </p:txBody>
      </p:sp>
      <p:sp>
        <p:nvSpPr>
          <p:cNvPr id="12" name="Rectangle 11">
            <a:extLst>
              <a:ext uri="{FF2B5EF4-FFF2-40B4-BE49-F238E27FC236}">
                <a16:creationId xmlns:a16="http://schemas.microsoft.com/office/drawing/2014/main" id="{C191F6BC-CEBE-8616-8F37-D0B0B32EF3E7}"/>
              </a:ext>
            </a:extLst>
          </p:cNvPr>
          <p:cNvSpPr/>
          <p:nvPr/>
        </p:nvSpPr>
        <p:spPr>
          <a:xfrm>
            <a:off x="6223000" y="2298700"/>
            <a:ext cx="5461000" cy="32004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0939441-91E5-62FF-7062-83C569B96564}"/>
              </a:ext>
            </a:extLst>
          </p:cNvPr>
          <p:cNvSpPr/>
          <p:nvPr/>
        </p:nvSpPr>
        <p:spPr>
          <a:xfrm>
            <a:off x="6223000" y="2298700"/>
            <a:ext cx="50800" cy="3200400"/>
          </a:xfrm>
          <a:prstGeom prst="rect">
            <a:avLst/>
          </a:prstGeom>
          <a:solidFill>
            <a:srgbClr val="FFCA70"/>
          </a:solidFill>
          <a:ln>
            <a:solidFill>
              <a:srgbClr val="FFCA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3595CEBF-1842-87F2-D2DC-44940FDEAC41}"/>
              </a:ext>
            </a:extLst>
          </p:cNvPr>
          <p:cNvSpPr txBox="1"/>
          <p:nvPr/>
        </p:nvSpPr>
        <p:spPr>
          <a:xfrm>
            <a:off x="6451600" y="2514600"/>
            <a:ext cx="5003800" cy="276999"/>
          </a:xfrm>
          <a:prstGeom prst="rect">
            <a:avLst/>
          </a:prstGeom>
          <a:noFill/>
        </p:spPr>
        <p:txBody>
          <a:bodyPr vert="horz" wrap="square" lIns="0" tIns="0" rIns="0" bIns="0" rtlCol="0">
            <a:noAutofit/>
          </a:bodyPr>
          <a:lstStyle/>
          <a:p>
            <a:pPr>
              <a:spcAft>
                <a:spcPts val="700"/>
              </a:spcAft>
            </a:pPr>
            <a:r>
              <a:rPr lang="en-US" sz="2000" b="1">
                <a:solidFill>
                  <a:srgbClr val="FFCA70"/>
                </a:solidFill>
                <a:latin typeface="Aptos" panose="020B0004020202020204" pitchFamily="34" charset="0"/>
              </a:rPr>
              <a:t>CLEAN UP</a:t>
            </a:r>
          </a:p>
        </p:txBody>
      </p:sp>
      <p:sp>
        <p:nvSpPr>
          <p:cNvPr id="15" name="TextBox 14">
            <a:extLst>
              <a:ext uri="{FF2B5EF4-FFF2-40B4-BE49-F238E27FC236}">
                <a16:creationId xmlns:a16="http://schemas.microsoft.com/office/drawing/2014/main" id="{2C39D047-94D6-822A-37B8-55B7FD34E247}"/>
              </a:ext>
            </a:extLst>
          </p:cNvPr>
          <p:cNvSpPr txBox="1"/>
          <p:nvPr/>
        </p:nvSpPr>
        <p:spPr>
          <a:xfrm>
            <a:off x="6451600" y="3289300"/>
            <a:ext cx="5003800" cy="276999"/>
          </a:xfrm>
          <a:prstGeom prst="rect">
            <a:avLst/>
          </a:prstGeom>
          <a:noFill/>
        </p:spPr>
        <p:txBody>
          <a:bodyPr vert="horz" wrap="square" lIns="0" tIns="0" rIns="0" bIns="0" rtlCol="0">
            <a:noAutofit/>
          </a:bodyPr>
          <a:lstStyle/>
          <a:p>
            <a:pPr>
              <a:spcAft>
                <a:spcPts val="700"/>
              </a:spcAft>
            </a:pPr>
            <a:r>
              <a:rPr lang="en-US" sz="1700">
                <a:solidFill>
                  <a:srgbClr val="F2F6FC"/>
                </a:solidFill>
                <a:latin typeface="Aptos" panose="020B0004020202020204" pitchFamily="34" charset="0"/>
              </a:rPr>
              <a:t>From the original lab directory:
terraform plan -destroy
terraform destroy
Review deletions before approval.</a:t>
            </a:r>
          </a:p>
        </p:txBody>
      </p:sp>
      <p:sp>
        <p:nvSpPr>
          <p:cNvPr id="16" name="TextBox 15">
            <a:extLst>
              <a:ext uri="{FF2B5EF4-FFF2-40B4-BE49-F238E27FC236}">
                <a16:creationId xmlns:a16="http://schemas.microsoft.com/office/drawing/2014/main" id="{C9DBFA74-55BF-6256-8526-FACA1AD78927}"/>
              </a:ext>
            </a:extLst>
          </p:cNvPr>
          <p:cNvSpPr txBox="1"/>
          <p:nvPr/>
        </p:nvSpPr>
        <p:spPr>
          <a:xfrm>
            <a:off x="508000" y="5715000"/>
            <a:ext cx="11176000" cy="276999"/>
          </a:xfrm>
          <a:prstGeom prst="rect">
            <a:avLst/>
          </a:prstGeom>
          <a:noFill/>
        </p:spPr>
        <p:txBody>
          <a:bodyPr vert="horz" wrap="square" lIns="0" tIns="0" rIns="0" bIns="0" rtlCol="0">
            <a:noAutofit/>
          </a:bodyPr>
          <a:lstStyle/>
          <a:p>
            <a:pPr>
              <a:spcAft>
                <a:spcPts val="700"/>
              </a:spcAft>
            </a:pPr>
            <a:r>
              <a:rPr lang="en-US" sz="1500" b="1">
                <a:solidFill>
                  <a:srgbClr val="35D4E8"/>
                </a:solidFill>
                <a:latin typeface="Aptos" panose="020B0004020202020204" pitchFamily="34" charset="0"/>
              </a:rPr>
              <a:t>Verify only the intended lab resources are deleted; protect or securely retire local state.</a:t>
            </a:r>
          </a:p>
        </p:txBody>
      </p:sp>
    </p:spTree>
    <p:extLst>
      <p:ext uri="{BB962C8B-B14F-4D97-AF65-F5344CB8AC3E}">
        <p14:creationId xmlns:p14="http://schemas.microsoft.com/office/powerpoint/2010/main" val="12377316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C183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723E24C-F840-CEE5-3FD4-99CEB4D1C2AE}"/>
              </a:ext>
            </a:extLst>
          </p:cNvPr>
          <p:cNvSpPr/>
          <p:nvPr/>
        </p:nvSpPr>
        <p:spPr>
          <a:xfrm>
            <a:off x="0" y="0"/>
            <a:ext cx="12192000" cy="63500"/>
          </a:xfrm>
          <a:prstGeom prst="rect">
            <a:avLst/>
          </a:prstGeom>
          <a:solidFill>
            <a:srgbClr val="35D4E8"/>
          </a:solidFill>
          <a:ln>
            <a:solidFill>
              <a:srgbClr val="35D4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D458D19-FF52-D0CC-43A0-9192824B439F}"/>
              </a:ext>
            </a:extLst>
          </p:cNvPr>
          <p:cNvSpPr txBox="1"/>
          <p:nvPr/>
        </p:nvSpPr>
        <p:spPr>
          <a:xfrm>
            <a:off x="508000" y="292100"/>
            <a:ext cx="10795000" cy="276999"/>
          </a:xfrm>
          <a:prstGeom prst="rect">
            <a:avLst/>
          </a:prstGeom>
          <a:noFill/>
        </p:spPr>
        <p:txBody>
          <a:bodyPr vert="horz" wrap="square" lIns="0" tIns="0" rIns="0" bIns="0" rtlCol="0">
            <a:noAutofit/>
          </a:bodyPr>
          <a:lstStyle/>
          <a:p>
            <a:pPr>
              <a:spcAft>
                <a:spcPts val="700"/>
              </a:spcAft>
            </a:pPr>
            <a:r>
              <a:rPr lang="en-US" sz="1000" b="1">
                <a:solidFill>
                  <a:srgbClr val="35D4E8"/>
                </a:solidFill>
                <a:latin typeface="Aptos" panose="020B0004020202020204" pitchFamily="34" charset="0"/>
              </a:rPr>
              <a:t>18 / RECAP</a:t>
            </a:r>
          </a:p>
        </p:txBody>
      </p:sp>
      <p:sp>
        <p:nvSpPr>
          <p:cNvPr id="4" name="TextBox 3">
            <a:extLst>
              <a:ext uri="{FF2B5EF4-FFF2-40B4-BE49-F238E27FC236}">
                <a16:creationId xmlns:a16="http://schemas.microsoft.com/office/drawing/2014/main" id="{18627E26-2DF0-5551-31F0-C79B5636E196}"/>
              </a:ext>
            </a:extLst>
          </p:cNvPr>
          <p:cNvSpPr txBox="1"/>
          <p:nvPr/>
        </p:nvSpPr>
        <p:spPr>
          <a:xfrm>
            <a:off x="508000" y="723900"/>
            <a:ext cx="11176000" cy="276999"/>
          </a:xfrm>
          <a:prstGeom prst="rect">
            <a:avLst/>
          </a:prstGeom>
          <a:noFill/>
        </p:spPr>
        <p:txBody>
          <a:bodyPr vert="horz" wrap="square" lIns="0" tIns="0" rIns="0" bIns="0" rtlCol="0">
            <a:noAutofit/>
          </a:bodyPr>
          <a:lstStyle/>
          <a:p>
            <a:pPr>
              <a:spcAft>
                <a:spcPts val="700"/>
              </a:spcAft>
            </a:pPr>
            <a:r>
              <a:rPr lang="en-US" sz="3000" b="1">
                <a:solidFill>
                  <a:srgbClr val="F2F6FC"/>
                </a:solidFill>
                <a:latin typeface="Aptos" panose="020B0004020202020204" pitchFamily="34" charset="0"/>
              </a:rPr>
              <a:t>What a successful lab demonstrates</a:t>
            </a:r>
          </a:p>
        </p:txBody>
      </p:sp>
      <p:sp>
        <p:nvSpPr>
          <p:cNvPr id="5" name="Rectangle 4">
            <a:extLst>
              <a:ext uri="{FF2B5EF4-FFF2-40B4-BE49-F238E27FC236}">
                <a16:creationId xmlns:a16="http://schemas.microsoft.com/office/drawing/2014/main" id="{1CAEFCF3-EB04-B22F-62AB-3A529DE72871}"/>
              </a:ext>
            </a:extLst>
          </p:cNvPr>
          <p:cNvSpPr/>
          <p:nvPr/>
        </p:nvSpPr>
        <p:spPr>
          <a:xfrm>
            <a:off x="508000" y="6413500"/>
            <a:ext cx="11176000" cy="12700"/>
          </a:xfrm>
          <a:prstGeom prst="rect">
            <a:avLst/>
          </a:prstGeom>
          <a:solidFill>
            <a:srgbClr val="31415B"/>
          </a:solidFill>
          <a:ln>
            <a:solidFill>
              <a:srgbClr val="3141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248B01C-82CC-B728-83A3-B4E92AA5EC7E}"/>
              </a:ext>
            </a:extLst>
          </p:cNvPr>
          <p:cNvSpPr txBox="1"/>
          <p:nvPr/>
        </p:nvSpPr>
        <p:spPr>
          <a:xfrm>
            <a:off x="508000" y="6553200"/>
            <a:ext cx="8890000" cy="276999"/>
          </a:xfrm>
          <a:prstGeom prst="rect">
            <a:avLst/>
          </a:prstGeom>
          <a:noFill/>
        </p:spPr>
        <p:txBody>
          <a:bodyPr vert="horz" wrap="square" lIns="0" tIns="0" rIns="0" bIns="0" rtlCol="0">
            <a:noAutofit/>
          </a:bodyPr>
          <a:lstStyle/>
          <a:p>
            <a:pPr>
              <a:spcAft>
                <a:spcPts val="700"/>
              </a:spcAft>
            </a:pPr>
            <a:r>
              <a:rPr lang="en-US" sz="900">
                <a:solidFill>
                  <a:srgbClr val="B6C5D9"/>
                </a:solidFill>
                <a:latin typeface="Aptos" panose="020B0004020202020204" pitchFamily="34" charset="0"/>
              </a:rPr>
              <a:t>AZURE NETWORK COURSE  /  LAB 240</a:t>
            </a:r>
          </a:p>
        </p:txBody>
      </p:sp>
      <p:sp>
        <p:nvSpPr>
          <p:cNvPr id="7" name="TextBox 6">
            <a:extLst>
              <a:ext uri="{FF2B5EF4-FFF2-40B4-BE49-F238E27FC236}">
                <a16:creationId xmlns:a16="http://schemas.microsoft.com/office/drawing/2014/main" id="{AAE96803-AC6A-515C-ABD1-4A86AD286837}"/>
              </a:ext>
            </a:extLst>
          </p:cNvPr>
          <p:cNvSpPr txBox="1"/>
          <p:nvPr/>
        </p:nvSpPr>
        <p:spPr>
          <a:xfrm>
            <a:off x="11214100" y="6527800"/>
            <a:ext cx="469900" cy="276999"/>
          </a:xfrm>
          <a:prstGeom prst="rect">
            <a:avLst/>
          </a:prstGeom>
          <a:noFill/>
        </p:spPr>
        <p:txBody>
          <a:bodyPr vert="horz" wrap="square" lIns="0" tIns="0" rIns="0" bIns="0" rtlCol="0">
            <a:noAutofit/>
          </a:bodyPr>
          <a:lstStyle/>
          <a:p>
            <a:pPr>
              <a:spcAft>
                <a:spcPts val="700"/>
              </a:spcAft>
            </a:pPr>
            <a:r>
              <a:rPr lang="en-US" sz="1100" b="1">
                <a:solidFill>
                  <a:srgbClr val="35D4E8"/>
                </a:solidFill>
                <a:latin typeface="Aptos" panose="020B0004020202020204" pitchFamily="34" charset="0"/>
              </a:rPr>
              <a:t>19</a:t>
            </a:r>
          </a:p>
        </p:txBody>
      </p:sp>
      <p:sp>
        <p:nvSpPr>
          <p:cNvPr id="8" name="Rectangle 7">
            <a:extLst>
              <a:ext uri="{FF2B5EF4-FFF2-40B4-BE49-F238E27FC236}">
                <a16:creationId xmlns:a16="http://schemas.microsoft.com/office/drawing/2014/main" id="{26109232-D5FA-0AC5-1442-65854E3FAB4E}"/>
              </a:ext>
            </a:extLst>
          </p:cNvPr>
          <p:cNvSpPr/>
          <p:nvPr/>
        </p:nvSpPr>
        <p:spPr>
          <a:xfrm>
            <a:off x="508000" y="2324100"/>
            <a:ext cx="3556000" cy="32385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2D50E17-713D-4C4A-AB7C-0D07E158E683}"/>
              </a:ext>
            </a:extLst>
          </p:cNvPr>
          <p:cNvSpPr/>
          <p:nvPr/>
        </p:nvSpPr>
        <p:spPr>
          <a:xfrm>
            <a:off x="508000" y="2324100"/>
            <a:ext cx="50800" cy="3238500"/>
          </a:xfrm>
          <a:prstGeom prst="rect">
            <a:avLst/>
          </a:prstGeom>
          <a:solidFill>
            <a:srgbClr val="35D4E8"/>
          </a:solidFill>
          <a:ln>
            <a:solidFill>
              <a:srgbClr val="35D4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009119F-9A5F-E6FC-D9AD-02F24EDE771D}"/>
              </a:ext>
            </a:extLst>
          </p:cNvPr>
          <p:cNvSpPr txBox="1"/>
          <p:nvPr/>
        </p:nvSpPr>
        <p:spPr>
          <a:xfrm>
            <a:off x="736600" y="2540000"/>
            <a:ext cx="3098800" cy="276999"/>
          </a:xfrm>
          <a:prstGeom prst="rect">
            <a:avLst/>
          </a:prstGeom>
          <a:noFill/>
        </p:spPr>
        <p:txBody>
          <a:bodyPr vert="horz" wrap="square" lIns="0" tIns="0" rIns="0" bIns="0" rtlCol="0">
            <a:noAutofit/>
          </a:bodyPr>
          <a:lstStyle/>
          <a:p>
            <a:pPr>
              <a:spcAft>
                <a:spcPts val="700"/>
              </a:spcAft>
            </a:pPr>
            <a:r>
              <a:rPr lang="en-US" sz="2000" b="1">
                <a:solidFill>
                  <a:srgbClr val="35D4E8"/>
                </a:solidFill>
                <a:latin typeface="Aptos" panose="020B0004020202020204" pitchFamily="34" charset="0"/>
              </a:rPr>
              <a:t>DESIGN</a:t>
            </a:r>
          </a:p>
        </p:txBody>
      </p:sp>
      <p:sp>
        <p:nvSpPr>
          <p:cNvPr id="11" name="TextBox 10">
            <a:extLst>
              <a:ext uri="{FF2B5EF4-FFF2-40B4-BE49-F238E27FC236}">
                <a16:creationId xmlns:a16="http://schemas.microsoft.com/office/drawing/2014/main" id="{6AE44BF6-6EFB-0CAC-2A8D-4A54A6454096}"/>
              </a:ext>
            </a:extLst>
          </p:cNvPr>
          <p:cNvSpPr txBox="1"/>
          <p:nvPr/>
        </p:nvSpPr>
        <p:spPr>
          <a:xfrm>
            <a:off x="736600" y="3314700"/>
            <a:ext cx="3098800" cy="276999"/>
          </a:xfrm>
          <a:prstGeom prst="rect">
            <a:avLst/>
          </a:prstGeom>
          <a:noFill/>
        </p:spPr>
        <p:txBody>
          <a:bodyPr vert="horz" wrap="square" lIns="0" tIns="0" rIns="0" bIns="0" rtlCol="0">
            <a:noAutofit/>
          </a:bodyPr>
          <a:lstStyle/>
          <a:p>
            <a:pPr>
              <a:spcAft>
                <a:spcPts val="700"/>
              </a:spcAft>
            </a:pPr>
            <a:r>
              <a:rPr lang="en-US" sz="1700">
                <a:solidFill>
                  <a:srgbClr val="F2F6FC"/>
                </a:solidFill>
                <a:latin typeface="Aptos" panose="020B0004020202020204" pitchFamily="34" charset="0"/>
              </a:rPr>
              <a:t>Managed hub forwarding
Dedicated appliance subnet
Two private workload spokes
No firewall VM required</a:t>
            </a:r>
          </a:p>
        </p:txBody>
      </p:sp>
      <p:sp>
        <p:nvSpPr>
          <p:cNvPr id="12" name="Rectangle 11">
            <a:extLst>
              <a:ext uri="{FF2B5EF4-FFF2-40B4-BE49-F238E27FC236}">
                <a16:creationId xmlns:a16="http://schemas.microsoft.com/office/drawing/2014/main" id="{DF4A8F0B-74AB-A39B-43E7-74E3554259DC}"/>
              </a:ext>
            </a:extLst>
          </p:cNvPr>
          <p:cNvSpPr/>
          <p:nvPr/>
        </p:nvSpPr>
        <p:spPr>
          <a:xfrm>
            <a:off x="4318000" y="2324100"/>
            <a:ext cx="3556000" cy="32385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45DD0A0-831A-E895-870F-9FF74534194E}"/>
              </a:ext>
            </a:extLst>
          </p:cNvPr>
          <p:cNvSpPr/>
          <p:nvPr/>
        </p:nvSpPr>
        <p:spPr>
          <a:xfrm>
            <a:off x="4318000" y="2324100"/>
            <a:ext cx="50800" cy="3238500"/>
          </a:xfrm>
          <a:prstGeom prst="rect">
            <a:avLst/>
          </a:prstGeom>
          <a:solidFill>
            <a:srgbClr val="35D4E8"/>
          </a:solidFill>
          <a:ln>
            <a:solidFill>
              <a:srgbClr val="35D4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FA941EE4-60B9-C2BA-2D6C-2085629AB1F6}"/>
              </a:ext>
            </a:extLst>
          </p:cNvPr>
          <p:cNvSpPr txBox="1"/>
          <p:nvPr/>
        </p:nvSpPr>
        <p:spPr>
          <a:xfrm>
            <a:off x="4546600" y="2540000"/>
            <a:ext cx="3098800" cy="276999"/>
          </a:xfrm>
          <a:prstGeom prst="rect">
            <a:avLst/>
          </a:prstGeom>
          <a:noFill/>
        </p:spPr>
        <p:txBody>
          <a:bodyPr vert="horz" wrap="square" lIns="0" tIns="0" rIns="0" bIns="0" rtlCol="0">
            <a:noAutofit/>
          </a:bodyPr>
          <a:lstStyle/>
          <a:p>
            <a:pPr>
              <a:spcAft>
                <a:spcPts val="700"/>
              </a:spcAft>
            </a:pPr>
            <a:r>
              <a:rPr lang="en-US" sz="2000" b="1">
                <a:solidFill>
                  <a:srgbClr val="35D4E8"/>
                </a:solidFill>
                <a:latin typeface="Aptos" panose="020B0004020202020204" pitchFamily="34" charset="0"/>
              </a:rPr>
              <a:t>CONTROL</a:t>
            </a:r>
          </a:p>
        </p:txBody>
      </p:sp>
      <p:sp>
        <p:nvSpPr>
          <p:cNvPr id="15" name="TextBox 14">
            <a:extLst>
              <a:ext uri="{FF2B5EF4-FFF2-40B4-BE49-F238E27FC236}">
                <a16:creationId xmlns:a16="http://schemas.microsoft.com/office/drawing/2014/main" id="{97B14DE1-0317-2202-1E8B-2B61CABE49E8}"/>
              </a:ext>
            </a:extLst>
          </p:cNvPr>
          <p:cNvSpPr txBox="1"/>
          <p:nvPr/>
        </p:nvSpPr>
        <p:spPr>
          <a:xfrm>
            <a:off x="4546600" y="3314700"/>
            <a:ext cx="3098800" cy="276999"/>
          </a:xfrm>
          <a:prstGeom prst="rect">
            <a:avLst/>
          </a:prstGeom>
          <a:noFill/>
        </p:spPr>
        <p:txBody>
          <a:bodyPr vert="horz" wrap="square" lIns="0" tIns="0" rIns="0" bIns="0" rtlCol="0">
            <a:noAutofit/>
          </a:bodyPr>
          <a:lstStyle/>
          <a:p>
            <a:pPr>
              <a:spcAft>
                <a:spcPts val="700"/>
              </a:spcAft>
            </a:pPr>
            <a:r>
              <a:rPr lang="en-US" sz="1700">
                <a:solidFill>
                  <a:srgbClr val="F2F6FC"/>
                </a:solidFill>
                <a:latin typeface="Aptos" panose="020B0004020202020204" pitchFamily="34" charset="0"/>
              </a:rPr>
              <a:t>Four directional peerings
Forwarded traffic permitted
10.0.0.0/8 UDR on each spoke
Appliance IP as next hop</a:t>
            </a:r>
          </a:p>
        </p:txBody>
      </p:sp>
      <p:sp>
        <p:nvSpPr>
          <p:cNvPr id="16" name="Rectangle 15">
            <a:extLst>
              <a:ext uri="{FF2B5EF4-FFF2-40B4-BE49-F238E27FC236}">
                <a16:creationId xmlns:a16="http://schemas.microsoft.com/office/drawing/2014/main" id="{6BD8C70F-FF75-1206-18BD-B11C02104271}"/>
              </a:ext>
            </a:extLst>
          </p:cNvPr>
          <p:cNvSpPr/>
          <p:nvPr/>
        </p:nvSpPr>
        <p:spPr>
          <a:xfrm>
            <a:off x="8128000" y="2324100"/>
            <a:ext cx="3556000" cy="3238500"/>
          </a:xfrm>
          <a:prstGeom prst="rect">
            <a:avLst/>
          </a:prstGeom>
          <a:solidFill>
            <a:srgbClr val="152743"/>
          </a:solidFill>
          <a:ln>
            <a:solidFill>
              <a:srgbClr val="1527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5275903-A9B7-DE3F-909A-F41A154A02D1}"/>
              </a:ext>
            </a:extLst>
          </p:cNvPr>
          <p:cNvSpPr/>
          <p:nvPr/>
        </p:nvSpPr>
        <p:spPr>
          <a:xfrm>
            <a:off x="8128000" y="2324100"/>
            <a:ext cx="50800" cy="3238500"/>
          </a:xfrm>
          <a:prstGeom prst="rect">
            <a:avLst/>
          </a:prstGeom>
          <a:solidFill>
            <a:srgbClr val="35D4E8"/>
          </a:solidFill>
          <a:ln>
            <a:solidFill>
              <a:srgbClr val="35D4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528A3BDF-90C8-A50C-C7FA-9A0A7BF1F9FF}"/>
              </a:ext>
            </a:extLst>
          </p:cNvPr>
          <p:cNvSpPr txBox="1"/>
          <p:nvPr/>
        </p:nvSpPr>
        <p:spPr>
          <a:xfrm>
            <a:off x="8356600" y="2540000"/>
            <a:ext cx="3098800" cy="276999"/>
          </a:xfrm>
          <a:prstGeom prst="rect">
            <a:avLst/>
          </a:prstGeom>
          <a:noFill/>
        </p:spPr>
        <p:txBody>
          <a:bodyPr vert="horz" wrap="square" lIns="0" tIns="0" rIns="0" bIns="0" rtlCol="0">
            <a:noAutofit/>
          </a:bodyPr>
          <a:lstStyle/>
          <a:p>
            <a:pPr>
              <a:spcAft>
                <a:spcPts val="700"/>
              </a:spcAft>
            </a:pPr>
            <a:r>
              <a:rPr lang="en-US" sz="2000" b="1">
                <a:solidFill>
                  <a:srgbClr val="35D4E8"/>
                </a:solidFill>
                <a:latin typeface="Aptos" panose="020B0004020202020204" pitchFamily="34" charset="0"/>
              </a:rPr>
              <a:t>EVIDENCE</a:t>
            </a:r>
          </a:p>
        </p:txBody>
      </p:sp>
      <p:sp>
        <p:nvSpPr>
          <p:cNvPr id="19" name="TextBox 18">
            <a:extLst>
              <a:ext uri="{FF2B5EF4-FFF2-40B4-BE49-F238E27FC236}">
                <a16:creationId xmlns:a16="http://schemas.microsoft.com/office/drawing/2014/main" id="{BB6781F9-7CC2-95C1-8CC6-E9BC3D7081EA}"/>
              </a:ext>
            </a:extLst>
          </p:cNvPr>
          <p:cNvSpPr txBox="1"/>
          <p:nvPr/>
        </p:nvSpPr>
        <p:spPr>
          <a:xfrm>
            <a:off x="8356600" y="3314700"/>
            <a:ext cx="3098800" cy="276999"/>
          </a:xfrm>
          <a:prstGeom prst="rect">
            <a:avLst/>
          </a:prstGeom>
          <a:noFill/>
        </p:spPr>
        <p:txBody>
          <a:bodyPr vert="horz" wrap="square" lIns="0" tIns="0" rIns="0" bIns="0" rtlCol="0">
            <a:noAutofit/>
          </a:bodyPr>
          <a:lstStyle/>
          <a:p>
            <a:pPr>
              <a:spcAft>
                <a:spcPts val="700"/>
              </a:spcAft>
            </a:pPr>
            <a:r>
              <a:rPr lang="en-US" sz="1700">
                <a:solidFill>
                  <a:srgbClr val="F2F6FC"/>
                </a:solidFill>
                <a:latin typeface="Aptos" panose="020B0004020202020204" pitchFamily="34" charset="0"/>
              </a:rPr>
              <a:t>Successful bidirectional tests
Active effective UDRs
Matching next-hop IP
Optional metric correlation</a:t>
            </a:r>
          </a:p>
        </p:txBody>
      </p:sp>
      <p:sp>
        <p:nvSpPr>
          <p:cNvPr id="20" name="TextBox 19">
            <a:extLst>
              <a:ext uri="{FF2B5EF4-FFF2-40B4-BE49-F238E27FC236}">
                <a16:creationId xmlns:a16="http://schemas.microsoft.com/office/drawing/2014/main" id="{08BA0A0C-199C-3129-102D-2C2EC414AAFC}"/>
              </a:ext>
            </a:extLst>
          </p:cNvPr>
          <p:cNvSpPr txBox="1"/>
          <p:nvPr/>
        </p:nvSpPr>
        <p:spPr>
          <a:xfrm>
            <a:off x="508000" y="5727700"/>
            <a:ext cx="11176000" cy="276999"/>
          </a:xfrm>
          <a:prstGeom prst="rect">
            <a:avLst/>
          </a:prstGeom>
          <a:noFill/>
        </p:spPr>
        <p:txBody>
          <a:bodyPr vert="horz" wrap="square" lIns="0" tIns="0" rIns="0" bIns="0" rtlCol="0">
            <a:noAutofit/>
          </a:bodyPr>
          <a:lstStyle/>
          <a:p>
            <a:pPr>
              <a:spcAft>
                <a:spcPts val="700"/>
              </a:spcAft>
            </a:pPr>
            <a:r>
              <a:rPr lang="en-US" sz="1500" b="1">
                <a:solidFill>
                  <a:srgbClr val="35D4E8"/>
                </a:solidFill>
                <a:latin typeface="Aptos" panose="020B0004020202020204" pitchFamily="34" charset="0"/>
              </a:rPr>
              <a:t>Connectivity + route evidence = a defensible lab result.</a:t>
            </a:r>
          </a:p>
        </p:txBody>
      </p:sp>
    </p:spTree>
    <p:extLst>
      <p:ext uri="{BB962C8B-B14F-4D97-AF65-F5344CB8AC3E}">
        <p14:creationId xmlns:p14="http://schemas.microsoft.com/office/powerpoint/2010/main" val="12499789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C183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D03C151-4391-83D4-25BE-F8F56EEBD62E}"/>
              </a:ext>
            </a:extLst>
          </p:cNvPr>
          <p:cNvSpPr/>
          <p:nvPr/>
        </p:nvSpPr>
        <p:spPr>
          <a:xfrm>
            <a:off x="0" y="0"/>
            <a:ext cx="12192000" cy="63500"/>
          </a:xfrm>
          <a:prstGeom prst="rect">
            <a:avLst/>
          </a:prstGeom>
          <a:solidFill>
            <a:srgbClr val="35D4E8"/>
          </a:solidFill>
          <a:ln>
            <a:solidFill>
              <a:srgbClr val="35D4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BF2A689-FA44-9D4F-3025-6C538FB96014}"/>
              </a:ext>
            </a:extLst>
          </p:cNvPr>
          <p:cNvSpPr txBox="1"/>
          <p:nvPr/>
        </p:nvSpPr>
        <p:spPr>
          <a:xfrm>
            <a:off x="508000" y="292100"/>
            <a:ext cx="10795000" cy="276999"/>
          </a:xfrm>
          <a:prstGeom prst="rect">
            <a:avLst/>
          </a:prstGeom>
          <a:noFill/>
        </p:spPr>
        <p:txBody>
          <a:bodyPr vert="horz" wrap="square" lIns="0" tIns="0" rIns="0" bIns="0" rtlCol="0">
            <a:noAutofit/>
          </a:bodyPr>
          <a:lstStyle/>
          <a:p>
            <a:pPr>
              <a:spcAft>
                <a:spcPts val="700"/>
              </a:spcAft>
            </a:pPr>
            <a:r>
              <a:rPr lang="en-US" sz="1000" b="1">
                <a:solidFill>
                  <a:srgbClr val="35D4E8"/>
                </a:solidFill>
                <a:latin typeface="Aptos" panose="020B0004020202020204" pitchFamily="34" charset="0"/>
              </a:rPr>
              <a:t>REFERENCES / INSTRUCTOR NOTES</a:t>
            </a:r>
          </a:p>
        </p:txBody>
      </p:sp>
      <p:sp>
        <p:nvSpPr>
          <p:cNvPr id="4" name="TextBox 3">
            <a:extLst>
              <a:ext uri="{FF2B5EF4-FFF2-40B4-BE49-F238E27FC236}">
                <a16:creationId xmlns:a16="http://schemas.microsoft.com/office/drawing/2014/main" id="{049CDC5C-8D84-2AF4-7A8E-C828E2EBE054}"/>
              </a:ext>
            </a:extLst>
          </p:cNvPr>
          <p:cNvSpPr txBox="1"/>
          <p:nvPr/>
        </p:nvSpPr>
        <p:spPr>
          <a:xfrm>
            <a:off x="508000" y="723900"/>
            <a:ext cx="11176000" cy="276999"/>
          </a:xfrm>
          <a:prstGeom prst="rect">
            <a:avLst/>
          </a:prstGeom>
          <a:noFill/>
        </p:spPr>
        <p:txBody>
          <a:bodyPr vert="horz" wrap="square" lIns="0" tIns="0" rIns="0" bIns="0" rtlCol="0">
            <a:noAutofit/>
          </a:bodyPr>
          <a:lstStyle/>
          <a:p>
            <a:pPr>
              <a:spcAft>
                <a:spcPts val="700"/>
              </a:spcAft>
            </a:pPr>
            <a:r>
              <a:rPr lang="en-US" sz="3000" b="1">
                <a:solidFill>
                  <a:srgbClr val="F2F6FC"/>
                </a:solidFill>
                <a:latin typeface="Aptos" panose="020B0004020202020204" pitchFamily="34" charset="0"/>
              </a:rPr>
              <a:t>Sources and lab-specific caveats</a:t>
            </a:r>
          </a:p>
        </p:txBody>
      </p:sp>
      <p:sp>
        <p:nvSpPr>
          <p:cNvPr id="5" name="TextBox 4">
            <a:extLst>
              <a:ext uri="{FF2B5EF4-FFF2-40B4-BE49-F238E27FC236}">
                <a16:creationId xmlns:a16="http://schemas.microsoft.com/office/drawing/2014/main" id="{AD2A81BE-077D-9160-51BC-9F0DE70BEB55}"/>
              </a:ext>
            </a:extLst>
          </p:cNvPr>
          <p:cNvSpPr txBox="1"/>
          <p:nvPr/>
        </p:nvSpPr>
        <p:spPr>
          <a:xfrm>
            <a:off x="508000" y="1562100"/>
            <a:ext cx="11176000" cy="276999"/>
          </a:xfrm>
          <a:prstGeom prst="rect">
            <a:avLst/>
          </a:prstGeom>
          <a:noFill/>
        </p:spPr>
        <p:txBody>
          <a:bodyPr vert="horz" wrap="square" lIns="0" tIns="0" rIns="0" bIns="0" rtlCol="0">
            <a:noAutofit/>
          </a:bodyPr>
          <a:lstStyle/>
          <a:p>
            <a:pPr>
              <a:spcAft>
                <a:spcPts val="700"/>
              </a:spcAft>
            </a:pPr>
            <a:r>
              <a:rPr lang="en-US" sz="1400">
                <a:solidFill>
                  <a:srgbClr val="B6C5D9"/>
                </a:solidFill>
                <a:latin typeface="Aptos" panose="020B0004020202020204" pitchFamily="34" charset="0"/>
              </a:rPr>
              <a:t>Configuration reviewed: 24 October 2026. No Azure resources were deployed to prepare this deck.</a:t>
            </a:r>
          </a:p>
        </p:txBody>
      </p:sp>
      <p:sp>
        <p:nvSpPr>
          <p:cNvPr id="6" name="Rectangle 5">
            <a:extLst>
              <a:ext uri="{FF2B5EF4-FFF2-40B4-BE49-F238E27FC236}">
                <a16:creationId xmlns:a16="http://schemas.microsoft.com/office/drawing/2014/main" id="{34209715-73E3-C422-7912-7B9935C8EEF4}"/>
              </a:ext>
            </a:extLst>
          </p:cNvPr>
          <p:cNvSpPr/>
          <p:nvPr/>
        </p:nvSpPr>
        <p:spPr>
          <a:xfrm>
            <a:off x="508000" y="6413500"/>
            <a:ext cx="11176000" cy="12700"/>
          </a:xfrm>
          <a:prstGeom prst="rect">
            <a:avLst/>
          </a:prstGeom>
          <a:solidFill>
            <a:srgbClr val="31415B"/>
          </a:solidFill>
          <a:ln>
            <a:solidFill>
              <a:srgbClr val="3141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8ADFC34-EC69-4057-D7C9-125200A4765B}"/>
              </a:ext>
            </a:extLst>
          </p:cNvPr>
          <p:cNvSpPr txBox="1"/>
          <p:nvPr/>
        </p:nvSpPr>
        <p:spPr>
          <a:xfrm>
            <a:off x="508000" y="6553200"/>
            <a:ext cx="8890000" cy="276999"/>
          </a:xfrm>
          <a:prstGeom prst="rect">
            <a:avLst/>
          </a:prstGeom>
          <a:noFill/>
        </p:spPr>
        <p:txBody>
          <a:bodyPr vert="horz" wrap="square" lIns="0" tIns="0" rIns="0" bIns="0" rtlCol="0">
            <a:noAutofit/>
          </a:bodyPr>
          <a:lstStyle/>
          <a:p>
            <a:pPr>
              <a:spcAft>
                <a:spcPts val="700"/>
              </a:spcAft>
            </a:pPr>
            <a:r>
              <a:rPr lang="en-US" sz="900">
                <a:solidFill>
                  <a:srgbClr val="B6C5D9"/>
                </a:solidFill>
                <a:latin typeface="Aptos" panose="020B0004020202020204" pitchFamily="34" charset="0"/>
              </a:rPr>
              <a:t>AZURE NETWORK COURSE  /  LAB 240</a:t>
            </a:r>
          </a:p>
        </p:txBody>
      </p:sp>
      <p:sp>
        <p:nvSpPr>
          <p:cNvPr id="8" name="TextBox 7">
            <a:extLst>
              <a:ext uri="{FF2B5EF4-FFF2-40B4-BE49-F238E27FC236}">
                <a16:creationId xmlns:a16="http://schemas.microsoft.com/office/drawing/2014/main" id="{E5130DA6-A1AA-7E83-0916-51BE6B67768B}"/>
              </a:ext>
            </a:extLst>
          </p:cNvPr>
          <p:cNvSpPr txBox="1"/>
          <p:nvPr/>
        </p:nvSpPr>
        <p:spPr>
          <a:xfrm>
            <a:off x="11214100" y="6527800"/>
            <a:ext cx="469900" cy="276999"/>
          </a:xfrm>
          <a:prstGeom prst="rect">
            <a:avLst/>
          </a:prstGeom>
          <a:noFill/>
        </p:spPr>
        <p:txBody>
          <a:bodyPr vert="horz" wrap="square" lIns="0" tIns="0" rIns="0" bIns="0" rtlCol="0">
            <a:noAutofit/>
          </a:bodyPr>
          <a:lstStyle/>
          <a:p>
            <a:pPr>
              <a:spcAft>
                <a:spcPts val="700"/>
              </a:spcAft>
            </a:pPr>
            <a:r>
              <a:rPr lang="en-US" sz="1100" b="1">
                <a:solidFill>
                  <a:srgbClr val="35D4E8"/>
                </a:solidFill>
                <a:latin typeface="Aptos" panose="020B0004020202020204" pitchFamily="34" charset="0"/>
              </a:rPr>
              <a:t>20</a:t>
            </a:r>
          </a:p>
        </p:txBody>
      </p:sp>
      <p:sp>
        <p:nvSpPr>
          <p:cNvPr id="9" name="TextBox 8">
            <a:extLst>
              <a:ext uri="{FF2B5EF4-FFF2-40B4-BE49-F238E27FC236}">
                <a16:creationId xmlns:a16="http://schemas.microsoft.com/office/drawing/2014/main" id="{870CE475-D354-7271-1602-51591EA467DC}"/>
              </a:ext>
            </a:extLst>
          </p:cNvPr>
          <p:cNvSpPr txBox="1"/>
          <p:nvPr/>
        </p:nvSpPr>
        <p:spPr>
          <a:xfrm>
            <a:off x="508000" y="2286000"/>
            <a:ext cx="3810000" cy="276999"/>
          </a:xfrm>
          <a:prstGeom prst="rect">
            <a:avLst/>
          </a:prstGeom>
          <a:noFill/>
        </p:spPr>
        <p:txBody>
          <a:bodyPr vert="horz" wrap="square" lIns="0" tIns="0" rIns="0" bIns="0" rtlCol="0">
            <a:noAutofit/>
          </a:bodyPr>
          <a:lstStyle/>
          <a:p>
            <a:pPr>
              <a:spcAft>
                <a:spcPts val="700"/>
              </a:spcAft>
            </a:pPr>
            <a:r>
              <a:rPr lang="en-US" sz="1700" b="1">
                <a:solidFill>
                  <a:srgbClr val="35D4E8"/>
                </a:solidFill>
                <a:latin typeface="Aptos" panose="020B0004020202020204" pitchFamily="34" charset="0"/>
              </a:rPr>
              <a:t>Lab source</a:t>
            </a:r>
          </a:p>
        </p:txBody>
      </p:sp>
      <p:sp>
        <p:nvSpPr>
          <p:cNvPr id="10" name="TextBox 9">
            <a:extLst>
              <a:ext uri="{FF2B5EF4-FFF2-40B4-BE49-F238E27FC236}">
                <a16:creationId xmlns:a16="http://schemas.microsoft.com/office/drawing/2014/main" id="{75A1F8DE-A6CC-B80B-6752-DED8F2A20E45}"/>
              </a:ext>
            </a:extLst>
          </p:cNvPr>
          <p:cNvSpPr txBox="1"/>
          <p:nvPr/>
        </p:nvSpPr>
        <p:spPr>
          <a:xfrm>
            <a:off x="4381500" y="2286000"/>
            <a:ext cx="7302500" cy="276999"/>
          </a:xfrm>
          <a:prstGeom prst="rect">
            <a:avLst/>
          </a:prstGeom>
          <a:noFill/>
        </p:spPr>
        <p:txBody>
          <a:bodyPr vert="horz" wrap="square" lIns="0" tIns="0" rIns="0" bIns="0" rtlCol="0">
            <a:noAutofit/>
          </a:bodyPr>
          <a:lstStyle/>
          <a:p>
            <a:pPr>
              <a:spcAft>
                <a:spcPts val="700"/>
              </a:spcAft>
            </a:pPr>
            <a:r>
              <a:rPr lang="en-US" sz="1600">
                <a:solidFill>
                  <a:srgbClr val="F2F6FC"/>
                </a:solidFill>
                <a:latin typeface="Aptos" panose="020B0004020202020204" pitchFamily="34" charset="0"/>
              </a:rPr>
              <a:t>240_vnet_routing_appliance (Terraform files)</a:t>
            </a:r>
          </a:p>
        </p:txBody>
      </p:sp>
      <p:sp>
        <p:nvSpPr>
          <p:cNvPr id="11" name="TextBox 10">
            <a:extLst>
              <a:ext uri="{FF2B5EF4-FFF2-40B4-BE49-F238E27FC236}">
                <a16:creationId xmlns:a16="http://schemas.microsoft.com/office/drawing/2014/main" id="{0D2E221D-4D4B-EE3B-1CFE-419A8BF65FFA}"/>
              </a:ext>
            </a:extLst>
          </p:cNvPr>
          <p:cNvSpPr txBox="1"/>
          <p:nvPr/>
        </p:nvSpPr>
        <p:spPr>
          <a:xfrm>
            <a:off x="508000" y="2895600"/>
            <a:ext cx="3810000" cy="276999"/>
          </a:xfrm>
          <a:prstGeom prst="rect">
            <a:avLst/>
          </a:prstGeom>
          <a:noFill/>
        </p:spPr>
        <p:txBody>
          <a:bodyPr vert="horz" wrap="square" lIns="0" tIns="0" rIns="0" bIns="0" rtlCol="0">
            <a:noAutofit/>
          </a:bodyPr>
          <a:lstStyle/>
          <a:p>
            <a:pPr>
              <a:spcAft>
                <a:spcPts val="700"/>
              </a:spcAft>
            </a:pPr>
            <a:r>
              <a:rPr lang="en-US" sz="1700" b="1">
                <a:solidFill>
                  <a:srgbClr val="35D4E8"/>
                </a:solidFill>
                <a:latin typeface="Aptos" panose="020B0004020202020204" pitchFamily="34" charset="0"/>
              </a:rPr>
              <a:t>Managed service overview</a:t>
            </a:r>
          </a:p>
        </p:txBody>
      </p:sp>
      <p:sp>
        <p:nvSpPr>
          <p:cNvPr id="12" name="TextBox 11">
            <a:hlinkClick r:id="rId3"/>
            <a:extLst>
              <a:ext uri="{FF2B5EF4-FFF2-40B4-BE49-F238E27FC236}">
                <a16:creationId xmlns:a16="http://schemas.microsoft.com/office/drawing/2014/main" id="{17E2510A-7BBD-7677-46D6-3B05D153193F}"/>
              </a:ext>
            </a:extLst>
          </p:cNvPr>
          <p:cNvSpPr txBox="1"/>
          <p:nvPr/>
        </p:nvSpPr>
        <p:spPr>
          <a:xfrm>
            <a:off x="4381500" y="2895600"/>
            <a:ext cx="7302500" cy="276999"/>
          </a:xfrm>
          <a:prstGeom prst="rect">
            <a:avLst/>
          </a:prstGeom>
          <a:noFill/>
        </p:spPr>
        <p:txBody>
          <a:bodyPr vert="horz" wrap="square" lIns="0" tIns="0" rIns="0" bIns="0" rtlCol="0">
            <a:noAutofit/>
          </a:bodyPr>
          <a:lstStyle/>
          <a:p>
            <a:pPr>
              <a:spcAft>
                <a:spcPts val="700"/>
              </a:spcAft>
            </a:pPr>
            <a:r>
              <a:rPr lang="en-US" sz="1600">
                <a:solidFill>
                  <a:srgbClr val="F2F6FC"/>
                </a:solidFill>
                <a:latin typeface="Aptos" panose="020B0004020202020204" pitchFamily="34" charset="0"/>
              </a:rPr>
              <a:t>Capabilities, bandwidth, monitoring, limitations</a:t>
            </a:r>
          </a:p>
        </p:txBody>
      </p:sp>
      <p:sp>
        <p:nvSpPr>
          <p:cNvPr id="13" name="TextBox 12">
            <a:extLst>
              <a:ext uri="{FF2B5EF4-FFF2-40B4-BE49-F238E27FC236}">
                <a16:creationId xmlns:a16="http://schemas.microsoft.com/office/drawing/2014/main" id="{B6A5D3AF-8153-2B15-8E61-9587E60E4F20}"/>
              </a:ext>
            </a:extLst>
          </p:cNvPr>
          <p:cNvSpPr txBox="1"/>
          <p:nvPr/>
        </p:nvSpPr>
        <p:spPr>
          <a:xfrm>
            <a:off x="508000" y="3505200"/>
            <a:ext cx="3810000" cy="276999"/>
          </a:xfrm>
          <a:prstGeom prst="rect">
            <a:avLst/>
          </a:prstGeom>
          <a:noFill/>
        </p:spPr>
        <p:txBody>
          <a:bodyPr vert="horz" wrap="square" lIns="0" tIns="0" rIns="0" bIns="0" rtlCol="0">
            <a:noAutofit/>
          </a:bodyPr>
          <a:lstStyle/>
          <a:p>
            <a:pPr>
              <a:spcAft>
                <a:spcPts val="700"/>
              </a:spcAft>
            </a:pPr>
            <a:r>
              <a:rPr lang="en-US" sz="1700" b="1">
                <a:solidFill>
                  <a:srgbClr val="35D4E8"/>
                </a:solidFill>
                <a:latin typeface="Aptos" panose="020B0004020202020204" pitchFamily="34" charset="0"/>
              </a:rPr>
              <a:t>ARM / AzAPI resource reference</a:t>
            </a:r>
          </a:p>
        </p:txBody>
      </p:sp>
      <p:sp>
        <p:nvSpPr>
          <p:cNvPr id="14" name="TextBox 13">
            <a:hlinkClick r:id="rId4"/>
            <a:extLst>
              <a:ext uri="{FF2B5EF4-FFF2-40B4-BE49-F238E27FC236}">
                <a16:creationId xmlns:a16="http://schemas.microsoft.com/office/drawing/2014/main" id="{B1DE4607-FE01-732D-E83D-F9B5A5A68BDD}"/>
              </a:ext>
            </a:extLst>
          </p:cNvPr>
          <p:cNvSpPr txBox="1"/>
          <p:nvPr/>
        </p:nvSpPr>
        <p:spPr>
          <a:xfrm>
            <a:off x="4381500" y="3505200"/>
            <a:ext cx="7302500" cy="276999"/>
          </a:xfrm>
          <a:prstGeom prst="rect">
            <a:avLst/>
          </a:prstGeom>
          <a:noFill/>
        </p:spPr>
        <p:txBody>
          <a:bodyPr vert="horz" wrap="square" lIns="0" tIns="0" rIns="0" bIns="0" rtlCol="0">
            <a:noAutofit/>
          </a:bodyPr>
          <a:lstStyle/>
          <a:p>
            <a:pPr>
              <a:spcAft>
                <a:spcPts val="700"/>
              </a:spcAft>
            </a:pPr>
            <a:r>
              <a:rPr lang="en-US" sz="1600">
                <a:solidFill>
                  <a:srgbClr val="F2F6FC"/>
                </a:solidFill>
                <a:latin typeface="Aptos" panose="020B0004020202020204" pitchFamily="34" charset="0"/>
              </a:rPr>
              <a:t>Microsoft.Network/virtualNetworkAppliances</a:t>
            </a:r>
          </a:p>
        </p:txBody>
      </p:sp>
      <p:sp>
        <p:nvSpPr>
          <p:cNvPr id="15" name="TextBox 14">
            <a:extLst>
              <a:ext uri="{FF2B5EF4-FFF2-40B4-BE49-F238E27FC236}">
                <a16:creationId xmlns:a16="http://schemas.microsoft.com/office/drawing/2014/main" id="{8CD9A231-445F-F4E2-951E-275AF0ED336D}"/>
              </a:ext>
            </a:extLst>
          </p:cNvPr>
          <p:cNvSpPr txBox="1"/>
          <p:nvPr/>
        </p:nvSpPr>
        <p:spPr>
          <a:xfrm>
            <a:off x="508000" y="4114800"/>
            <a:ext cx="3810000" cy="276999"/>
          </a:xfrm>
          <a:prstGeom prst="rect">
            <a:avLst/>
          </a:prstGeom>
          <a:noFill/>
        </p:spPr>
        <p:txBody>
          <a:bodyPr vert="horz" wrap="square" lIns="0" tIns="0" rIns="0" bIns="0" rtlCol="0">
            <a:noAutofit/>
          </a:bodyPr>
          <a:lstStyle/>
          <a:p>
            <a:pPr>
              <a:spcAft>
                <a:spcPts val="700"/>
              </a:spcAft>
            </a:pPr>
            <a:r>
              <a:rPr lang="en-US" sz="1700" b="1">
                <a:solidFill>
                  <a:srgbClr val="35D4E8"/>
                </a:solidFill>
                <a:latin typeface="Aptos" panose="020B0004020202020204" pitchFamily="34" charset="0"/>
              </a:rPr>
              <a:t>Azure routing documentation</a:t>
            </a:r>
          </a:p>
        </p:txBody>
      </p:sp>
      <p:sp>
        <p:nvSpPr>
          <p:cNvPr id="16" name="TextBox 15">
            <a:hlinkClick r:id="rId5"/>
            <a:extLst>
              <a:ext uri="{FF2B5EF4-FFF2-40B4-BE49-F238E27FC236}">
                <a16:creationId xmlns:a16="http://schemas.microsoft.com/office/drawing/2014/main" id="{BABB3AEF-A949-D775-343C-9CE6B8C9EDD7}"/>
              </a:ext>
            </a:extLst>
          </p:cNvPr>
          <p:cNvSpPr txBox="1"/>
          <p:nvPr/>
        </p:nvSpPr>
        <p:spPr>
          <a:xfrm>
            <a:off x="4381500" y="4114800"/>
            <a:ext cx="7302500" cy="276999"/>
          </a:xfrm>
          <a:prstGeom prst="rect">
            <a:avLst/>
          </a:prstGeom>
          <a:noFill/>
        </p:spPr>
        <p:txBody>
          <a:bodyPr vert="horz" wrap="square" lIns="0" tIns="0" rIns="0" bIns="0" rtlCol="0">
            <a:noAutofit/>
          </a:bodyPr>
          <a:lstStyle/>
          <a:p>
            <a:pPr>
              <a:spcAft>
                <a:spcPts val="700"/>
              </a:spcAft>
            </a:pPr>
            <a:r>
              <a:rPr lang="en-US" sz="1600">
                <a:solidFill>
                  <a:srgbClr val="F2F6FC"/>
                </a:solidFill>
                <a:latin typeface="Aptos" panose="020B0004020202020204" pitchFamily="34" charset="0"/>
              </a:rPr>
              <a:t>UDRs, longest-prefix match, next-hop selection</a:t>
            </a:r>
          </a:p>
        </p:txBody>
      </p:sp>
      <p:sp>
        <p:nvSpPr>
          <p:cNvPr id="17" name="TextBox 16">
            <a:extLst>
              <a:ext uri="{FF2B5EF4-FFF2-40B4-BE49-F238E27FC236}">
                <a16:creationId xmlns:a16="http://schemas.microsoft.com/office/drawing/2014/main" id="{A8C53367-6705-E638-F0DF-FEFF099DA703}"/>
              </a:ext>
            </a:extLst>
          </p:cNvPr>
          <p:cNvSpPr txBox="1"/>
          <p:nvPr/>
        </p:nvSpPr>
        <p:spPr>
          <a:xfrm>
            <a:off x="508000" y="4724400"/>
            <a:ext cx="3810000" cy="276999"/>
          </a:xfrm>
          <a:prstGeom prst="rect">
            <a:avLst/>
          </a:prstGeom>
          <a:noFill/>
        </p:spPr>
        <p:txBody>
          <a:bodyPr vert="horz" wrap="square" lIns="0" tIns="0" rIns="0" bIns="0" rtlCol="0">
            <a:noAutofit/>
          </a:bodyPr>
          <a:lstStyle/>
          <a:p>
            <a:pPr>
              <a:spcAft>
                <a:spcPts val="700"/>
              </a:spcAft>
            </a:pPr>
            <a:r>
              <a:rPr lang="en-US" sz="1700" b="1">
                <a:solidFill>
                  <a:srgbClr val="35D4E8"/>
                </a:solidFill>
                <a:latin typeface="Aptos" panose="020B0004020202020204" pitchFamily="34" charset="0"/>
              </a:rPr>
              <a:t>Azure Bastion settings</a:t>
            </a:r>
          </a:p>
        </p:txBody>
      </p:sp>
      <p:sp>
        <p:nvSpPr>
          <p:cNvPr id="18" name="TextBox 17">
            <a:hlinkClick r:id="rId6"/>
            <a:extLst>
              <a:ext uri="{FF2B5EF4-FFF2-40B4-BE49-F238E27FC236}">
                <a16:creationId xmlns:a16="http://schemas.microsoft.com/office/drawing/2014/main" id="{FA9A975E-0277-2ABF-E876-1439CC462E7E}"/>
              </a:ext>
            </a:extLst>
          </p:cNvPr>
          <p:cNvSpPr txBox="1"/>
          <p:nvPr/>
        </p:nvSpPr>
        <p:spPr>
          <a:xfrm>
            <a:off x="4381500" y="4724400"/>
            <a:ext cx="7302500" cy="276999"/>
          </a:xfrm>
          <a:prstGeom prst="rect">
            <a:avLst/>
          </a:prstGeom>
          <a:noFill/>
        </p:spPr>
        <p:txBody>
          <a:bodyPr vert="horz" wrap="square" lIns="0" tIns="0" rIns="0" bIns="0" rtlCol="0">
            <a:noAutofit/>
          </a:bodyPr>
          <a:lstStyle/>
          <a:p>
            <a:pPr>
              <a:spcAft>
                <a:spcPts val="700"/>
              </a:spcAft>
            </a:pPr>
            <a:r>
              <a:rPr lang="en-US" sz="1600">
                <a:solidFill>
                  <a:srgbClr val="F2F6FC"/>
                </a:solidFill>
                <a:latin typeface="Aptos" panose="020B0004020202020204" pitchFamily="34" charset="0"/>
              </a:rPr>
              <a:t>Subnet sizing and configuration requirements</a:t>
            </a:r>
          </a:p>
        </p:txBody>
      </p:sp>
      <p:sp>
        <p:nvSpPr>
          <p:cNvPr id="19" name="TextBox 18">
            <a:extLst>
              <a:ext uri="{FF2B5EF4-FFF2-40B4-BE49-F238E27FC236}">
                <a16:creationId xmlns:a16="http://schemas.microsoft.com/office/drawing/2014/main" id="{DC044018-3943-93AD-6762-22F649878E44}"/>
              </a:ext>
            </a:extLst>
          </p:cNvPr>
          <p:cNvSpPr txBox="1"/>
          <p:nvPr/>
        </p:nvSpPr>
        <p:spPr>
          <a:xfrm>
            <a:off x="508000" y="5765800"/>
            <a:ext cx="11176000" cy="276999"/>
          </a:xfrm>
          <a:prstGeom prst="rect">
            <a:avLst/>
          </a:prstGeom>
          <a:noFill/>
        </p:spPr>
        <p:txBody>
          <a:bodyPr vert="horz" wrap="square" lIns="0" tIns="0" rIns="0" bIns="0" rtlCol="0">
            <a:noAutofit/>
          </a:bodyPr>
          <a:lstStyle/>
          <a:p>
            <a:pPr>
              <a:spcAft>
                <a:spcPts val="700"/>
              </a:spcAft>
            </a:pPr>
            <a:r>
              <a:rPr lang="en-US" sz="1500" b="1">
                <a:solidFill>
                  <a:srgbClr val="35D4E8"/>
                </a:solidFill>
                <a:latin typeface="Aptos" panose="020B0004020202020204" pitchFamily="34" charset="0"/>
              </a:rPr>
              <a:t>Conceptual image supplied by the user; actual topology and examples follow the Terraform.</a:t>
            </a:r>
          </a:p>
        </p:txBody>
      </p:sp>
    </p:spTree>
    <p:extLst>
      <p:ext uri="{BB962C8B-B14F-4D97-AF65-F5344CB8AC3E}">
        <p14:creationId xmlns:p14="http://schemas.microsoft.com/office/powerpoint/2010/main" val="16984281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3409</Words>
  <Application>Microsoft Office PowerPoint</Application>
  <PresentationFormat>Custom</PresentationFormat>
  <Paragraphs>292</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Aptos Display</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Houssem Dellai</dc:creator>
  <cp:lastModifiedBy>Houssem Dellai</cp:lastModifiedBy>
  <cp:revision>1</cp:revision>
  <dcterms:created xsi:type="dcterms:W3CDTF">2026-10-24T10:25:07Z</dcterms:created>
  <dcterms:modified xsi:type="dcterms:W3CDTF">2026-10-24T10:25:07Z</dcterms:modified>
</cp:coreProperties>
</file>